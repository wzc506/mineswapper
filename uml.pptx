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6"/>
  </p:notesMasterIdLst>
  <p:sldIdLst>
    <p:sldId id="256" r:id="rId3"/>
    <p:sldId id="280" r:id="rId4"/>
    <p:sldId id="274" r:id="rId5"/>
    <p:sldId id="268" r:id="rId6"/>
    <p:sldId id="275" r:id="rId7"/>
    <p:sldId id="266" r:id="rId8"/>
    <p:sldId id="284" r:id="rId9"/>
    <p:sldId id="267" r:id="rId10"/>
    <p:sldId id="285" r:id="rId11"/>
    <p:sldId id="281" r:id="rId12"/>
    <p:sldId id="283" r:id="rId13"/>
    <p:sldId id="276" r:id="rId14"/>
    <p:sldId id="286" r:id="rId15"/>
    <p:sldId id="287" r:id="rId16"/>
    <p:sldId id="290" r:id="rId17"/>
    <p:sldId id="289" r:id="rId18"/>
    <p:sldId id="291" r:id="rId19"/>
    <p:sldId id="292" r:id="rId20"/>
    <p:sldId id="293" r:id="rId21"/>
    <p:sldId id="294" r:id="rId22"/>
    <p:sldId id="295" r:id="rId23"/>
    <p:sldId id="277" r:id="rId24"/>
    <p:sldId id="263" r:id="rId25"/>
    <p:sldId id="278" r:id="rId26"/>
    <p:sldId id="264" r:id="rId27"/>
    <p:sldId id="265" r:id="rId28"/>
    <p:sldId id="279" r:id="rId29"/>
    <p:sldId id="262" r:id="rId30"/>
    <p:sldId id="261" r:id="rId31"/>
    <p:sldId id="257" r:id="rId32"/>
    <p:sldId id="258" r:id="rId33"/>
    <p:sldId id="259" r:id="rId34"/>
    <p:sldId id="260"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14"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DAE95-B47A-40F4-B88B-3211CDD72963}" type="datetimeFigureOut">
              <a:rPr lang="zh-CN" altLang="en-US" smtClean="0"/>
              <a:t>2025/11/30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03CFB-BE93-4EA7-97FC-34B41271EC78}" type="slidenum">
              <a:rPr lang="zh-CN" altLang="en-US" smtClean="0"/>
              <a:t>‹#›</a:t>
            </a:fld>
            <a:endParaRPr lang="zh-CN" altLang="en-US"/>
          </a:p>
        </p:txBody>
      </p:sp>
    </p:spTree>
    <p:extLst>
      <p:ext uri="{BB962C8B-B14F-4D97-AF65-F5344CB8AC3E}">
        <p14:creationId xmlns:p14="http://schemas.microsoft.com/office/powerpoint/2010/main" val="2635310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C8139D-C0CF-7587-EFC5-D18381E4A38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724CC09-91FE-4861-269C-FA2A4A6DA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9A6E582-3286-8CB1-A840-F51E6A895068}"/>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81A905AD-E522-61A4-DCAB-9075B2D455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609A83-B55A-F096-CE16-CFDE328B0599}"/>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3627614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E347E-A185-D50F-1F11-25B432098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DF392A5-AB77-723D-037C-B99A2E12CDC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592411-F1BD-1925-5D72-9779B4363293}"/>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9FF68567-9A3D-D875-9BBC-F493AD3809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590D9E-86E5-8881-D4A2-01FFAC623451}"/>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28840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EBBD4-854A-AC52-BA8C-6F4621FE9A4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51F259-8CB3-F942-42B9-49A737748E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0EC5093-9DA7-C223-9677-6AF4197F51AF}"/>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8CE4C8C9-4BE8-1765-6D1B-716D43ED49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17970E-F57F-A0C4-76EA-1B64040CCF8F}"/>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42746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E34B-216B-2314-DF8B-CF66C961B09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D98AE39-7437-116B-F591-9672A3974BB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7E491C3-AC47-24BE-7A79-6B08DB219FB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F82505D-E4CD-CCF4-D5BA-8E98ECA3BA00}"/>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6" name="页脚占位符 5">
            <a:extLst>
              <a:ext uri="{FF2B5EF4-FFF2-40B4-BE49-F238E27FC236}">
                <a16:creationId xmlns:a16="http://schemas.microsoft.com/office/drawing/2014/main" id="{14810843-5D91-80A4-5DDC-2261D3818B9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8B3D131-1D6F-F61C-4A10-6472AC2D6CC2}"/>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2838506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A64B87-5D49-BD49-3A2F-1E991688D56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68FC32B-CF2C-69B4-3C10-309C0FC1AE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CC56CE1-168A-28E8-DEF3-E07FD013714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A5A9348-309A-8C8A-B677-54BB4A3B9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8B95EE8-720E-1212-02C8-83A7D6943E7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D41D8BE-A36C-AC68-909B-221CA6C25920}"/>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8" name="页脚占位符 7">
            <a:extLst>
              <a:ext uri="{FF2B5EF4-FFF2-40B4-BE49-F238E27FC236}">
                <a16:creationId xmlns:a16="http://schemas.microsoft.com/office/drawing/2014/main" id="{F1087DDB-44A3-66A7-FF8F-16277C72087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9B69E3F-D6CA-C088-F6DE-BF46409C392C}"/>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272654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6666C-94F4-3A40-4B49-DD2878A5B69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75DDC10-844F-3185-AC94-944BBB0FAB9C}"/>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4" name="页脚占位符 3">
            <a:extLst>
              <a:ext uri="{FF2B5EF4-FFF2-40B4-BE49-F238E27FC236}">
                <a16:creationId xmlns:a16="http://schemas.microsoft.com/office/drawing/2014/main" id="{4D2A0C2B-6C25-3C3B-D466-2CB57DE432E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FCC939D-9CAE-8103-C341-216484EB1BA4}"/>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1536601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48E7A3C-70F0-7ADE-B758-D2DC750E40FC}"/>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3" name="页脚占位符 2">
            <a:extLst>
              <a:ext uri="{FF2B5EF4-FFF2-40B4-BE49-F238E27FC236}">
                <a16:creationId xmlns:a16="http://schemas.microsoft.com/office/drawing/2014/main" id="{B2EF35DC-8E55-4279-171F-FC8EC5366F4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AC08625-A3B1-FE29-E20A-7F39EE91B8EB}"/>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1995725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13AC00-CAD8-B500-01C7-346D75123A9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13F3A00-42E5-83E0-F9EB-321E02E631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7582AEB-BEDD-2F46-42D9-36F9ECB6AB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E1CFF0-D1A2-788E-3493-F8C7F902F841}"/>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6" name="页脚占位符 5">
            <a:extLst>
              <a:ext uri="{FF2B5EF4-FFF2-40B4-BE49-F238E27FC236}">
                <a16:creationId xmlns:a16="http://schemas.microsoft.com/office/drawing/2014/main" id="{C99E502A-AA94-DCFB-6D0C-BD2A09699E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1C2412B-2332-378C-BC29-1992FD9657FD}"/>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3267074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2671C0-59B8-CE3A-2743-F27B7DB38F8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69E116B-EC43-C563-E592-33F0B05B38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F9BE031-9A26-B966-46ED-7EDC0694D2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07FB185-F46A-F443-6CFF-CD9C7D07DFFE}"/>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6" name="页脚占位符 5">
            <a:extLst>
              <a:ext uri="{FF2B5EF4-FFF2-40B4-BE49-F238E27FC236}">
                <a16:creationId xmlns:a16="http://schemas.microsoft.com/office/drawing/2014/main" id="{E37C12F3-F6B4-3336-0EFB-C2672D7BD2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A0432C-A264-CD14-24F3-AF9FC40B3E0B}"/>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2077001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9E54C0-D773-4B31-F4DE-EE77EF7FC23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BEA79C8-D22E-C530-DB99-D3030508BC9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D28019-A189-F516-30D1-0C6FFE89BCA3}"/>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7456B51C-C844-F3D6-564D-B7B0A425E2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1CB99E-5453-5A48-7A63-7B400579A4DF}"/>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4123099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55C054-3581-81E0-169F-38884B11E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9A42B13-FAA5-DBA3-38D4-8AF4B5C33C8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F6D2BA-71F9-67E0-8322-873CA61E18C1}"/>
              </a:ext>
            </a:extLst>
          </p:cNvPr>
          <p:cNvSpPr>
            <a:spLocks noGrp="1"/>
          </p:cNvSpPr>
          <p:nvPr>
            <p:ph type="dt" sz="half" idx="10"/>
          </p:nvPr>
        </p:nvSpPr>
        <p:spPr/>
        <p:txBody>
          <a:bodyPr/>
          <a:lstStyle/>
          <a:p>
            <a:fld id="{49511754-73E3-4E6F-AF62-38683F8056B7}"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647B6CAE-D4EB-A6C2-F52B-F0222174E6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216E81-64A3-29DE-A397-479DA666A052}"/>
              </a:ext>
            </a:extLst>
          </p:cNvPr>
          <p:cNvSpPr>
            <a:spLocks noGrp="1"/>
          </p:cNvSpPr>
          <p:nvPr>
            <p:ph type="sldNum" sz="quarter" idx="12"/>
          </p:nvPr>
        </p:nvSpPr>
        <p:spPr/>
        <p:txBody>
          <a:body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2447193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grpSp>
        <p:nvGrpSpPr>
          <p:cNvPr id="12" name="组合 11"/>
          <p:cNvGrpSpPr/>
          <p:nvPr/>
        </p:nvGrpSpPr>
        <p:grpSpPr>
          <a:xfrm>
            <a:off x="1588" y="-1588"/>
            <a:ext cx="12188825" cy="6858001"/>
            <a:chOff x="1588" y="-1588"/>
            <a:chExt cx="12188825" cy="6858001"/>
          </a:xfrm>
        </p:grpSpPr>
        <p:sp>
          <p:nvSpPr>
            <p:cNvPr id="6" name="矩形 5"/>
            <p:cNvSpPr>
              <a:spLocks noChangeArrowheads="1"/>
            </p:cNvSpPr>
            <p:nvPr/>
          </p:nvSpPr>
          <p:spPr bwMode="auto">
            <a:xfrm>
              <a:off x="1588" y="-1588"/>
              <a:ext cx="12188825" cy="6858000"/>
            </a:xfrm>
            <a:prstGeom prst="rect">
              <a:avLst/>
            </a:pr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任意多边形: 形状 6"/>
            <p:cNvSpPr>
              <a:spLocks/>
            </p:cNvSpPr>
            <p:nvPr/>
          </p:nvSpPr>
          <p:spPr bwMode="auto">
            <a:xfrm>
              <a:off x="7192963" y="-1588"/>
              <a:ext cx="4997450" cy="5673725"/>
            </a:xfrm>
            <a:custGeom>
              <a:avLst/>
              <a:gdLst>
                <a:gd name="T0" fmla="*/ 242 w 3149"/>
                <a:gd name="T1" fmla="*/ 1727 h 3574"/>
                <a:gd name="T2" fmla="*/ 2374 w 3149"/>
                <a:gd name="T3" fmla="*/ 3546 h 3574"/>
                <a:gd name="T4" fmla="*/ 3149 w 3149"/>
                <a:gd name="T5" fmla="*/ 3245 h 3574"/>
                <a:gd name="T6" fmla="*/ 3149 w 3149"/>
                <a:gd name="T7" fmla="*/ 0 h 3574"/>
                <a:gd name="T8" fmla="*/ 114 w 3149"/>
                <a:gd name="T9" fmla="*/ 0 h 3574"/>
                <a:gd name="T10" fmla="*/ 242 w 3149"/>
                <a:gd name="T11" fmla="*/ 1727 h 3574"/>
              </a:gdLst>
              <a:ahLst/>
              <a:cxnLst>
                <a:cxn ang="0">
                  <a:pos x="T0" y="T1"/>
                </a:cxn>
                <a:cxn ang="0">
                  <a:pos x="T2" y="T3"/>
                </a:cxn>
                <a:cxn ang="0">
                  <a:pos x="T4" y="T5"/>
                </a:cxn>
                <a:cxn ang="0">
                  <a:pos x="T6" y="T7"/>
                </a:cxn>
                <a:cxn ang="0">
                  <a:pos x="T8" y="T9"/>
                </a:cxn>
                <a:cxn ang="0">
                  <a:pos x="T10" y="T11"/>
                </a:cxn>
              </a:cxnLst>
              <a:rect l="0" t="0" r="r" b="b"/>
              <a:pathLst>
                <a:path w="3149" h="3574">
                  <a:moveTo>
                    <a:pt x="242" y="1727"/>
                  </a:moveTo>
                  <a:cubicBezTo>
                    <a:pt x="619" y="2539"/>
                    <a:pt x="2033" y="3482"/>
                    <a:pt x="2374" y="3546"/>
                  </a:cubicBezTo>
                  <a:cubicBezTo>
                    <a:pt x="2527" y="3574"/>
                    <a:pt x="2665" y="3184"/>
                    <a:pt x="3149" y="3245"/>
                  </a:cubicBezTo>
                  <a:cubicBezTo>
                    <a:pt x="3149" y="0"/>
                    <a:pt x="3149" y="0"/>
                    <a:pt x="3149" y="0"/>
                  </a:cubicBezTo>
                  <a:cubicBezTo>
                    <a:pt x="114" y="0"/>
                    <a:pt x="114" y="0"/>
                    <a:pt x="114" y="0"/>
                  </a:cubicBezTo>
                  <a:cubicBezTo>
                    <a:pt x="26" y="456"/>
                    <a:pt x="0" y="1205"/>
                    <a:pt x="242" y="1727"/>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任意多边形: 形状 7"/>
            <p:cNvSpPr>
              <a:spLocks/>
            </p:cNvSpPr>
            <p:nvPr/>
          </p:nvSpPr>
          <p:spPr bwMode="auto">
            <a:xfrm>
              <a:off x="8326438" y="-1588"/>
              <a:ext cx="3863975" cy="5151438"/>
            </a:xfrm>
            <a:custGeom>
              <a:avLst/>
              <a:gdLst>
                <a:gd name="T0" fmla="*/ 488 w 2435"/>
                <a:gd name="T1" fmla="*/ 1921 h 3245"/>
                <a:gd name="T2" fmla="*/ 2435 w 2435"/>
                <a:gd name="T3" fmla="*/ 3245 h 3245"/>
                <a:gd name="T4" fmla="*/ 2435 w 2435"/>
                <a:gd name="T5" fmla="*/ 0 h 3245"/>
                <a:gd name="T6" fmla="*/ 188 w 2435"/>
                <a:gd name="T7" fmla="*/ 0 h 3245"/>
                <a:gd name="T8" fmla="*/ 488 w 2435"/>
                <a:gd name="T9" fmla="*/ 1921 h 3245"/>
              </a:gdLst>
              <a:ahLst/>
              <a:cxnLst>
                <a:cxn ang="0">
                  <a:pos x="T0" y="T1"/>
                </a:cxn>
                <a:cxn ang="0">
                  <a:pos x="T2" y="T3"/>
                </a:cxn>
                <a:cxn ang="0">
                  <a:pos x="T4" y="T5"/>
                </a:cxn>
                <a:cxn ang="0">
                  <a:pos x="T6" y="T7"/>
                </a:cxn>
                <a:cxn ang="0">
                  <a:pos x="T8" y="T9"/>
                </a:cxn>
              </a:cxnLst>
              <a:rect l="0" t="0" r="r" b="b"/>
              <a:pathLst>
                <a:path w="2435" h="3245">
                  <a:moveTo>
                    <a:pt x="488" y="1921"/>
                  </a:moveTo>
                  <a:cubicBezTo>
                    <a:pt x="1077" y="2770"/>
                    <a:pt x="1955" y="3177"/>
                    <a:pt x="2435" y="3245"/>
                  </a:cubicBezTo>
                  <a:cubicBezTo>
                    <a:pt x="2435" y="0"/>
                    <a:pt x="2435" y="0"/>
                    <a:pt x="2435" y="0"/>
                  </a:cubicBezTo>
                  <a:cubicBezTo>
                    <a:pt x="188" y="0"/>
                    <a:pt x="188" y="0"/>
                    <a:pt x="188" y="0"/>
                  </a:cubicBezTo>
                  <a:cubicBezTo>
                    <a:pt x="107" y="385"/>
                    <a:pt x="0" y="1218"/>
                    <a:pt x="488" y="192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任意多边形: 形状 8"/>
            <p:cNvSpPr>
              <a:spLocks/>
            </p:cNvSpPr>
            <p:nvPr/>
          </p:nvSpPr>
          <p:spPr bwMode="auto">
            <a:xfrm>
              <a:off x="1588" y="-1588"/>
              <a:ext cx="7829550" cy="6858000"/>
            </a:xfrm>
            <a:custGeom>
              <a:avLst/>
              <a:gdLst>
                <a:gd name="T0" fmla="*/ 0 w 4933"/>
                <a:gd name="T1" fmla="*/ 4320 h 4320"/>
                <a:gd name="T2" fmla="*/ 4933 w 4933"/>
                <a:gd name="T3" fmla="*/ 4320 h 4320"/>
                <a:gd name="T4" fmla="*/ 3501 w 4933"/>
                <a:gd name="T5" fmla="*/ 3054 h 4320"/>
                <a:gd name="T6" fmla="*/ 968 w 4933"/>
                <a:gd name="T7" fmla="*/ 2114 h 4320"/>
                <a:gd name="T8" fmla="*/ 31 w 4933"/>
                <a:gd name="T9" fmla="*/ 0 h 4320"/>
                <a:gd name="T10" fmla="*/ 0 w 4933"/>
                <a:gd name="T11" fmla="*/ 0 h 4320"/>
                <a:gd name="T12" fmla="*/ 0 w 4933"/>
                <a:gd name="T13" fmla="*/ 4320 h 4320"/>
              </a:gdLst>
              <a:ahLst/>
              <a:cxnLst>
                <a:cxn ang="0">
                  <a:pos x="T0" y="T1"/>
                </a:cxn>
                <a:cxn ang="0">
                  <a:pos x="T2" y="T3"/>
                </a:cxn>
                <a:cxn ang="0">
                  <a:pos x="T4" y="T5"/>
                </a:cxn>
                <a:cxn ang="0">
                  <a:pos x="T6" y="T7"/>
                </a:cxn>
                <a:cxn ang="0">
                  <a:pos x="T8" y="T9"/>
                </a:cxn>
                <a:cxn ang="0">
                  <a:pos x="T10" y="T11"/>
                </a:cxn>
                <a:cxn ang="0">
                  <a:pos x="T12" y="T13"/>
                </a:cxn>
              </a:cxnLst>
              <a:rect l="0" t="0" r="r" b="b"/>
              <a:pathLst>
                <a:path w="4933" h="4320">
                  <a:moveTo>
                    <a:pt x="0" y="4320"/>
                  </a:moveTo>
                  <a:cubicBezTo>
                    <a:pt x="4933" y="4320"/>
                    <a:pt x="4933" y="4320"/>
                    <a:pt x="4933" y="4320"/>
                  </a:cubicBezTo>
                  <a:cubicBezTo>
                    <a:pt x="4719" y="3874"/>
                    <a:pt x="4063" y="3284"/>
                    <a:pt x="3501" y="3054"/>
                  </a:cubicBezTo>
                  <a:cubicBezTo>
                    <a:pt x="2777" y="2757"/>
                    <a:pt x="1393" y="2669"/>
                    <a:pt x="968" y="2114"/>
                  </a:cubicBezTo>
                  <a:cubicBezTo>
                    <a:pt x="631" y="1674"/>
                    <a:pt x="171" y="482"/>
                    <a:pt x="31" y="0"/>
                  </a:cubicBezTo>
                  <a:cubicBezTo>
                    <a:pt x="0" y="0"/>
                    <a:pt x="0" y="0"/>
                    <a:pt x="0" y="0"/>
                  </a:cubicBezTo>
                  <a:lnTo>
                    <a:pt x="0" y="432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p:cNvSpPr>
              <a:spLocks/>
            </p:cNvSpPr>
            <p:nvPr/>
          </p:nvSpPr>
          <p:spPr bwMode="auto">
            <a:xfrm>
              <a:off x="1588" y="2457450"/>
              <a:ext cx="7613650" cy="4398963"/>
            </a:xfrm>
            <a:custGeom>
              <a:avLst/>
              <a:gdLst>
                <a:gd name="T0" fmla="*/ 4733 w 4797"/>
                <a:gd name="T1" fmla="*/ 2668 h 2771"/>
                <a:gd name="T2" fmla="*/ 2790 w 4797"/>
                <a:gd name="T3" fmla="*/ 1732 h 2771"/>
                <a:gd name="T4" fmla="*/ 613 w 4797"/>
                <a:gd name="T5" fmla="*/ 1120 h 2771"/>
                <a:gd name="T6" fmla="*/ 0 w 4797"/>
                <a:gd name="T7" fmla="*/ 0 h 2771"/>
                <a:gd name="T8" fmla="*/ 0 w 4797"/>
                <a:gd name="T9" fmla="*/ 2771 h 2771"/>
                <a:gd name="T10" fmla="*/ 4797 w 4797"/>
                <a:gd name="T11" fmla="*/ 2771 h 2771"/>
                <a:gd name="T12" fmla="*/ 4733 w 4797"/>
                <a:gd name="T13" fmla="*/ 2668 h 2771"/>
              </a:gdLst>
              <a:ahLst/>
              <a:cxnLst>
                <a:cxn ang="0">
                  <a:pos x="T0" y="T1"/>
                </a:cxn>
                <a:cxn ang="0">
                  <a:pos x="T2" y="T3"/>
                </a:cxn>
                <a:cxn ang="0">
                  <a:pos x="T4" y="T5"/>
                </a:cxn>
                <a:cxn ang="0">
                  <a:pos x="T6" y="T7"/>
                </a:cxn>
                <a:cxn ang="0">
                  <a:pos x="T8" y="T9"/>
                </a:cxn>
                <a:cxn ang="0">
                  <a:pos x="T10" y="T11"/>
                </a:cxn>
                <a:cxn ang="0">
                  <a:pos x="T12" y="T13"/>
                </a:cxn>
              </a:cxnLst>
              <a:rect l="0" t="0" r="r" b="b"/>
              <a:pathLst>
                <a:path w="4797" h="2771">
                  <a:moveTo>
                    <a:pt x="4733" y="2668"/>
                  </a:moveTo>
                  <a:cubicBezTo>
                    <a:pt x="4239" y="1911"/>
                    <a:pt x="3316" y="1716"/>
                    <a:pt x="2790" y="1732"/>
                  </a:cubicBezTo>
                  <a:cubicBezTo>
                    <a:pt x="2263" y="1749"/>
                    <a:pt x="1238" y="1614"/>
                    <a:pt x="613" y="1120"/>
                  </a:cubicBezTo>
                  <a:cubicBezTo>
                    <a:pt x="311" y="882"/>
                    <a:pt x="105" y="459"/>
                    <a:pt x="0" y="0"/>
                  </a:cubicBezTo>
                  <a:cubicBezTo>
                    <a:pt x="0" y="2771"/>
                    <a:pt x="0" y="2771"/>
                    <a:pt x="0" y="2771"/>
                  </a:cubicBezTo>
                  <a:cubicBezTo>
                    <a:pt x="4797" y="2771"/>
                    <a:pt x="4797" y="2771"/>
                    <a:pt x="4797" y="2771"/>
                  </a:cubicBezTo>
                  <a:cubicBezTo>
                    <a:pt x="4778" y="2738"/>
                    <a:pt x="4757" y="2704"/>
                    <a:pt x="4733" y="266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任意多边形: 形状 10"/>
            <p:cNvSpPr>
              <a:spLocks/>
            </p:cNvSpPr>
            <p:nvPr/>
          </p:nvSpPr>
          <p:spPr bwMode="auto">
            <a:xfrm>
              <a:off x="1588" y="3786188"/>
              <a:ext cx="12188825" cy="3070225"/>
            </a:xfrm>
            <a:custGeom>
              <a:avLst/>
              <a:gdLst>
                <a:gd name="T0" fmla="*/ 7680 w 7680"/>
                <a:gd name="T1" fmla="*/ 625 h 1934"/>
                <a:gd name="T2" fmla="*/ 2299 w 7680"/>
                <a:gd name="T3" fmla="*/ 1304 h 1934"/>
                <a:gd name="T4" fmla="*/ 0 w 7680"/>
                <a:gd name="T5" fmla="*/ 1044 h 1934"/>
                <a:gd name="T6" fmla="*/ 0 w 7680"/>
                <a:gd name="T7" fmla="*/ 1934 h 1934"/>
                <a:gd name="T8" fmla="*/ 7680 w 7680"/>
                <a:gd name="T9" fmla="*/ 1934 h 1934"/>
                <a:gd name="T10" fmla="*/ 7680 w 7680"/>
                <a:gd name="T11" fmla="*/ 625 h 1934"/>
              </a:gdLst>
              <a:ahLst/>
              <a:cxnLst>
                <a:cxn ang="0">
                  <a:pos x="T0" y="T1"/>
                </a:cxn>
                <a:cxn ang="0">
                  <a:pos x="T2" y="T3"/>
                </a:cxn>
                <a:cxn ang="0">
                  <a:pos x="T4" y="T5"/>
                </a:cxn>
                <a:cxn ang="0">
                  <a:pos x="T6" y="T7"/>
                </a:cxn>
                <a:cxn ang="0">
                  <a:pos x="T8" y="T9"/>
                </a:cxn>
                <a:cxn ang="0">
                  <a:pos x="T10" y="T11"/>
                </a:cxn>
              </a:cxnLst>
              <a:rect l="0" t="0" r="r" b="b"/>
              <a:pathLst>
                <a:path w="7680" h="1934">
                  <a:moveTo>
                    <a:pt x="7680" y="625"/>
                  </a:moveTo>
                  <a:cubicBezTo>
                    <a:pt x="5871" y="0"/>
                    <a:pt x="3575" y="1178"/>
                    <a:pt x="2299" y="1304"/>
                  </a:cubicBezTo>
                  <a:cubicBezTo>
                    <a:pt x="1739" y="1358"/>
                    <a:pt x="688" y="1250"/>
                    <a:pt x="0" y="1044"/>
                  </a:cubicBezTo>
                  <a:cubicBezTo>
                    <a:pt x="0" y="1934"/>
                    <a:pt x="0" y="1934"/>
                    <a:pt x="0" y="1934"/>
                  </a:cubicBezTo>
                  <a:cubicBezTo>
                    <a:pt x="7680" y="1934"/>
                    <a:pt x="7680" y="1934"/>
                    <a:pt x="7680" y="1934"/>
                  </a:cubicBezTo>
                  <a:lnTo>
                    <a:pt x="7680" y="62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 name="标题 1"/>
          <p:cNvSpPr>
            <a:spLocks noGrp="1"/>
          </p:cNvSpPr>
          <p:nvPr>
            <p:ph type="ctrTitle" hasCustomPrompt="1"/>
          </p:nvPr>
        </p:nvSpPr>
        <p:spPr>
          <a:xfrm>
            <a:off x="660400" y="1263650"/>
            <a:ext cx="6807200" cy="1987549"/>
          </a:xfrm>
        </p:spPr>
        <p:txBody>
          <a:bodyPr anchor="b">
            <a:normAutofit/>
          </a:bodyPr>
          <a:lstStyle>
            <a:lvl1pPr algn="l">
              <a:defRPr sz="4800"/>
            </a:lvl1pPr>
          </a:lstStyle>
          <a:p>
            <a:pPr lvl="0"/>
            <a:r>
              <a:rPr lang="en-US"/>
              <a:t>Click to add title</a:t>
            </a:r>
          </a:p>
        </p:txBody>
      </p:sp>
      <p:sp>
        <p:nvSpPr>
          <p:cNvPr id="3" name="副标题 2"/>
          <p:cNvSpPr>
            <a:spLocks noGrp="1"/>
          </p:cNvSpPr>
          <p:nvPr>
            <p:ph type="subTitle" idx="1" hasCustomPrompt="1"/>
          </p:nvPr>
        </p:nvSpPr>
        <p:spPr>
          <a:xfrm>
            <a:off x="660400" y="3428999"/>
            <a:ext cx="6807200" cy="1035051"/>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subtitle</a:t>
            </a:r>
          </a:p>
        </p:txBody>
      </p:sp>
      <p:sp>
        <p:nvSpPr>
          <p:cNvPr id="4" name="文本占位符 3"/>
          <p:cNvSpPr>
            <a:spLocks noGrp="1"/>
          </p:cNvSpPr>
          <p:nvPr>
            <p:ph type="body" sz="quarter" idx="13" hasCustomPrompt="1"/>
          </p:nvPr>
        </p:nvSpPr>
        <p:spPr>
          <a:xfrm>
            <a:off x="660400" y="4769961"/>
            <a:ext cx="3657600" cy="274320"/>
          </a:xfrm>
        </p:spPr>
        <p:txBody>
          <a:bodyPr anchor="ctr"/>
          <a:lstStyle>
            <a:lvl1pPr marL="0" indent="0" algn="l">
              <a:buNone/>
              <a:defRPr sz="1200">
                <a:solidFill>
                  <a:schemeClr val="tx1"/>
                </a:solidFill>
              </a:defRPr>
            </a:lvl1pPr>
          </a:lstStyle>
          <a:p>
            <a:pPr lvl="0"/>
            <a:r>
              <a:rPr lang="en-US"/>
              <a:t>Presenter name</a:t>
            </a:r>
          </a:p>
        </p:txBody>
      </p:sp>
      <p:sp>
        <p:nvSpPr>
          <p:cNvPr id="5" name="文本占位符 4"/>
          <p:cNvSpPr>
            <a:spLocks noGrp="1"/>
          </p:cNvSpPr>
          <p:nvPr>
            <p:ph type="body" sz="quarter" idx="14" hasCustomPrompt="1"/>
          </p:nvPr>
        </p:nvSpPr>
        <p:spPr>
          <a:xfrm>
            <a:off x="660400" y="5044281"/>
            <a:ext cx="3657600" cy="274320"/>
          </a:xfrm>
        </p:spPr>
        <p:txBody>
          <a:bodyPr anchor="ctr"/>
          <a:lstStyle>
            <a:lvl1pPr marL="0" indent="0">
              <a:buNone/>
              <a:defRPr sz="1200">
                <a:solidFill>
                  <a:schemeClr val="tx1"/>
                </a:solidFill>
              </a:defRPr>
            </a:lvl1pPr>
          </a:lstStyle>
          <a:p>
            <a:pPr lvl="0"/>
            <a:r>
              <a:rPr lang="en-US"/>
              <a:t>www.islide.cc</a:t>
            </a:r>
          </a:p>
        </p:txBody>
      </p:sp>
    </p:spTree>
    <p:extLst>
      <p:ext uri="{BB962C8B-B14F-4D97-AF65-F5344CB8AC3E}">
        <p14:creationId xmlns:p14="http://schemas.microsoft.com/office/powerpoint/2010/main" val="1065760448"/>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extLst>
      <p:ext uri="{BB962C8B-B14F-4D97-AF65-F5344CB8AC3E}">
        <p14:creationId xmlns:p14="http://schemas.microsoft.com/office/powerpoint/2010/main" val="348915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1500187"/>
            <a:ext cx="2836562" cy="915667"/>
          </a:xfrm>
        </p:spPr>
        <p:txBody>
          <a:bodyPr anchor="t">
            <a:normAutofit/>
          </a:bodyPr>
          <a:lstStyle>
            <a:lvl1pPr algn="r">
              <a:defRPr sz="2800"/>
            </a:lvl1pPr>
          </a:lstStyle>
          <a:p>
            <a:pPr lvl="0"/>
            <a:r>
              <a:rPr lang="en-US"/>
              <a:t>Agenda</a:t>
            </a:r>
          </a:p>
        </p:txBody>
      </p:sp>
      <p:sp>
        <p:nvSpPr>
          <p:cNvPr id="3" name="内容占位符 2"/>
          <p:cNvSpPr>
            <a:spLocks noGrp="1"/>
          </p:cNvSpPr>
          <p:nvPr>
            <p:ph sz="quarter" idx="1" hasCustomPrompt="1"/>
          </p:nvPr>
        </p:nvSpPr>
        <p:spPr>
          <a:xfrm>
            <a:off x="3745078" y="1500188"/>
            <a:ext cx="7773821" cy="4633912"/>
          </a:xfrm>
        </p:spPr>
        <p:txBody>
          <a:bodyPr/>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dirty="0"/>
          </a:p>
        </p:txBody>
      </p:sp>
      <p:cxnSp>
        <p:nvCxnSpPr>
          <p:cNvPr id="7" name="直接连接符 6"/>
          <p:cNvCxnSpPr>
            <a:cxnSpLocks/>
          </p:cNvCxnSpPr>
          <p:nvPr/>
        </p:nvCxnSpPr>
        <p:spPr>
          <a:xfrm>
            <a:off x="3621019" y="1500188"/>
            <a:ext cx="0" cy="4633913"/>
          </a:xfrm>
          <a:prstGeom prst="line">
            <a:avLst/>
          </a:prstGeom>
          <a:solidFill>
            <a:srgbClr val="FFCC00"/>
          </a:solidFill>
          <a:ln w="3175" cap="flat" cmpd="sng" algn="ctr">
            <a:solidFill>
              <a:schemeClr val="tx2">
                <a:lumMod val="60000"/>
                <a:lumOff val="40000"/>
              </a:schemeClr>
            </a:solidFill>
            <a:prstDash val="solid"/>
            <a:round/>
            <a:headEnd type="none" w="med" len="med"/>
            <a:tailEnd type="none" w="med" len="med"/>
          </a:ln>
          <a:effectLst/>
        </p:spPr>
      </p:cxnSp>
      <p:sp>
        <p:nvSpPr>
          <p:cNvPr id="8" name="任意多边形: 形状 7"/>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2">
              <a:lumMod val="75000"/>
            </a:schemeClr>
          </a:solidFill>
          <a:ln>
            <a:noFill/>
          </a:ln>
        </p:spPr>
        <p:txBody>
          <a:bodyPr/>
          <a:lstStyle/>
          <a:p>
            <a:endParaRPr lang="zh-CN" altLang="en-US">
              <a:cs typeface="+mn-ea"/>
              <a:sym typeface="+mn-lt"/>
            </a:endParaRPr>
          </a:p>
        </p:txBody>
      </p:sp>
    </p:spTree>
    <p:extLst>
      <p:ext uri="{BB962C8B-B14F-4D97-AF65-F5344CB8AC3E}">
        <p14:creationId xmlns:p14="http://schemas.microsoft.com/office/powerpoint/2010/main" val="3089265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grpSp>
        <p:nvGrpSpPr>
          <p:cNvPr id="7" name="组合 6"/>
          <p:cNvGrpSpPr/>
          <p:nvPr/>
        </p:nvGrpSpPr>
        <p:grpSpPr>
          <a:xfrm>
            <a:off x="1588" y="-1588"/>
            <a:ext cx="12188825" cy="6858001"/>
            <a:chOff x="1588" y="-1588"/>
            <a:chExt cx="12188825" cy="6858001"/>
          </a:xfrm>
        </p:grpSpPr>
        <p:sp>
          <p:nvSpPr>
            <p:cNvPr id="8" name="矩形 7"/>
            <p:cNvSpPr>
              <a:spLocks noChangeArrowheads="1"/>
            </p:cNvSpPr>
            <p:nvPr/>
          </p:nvSpPr>
          <p:spPr bwMode="auto">
            <a:xfrm>
              <a:off x="1588" y="-1588"/>
              <a:ext cx="12188825" cy="6858000"/>
            </a:xfrm>
            <a:prstGeom prst="rect">
              <a:avLst/>
            </a:pr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任意多边形: 形状 8"/>
            <p:cNvSpPr>
              <a:spLocks/>
            </p:cNvSpPr>
            <p:nvPr/>
          </p:nvSpPr>
          <p:spPr bwMode="auto">
            <a:xfrm>
              <a:off x="7192963" y="-1588"/>
              <a:ext cx="4997450" cy="5673725"/>
            </a:xfrm>
            <a:custGeom>
              <a:avLst/>
              <a:gdLst>
                <a:gd name="T0" fmla="*/ 242 w 3149"/>
                <a:gd name="T1" fmla="*/ 1727 h 3574"/>
                <a:gd name="T2" fmla="*/ 2374 w 3149"/>
                <a:gd name="T3" fmla="*/ 3546 h 3574"/>
                <a:gd name="T4" fmla="*/ 3149 w 3149"/>
                <a:gd name="T5" fmla="*/ 3245 h 3574"/>
                <a:gd name="T6" fmla="*/ 3149 w 3149"/>
                <a:gd name="T7" fmla="*/ 0 h 3574"/>
                <a:gd name="T8" fmla="*/ 114 w 3149"/>
                <a:gd name="T9" fmla="*/ 0 h 3574"/>
                <a:gd name="T10" fmla="*/ 242 w 3149"/>
                <a:gd name="T11" fmla="*/ 1727 h 3574"/>
              </a:gdLst>
              <a:ahLst/>
              <a:cxnLst>
                <a:cxn ang="0">
                  <a:pos x="T0" y="T1"/>
                </a:cxn>
                <a:cxn ang="0">
                  <a:pos x="T2" y="T3"/>
                </a:cxn>
                <a:cxn ang="0">
                  <a:pos x="T4" y="T5"/>
                </a:cxn>
                <a:cxn ang="0">
                  <a:pos x="T6" y="T7"/>
                </a:cxn>
                <a:cxn ang="0">
                  <a:pos x="T8" y="T9"/>
                </a:cxn>
                <a:cxn ang="0">
                  <a:pos x="T10" y="T11"/>
                </a:cxn>
              </a:cxnLst>
              <a:rect l="0" t="0" r="r" b="b"/>
              <a:pathLst>
                <a:path w="3149" h="3574">
                  <a:moveTo>
                    <a:pt x="242" y="1727"/>
                  </a:moveTo>
                  <a:cubicBezTo>
                    <a:pt x="619" y="2539"/>
                    <a:pt x="2033" y="3482"/>
                    <a:pt x="2374" y="3546"/>
                  </a:cubicBezTo>
                  <a:cubicBezTo>
                    <a:pt x="2527" y="3574"/>
                    <a:pt x="2665" y="3184"/>
                    <a:pt x="3149" y="3245"/>
                  </a:cubicBezTo>
                  <a:cubicBezTo>
                    <a:pt x="3149" y="0"/>
                    <a:pt x="3149" y="0"/>
                    <a:pt x="3149" y="0"/>
                  </a:cubicBezTo>
                  <a:cubicBezTo>
                    <a:pt x="114" y="0"/>
                    <a:pt x="114" y="0"/>
                    <a:pt x="114" y="0"/>
                  </a:cubicBezTo>
                  <a:cubicBezTo>
                    <a:pt x="26" y="456"/>
                    <a:pt x="0" y="1205"/>
                    <a:pt x="242" y="1727"/>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p:cNvSpPr>
              <a:spLocks/>
            </p:cNvSpPr>
            <p:nvPr/>
          </p:nvSpPr>
          <p:spPr bwMode="auto">
            <a:xfrm>
              <a:off x="8326438" y="-1588"/>
              <a:ext cx="3863975" cy="5151438"/>
            </a:xfrm>
            <a:custGeom>
              <a:avLst/>
              <a:gdLst>
                <a:gd name="T0" fmla="*/ 488 w 2435"/>
                <a:gd name="T1" fmla="*/ 1921 h 3245"/>
                <a:gd name="T2" fmla="*/ 2435 w 2435"/>
                <a:gd name="T3" fmla="*/ 3245 h 3245"/>
                <a:gd name="T4" fmla="*/ 2435 w 2435"/>
                <a:gd name="T5" fmla="*/ 0 h 3245"/>
                <a:gd name="T6" fmla="*/ 188 w 2435"/>
                <a:gd name="T7" fmla="*/ 0 h 3245"/>
                <a:gd name="T8" fmla="*/ 488 w 2435"/>
                <a:gd name="T9" fmla="*/ 1921 h 3245"/>
              </a:gdLst>
              <a:ahLst/>
              <a:cxnLst>
                <a:cxn ang="0">
                  <a:pos x="T0" y="T1"/>
                </a:cxn>
                <a:cxn ang="0">
                  <a:pos x="T2" y="T3"/>
                </a:cxn>
                <a:cxn ang="0">
                  <a:pos x="T4" y="T5"/>
                </a:cxn>
                <a:cxn ang="0">
                  <a:pos x="T6" y="T7"/>
                </a:cxn>
                <a:cxn ang="0">
                  <a:pos x="T8" y="T9"/>
                </a:cxn>
              </a:cxnLst>
              <a:rect l="0" t="0" r="r" b="b"/>
              <a:pathLst>
                <a:path w="2435" h="3245">
                  <a:moveTo>
                    <a:pt x="488" y="1921"/>
                  </a:moveTo>
                  <a:cubicBezTo>
                    <a:pt x="1077" y="2770"/>
                    <a:pt x="1955" y="3177"/>
                    <a:pt x="2435" y="3245"/>
                  </a:cubicBezTo>
                  <a:cubicBezTo>
                    <a:pt x="2435" y="0"/>
                    <a:pt x="2435" y="0"/>
                    <a:pt x="2435" y="0"/>
                  </a:cubicBezTo>
                  <a:cubicBezTo>
                    <a:pt x="188" y="0"/>
                    <a:pt x="188" y="0"/>
                    <a:pt x="188" y="0"/>
                  </a:cubicBezTo>
                  <a:cubicBezTo>
                    <a:pt x="107" y="385"/>
                    <a:pt x="0" y="1218"/>
                    <a:pt x="488" y="192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任意多边形: 形状 10"/>
            <p:cNvSpPr>
              <a:spLocks/>
            </p:cNvSpPr>
            <p:nvPr/>
          </p:nvSpPr>
          <p:spPr bwMode="auto">
            <a:xfrm>
              <a:off x="1588" y="-1588"/>
              <a:ext cx="7829550" cy="6858000"/>
            </a:xfrm>
            <a:custGeom>
              <a:avLst/>
              <a:gdLst>
                <a:gd name="T0" fmla="*/ 0 w 4933"/>
                <a:gd name="T1" fmla="*/ 4320 h 4320"/>
                <a:gd name="T2" fmla="*/ 4933 w 4933"/>
                <a:gd name="T3" fmla="*/ 4320 h 4320"/>
                <a:gd name="T4" fmla="*/ 3501 w 4933"/>
                <a:gd name="T5" fmla="*/ 3054 h 4320"/>
                <a:gd name="T6" fmla="*/ 968 w 4933"/>
                <a:gd name="T7" fmla="*/ 2114 h 4320"/>
                <a:gd name="T8" fmla="*/ 31 w 4933"/>
                <a:gd name="T9" fmla="*/ 0 h 4320"/>
                <a:gd name="T10" fmla="*/ 0 w 4933"/>
                <a:gd name="T11" fmla="*/ 0 h 4320"/>
                <a:gd name="T12" fmla="*/ 0 w 4933"/>
                <a:gd name="T13" fmla="*/ 4320 h 4320"/>
              </a:gdLst>
              <a:ahLst/>
              <a:cxnLst>
                <a:cxn ang="0">
                  <a:pos x="T0" y="T1"/>
                </a:cxn>
                <a:cxn ang="0">
                  <a:pos x="T2" y="T3"/>
                </a:cxn>
                <a:cxn ang="0">
                  <a:pos x="T4" y="T5"/>
                </a:cxn>
                <a:cxn ang="0">
                  <a:pos x="T6" y="T7"/>
                </a:cxn>
                <a:cxn ang="0">
                  <a:pos x="T8" y="T9"/>
                </a:cxn>
                <a:cxn ang="0">
                  <a:pos x="T10" y="T11"/>
                </a:cxn>
                <a:cxn ang="0">
                  <a:pos x="T12" y="T13"/>
                </a:cxn>
              </a:cxnLst>
              <a:rect l="0" t="0" r="r" b="b"/>
              <a:pathLst>
                <a:path w="4933" h="4320">
                  <a:moveTo>
                    <a:pt x="0" y="4320"/>
                  </a:moveTo>
                  <a:cubicBezTo>
                    <a:pt x="4933" y="4320"/>
                    <a:pt x="4933" y="4320"/>
                    <a:pt x="4933" y="4320"/>
                  </a:cubicBezTo>
                  <a:cubicBezTo>
                    <a:pt x="4719" y="3874"/>
                    <a:pt x="4063" y="3284"/>
                    <a:pt x="3501" y="3054"/>
                  </a:cubicBezTo>
                  <a:cubicBezTo>
                    <a:pt x="2777" y="2757"/>
                    <a:pt x="1393" y="2669"/>
                    <a:pt x="968" y="2114"/>
                  </a:cubicBezTo>
                  <a:cubicBezTo>
                    <a:pt x="631" y="1674"/>
                    <a:pt x="171" y="482"/>
                    <a:pt x="31" y="0"/>
                  </a:cubicBezTo>
                  <a:cubicBezTo>
                    <a:pt x="0" y="0"/>
                    <a:pt x="0" y="0"/>
                    <a:pt x="0" y="0"/>
                  </a:cubicBezTo>
                  <a:lnTo>
                    <a:pt x="0" y="432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任意多边形: 形状 11"/>
            <p:cNvSpPr>
              <a:spLocks/>
            </p:cNvSpPr>
            <p:nvPr/>
          </p:nvSpPr>
          <p:spPr bwMode="auto">
            <a:xfrm>
              <a:off x="1588" y="2457450"/>
              <a:ext cx="7613650" cy="4398963"/>
            </a:xfrm>
            <a:custGeom>
              <a:avLst/>
              <a:gdLst>
                <a:gd name="T0" fmla="*/ 4733 w 4797"/>
                <a:gd name="T1" fmla="*/ 2668 h 2771"/>
                <a:gd name="T2" fmla="*/ 2790 w 4797"/>
                <a:gd name="T3" fmla="*/ 1732 h 2771"/>
                <a:gd name="T4" fmla="*/ 613 w 4797"/>
                <a:gd name="T5" fmla="*/ 1120 h 2771"/>
                <a:gd name="T6" fmla="*/ 0 w 4797"/>
                <a:gd name="T7" fmla="*/ 0 h 2771"/>
                <a:gd name="T8" fmla="*/ 0 w 4797"/>
                <a:gd name="T9" fmla="*/ 2771 h 2771"/>
                <a:gd name="T10" fmla="*/ 4797 w 4797"/>
                <a:gd name="T11" fmla="*/ 2771 h 2771"/>
                <a:gd name="T12" fmla="*/ 4733 w 4797"/>
                <a:gd name="T13" fmla="*/ 2668 h 2771"/>
              </a:gdLst>
              <a:ahLst/>
              <a:cxnLst>
                <a:cxn ang="0">
                  <a:pos x="T0" y="T1"/>
                </a:cxn>
                <a:cxn ang="0">
                  <a:pos x="T2" y="T3"/>
                </a:cxn>
                <a:cxn ang="0">
                  <a:pos x="T4" y="T5"/>
                </a:cxn>
                <a:cxn ang="0">
                  <a:pos x="T6" y="T7"/>
                </a:cxn>
                <a:cxn ang="0">
                  <a:pos x="T8" y="T9"/>
                </a:cxn>
                <a:cxn ang="0">
                  <a:pos x="T10" y="T11"/>
                </a:cxn>
                <a:cxn ang="0">
                  <a:pos x="T12" y="T13"/>
                </a:cxn>
              </a:cxnLst>
              <a:rect l="0" t="0" r="r" b="b"/>
              <a:pathLst>
                <a:path w="4797" h="2771">
                  <a:moveTo>
                    <a:pt x="4733" y="2668"/>
                  </a:moveTo>
                  <a:cubicBezTo>
                    <a:pt x="4239" y="1911"/>
                    <a:pt x="3316" y="1716"/>
                    <a:pt x="2790" y="1732"/>
                  </a:cubicBezTo>
                  <a:cubicBezTo>
                    <a:pt x="2263" y="1749"/>
                    <a:pt x="1238" y="1614"/>
                    <a:pt x="613" y="1120"/>
                  </a:cubicBezTo>
                  <a:cubicBezTo>
                    <a:pt x="311" y="882"/>
                    <a:pt x="105" y="459"/>
                    <a:pt x="0" y="0"/>
                  </a:cubicBezTo>
                  <a:cubicBezTo>
                    <a:pt x="0" y="2771"/>
                    <a:pt x="0" y="2771"/>
                    <a:pt x="0" y="2771"/>
                  </a:cubicBezTo>
                  <a:cubicBezTo>
                    <a:pt x="4797" y="2771"/>
                    <a:pt x="4797" y="2771"/>
                    <a:pt x="4797" y="2771"/>
                  </a:cubicBezTo>
                  <a:cubicBezTo>
                    <a:pt x="4778" y="2738"/>
                    <a:pt x="4757" y="2704"/>
                    <a:pt x="4733" y="266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任意多边形: 形状 12"/>
            <p:cNvSpPr>
              <a:spLocks/>
            </p:cNvSpPr>
            <p:nvPr/>
          </p:nvSpPr>
          <p:spPr bwMode="auto">
            <a:xfrm>
              <a:off x="1588" y="3786188"/>
              <a:ext cx="12188825" cy="3070225"/>
            </a:xfrm>
            <a:custGeom>
              <a:avLst/>
              <a:gdLst>
                <a:gd name="T0" fmla="*/ 7680 w 7680"/>
                <a:gd name="T1" fmla="*/ 625 h 1934"/>
                <a:gd name="T2" fmla="*/ 2299 w 7680"/>
                <a:gd name="T3" fmla="*/ 1304 h 1934"/>
                <a:gd name="T4" fmla="*/ 0 w 7680"/>
                <a:gd name="T5" fmla="*/ 1044 h 1934"/>
                <a:gd name="T6" fmla="*/ 0 w 7680"/>
                <a:gd name="T7" fmla="*/ 1934 h 1934"/>
                <a:gd name="T8" fmla="*/ 7680 w 7680"/>
                <a:gd name="T9" fmla="*/ 1934 h 1934"/>
                <a:gd name="T10" fmla="*/ 7680 w 7680"/>
                <a:gd name="T11" fmla="*/ 625 h 1934"/>
              </a:gdLst>
              <a:ahLst/>
              <a:cxnLst>
                <a:cxn ang="0">
                  <a:pos x="T0" y="T1"/>
                </a:cxn>
                <a:cxn ang="0">
                  <a:pos x="T2" y="T3"/>
                </a:cxn>
                <a:cxn ang="0">
                  <a:pos x="T4" y="T5"/>
                </a:cxn>
                <a:cxn ang="0">
                  <a:pos x="T6" y="T7"/>
                </a:cxn>
                <a:cxn ang="0">
                  <a:pos x="T8" y="T9"/>
                </a:cxn>
                <a:cxn ang="0">
                  <a:pos x="T10" y="T11"/>
                </a:cxn>
              </a:cxnLst>
              <a:rect l="0" t="0" r="r" b="b"/>
              <a:pathLst>
                <a:path w="7680" h="1934">
                  <a:moveTo>
                    <a:pt x="7680" y="625"/>
                  </a:moveTo>
                  <a:cubicBezTo>
                    <a:pt x="5871" y="0"/>
                    <a:pt x="3575" y="1178"/>
                    <a:pt x="2299" y="1304"/>
                  </a:cubicBezTo>
                  <a:cubicBezTo>
                    <a:pt x="1739" y="1358"/>
                    <a:pt x="688" y="1250"/>
                    <a:pt x="0" y="1044"/>
                  </a:cubicBezTo>
                  <a:cubicBezTo>
                    <a:pt x="0" y="1934"/>
                    <a:pt x="0" y="1934"/>
                    <a:pt x="0" y="1934"/>
                  </a:cubicBezTo>
                  <a:cubicBezTo>
                    <a:pt x="7680" y="1934"/>
                    <a:pt x="7680" y="1934"/>
                    <a:pt x="7680" y="1934"/>
                  </a:cubicBezTo>
                  <a:lnTo>
                    <a:pt x="7680" y="62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 name="标题 1"/>
          <p:cNvSpPr>
            <a:spLocks noGrp="1"/>
          </p:cNvSpPr>
          <p:nvPr>
            <p:ph type="title" hasCustomPrompt="1"/>
          </p:nvPr>
        </p:nvSpPr>
        <p:spPr>
          <a:xfrm>
            <a:off x="857170" y="1130300"/>
            <a:ext cx="7253368" cy="1371600"/>
          </a:xfrm>
        </p:spPr>
        <p:txBody>
          <a:bodyPr anchor="b">
            <a:normAutofit/>
          </a:bodyPr>
          <a:lstStyle>
            <a:lvl1pPr>
              <a:defRPr sz="3600"/>
            </a:lvl1pPr>
          </a:lstStyle>
          <a:p>
            <a:pPr lvl="0"/>
            <a:r>
              <a:rPr lang="en-US"/>
              <a:t>Click to add title</a:t>
            </a:r>
          </a:p>
        </p:txBody>
      </p:sp>
      <p:sp>
        <p:nvSpPr>
          <p:cNvPr id="3" name="文本占位符 2"/>
          <p:cNvSpPr>
            <a:spLocks noGrp="1"/>
          </p:cNvSpPr>
          <p:nvPr>
            <p:ph type="body" idx="1" hasCustomPrompt="1"/>
          </p:nvPr>
        </p:nvSpPr>
        <p:spPr>
          <a:xfrm>
            <a:off x="857170" y="2507405"/>
            <a:ext cx="7253368" cy="1371600"/>
          </a:xfrm>
        </p:spPr>
        <p:txBody>
          <a:bodyPr>
            <a:normAutofit/>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text</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extLst>
      <p:ext uri="{BB962C8B-B14F-4D97-AF65-F5344CB8AC3E}">
        <p14:creationId xmlns:p14="http://schemas.microsoft.com/office/powerpoint/2010/main" val="207442314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extLst>
      <p:ext uri="{BB962C8B-B14F-4D97-AF65-F5344CB8AC3E}">
        <p14:creationId xmlns:p14="http://schemas.microsoft.com/office/powerpoint/2010/main" val="3578215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extLst>
      <p:ext uri="{BB962C8B-B14F-4D97-AF65-F5344CB8AC3E}">
        <p14:creationId xmlns:p14="http://schemas.microsoft.com/office/powerpoint/2010/main" val="11251981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Closing" preserve="1">
  <p:cSld name="Closing">
    <p:bg>
      <p:bgRef idx="1001">
        <a:schemeClr val="bg1"/>
      </p:bgRef>
    </p:bg>
    <p:spTree>
      <p:nvGrpSpPr>
        <p:cNvPr id="1" name=""/>
        <p:cNvGrpSpPr/>
        <p:nvPr/>
      </p:nvGrpSpPr>
      <p:grpSpPr>
        <a:xfrm>
          <a:off x="0" y="0"/>
          <a:ext cx="0" cy="0"/>
          <a:chOff x="0" y="0"/>
          <a:chExt cx="0" cy="0"/>
        </a:xfrm>
      </p:grpSpPr>
      <p:grpSp>
        <p:nvGrpSpPr>
          <p:cNvPr id="3" name="组合 2"/>
          <p:cNvGrpSpPr/>
          <p:nvPr/>
        </p:nvGrpSpPr>
        <p:grpSpPr>
          <a:xfrm>
            <a:off x="1588" y="-1588"/>
            <a:ext cx="12188825" cy="6858001"/>
            <a:chOff x="1588" y="-1588"/>
            <a:chExt cx="12188825" cy="6858001"/>
          </a:xfrm>
        </p:grpSpPr>
        <p:sp>
          <p:nvSpPr>
            <p:cNvPr id="6" name="矩形 5"/>
            <p:cNvSpPr>
              <a:spLocks noChangeArrowheads="1"/>
            </p:cNvSpPr>
            <p:nvPr/>
          </p:nvSpPr>
          <p:spPr bwMode="auto">
            <a:xfrm>
              <a:off x="1588" y="-1588"/>
              <a:ext cx="12188825" cy="6858000"/>
            </a:xfrm>
            <a:prstGeom prst="rect">
              <a:avLst/>
            </a:pr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任意多边形: 形状 6"/>
            <p:cNvSpPr>
              <a:spLocks/>
            </p:cNvSpPr>
            <p:nvPr/>
          </p:nvSpPr>
          <p:spPr bwMode="auto">
            <a:xfrm>
              <a:off x="7192963" y="-1588"/>
              <a:ext cx="4997450" cy="5673725"/>
            </a:xfrm>
            <a:custGeom>
              <a:avLst/>
              <a:gdLst>
                <a:gd name="T0" fmla="*/ 242 w 3149"/>
                <a:gd name="T1" fmla="*/ 1727 h 3574"/>
                <a:gd name="T2" fmla="*/ 2374 w 3149"/>
                <a:gd name="T3" fmla="*/ 3546 h 3574"/>
                <a:gd name="T4" fmla="*/ 3149 w 3149"/>
                <a:gd name="T5" fmla="*/ 3245 h 3574"/>
                <a:gd name="T6" fmla="*/ 3149 w 3149"/>
                <a:gd name="T7" fmla="*/ 0 h 3574"/>
                <a:gd name="T8" fmla="*/ 114 w 3149"/>
                <a:gd name="T9" fmla="*/ 0 h 3574"/>
                <a:gd name="T10" fmla="*/ 242 w 3149"/>
                <a:gd name="T11" fmla="*/ 1727 h 3574"/>
              </a:gdLst>
              <a:ahLst/>
              <a:cxnLst>
                <a:cxn ang="0">
                  <a:pos x="T0" y="T1"/>
                </a:cxn>
                <a:cxn ang="0">
                  <a:pos x="T2" y="T3"/>
                </a:cxn>
                <a:cxn ang="0">
                  <a:pos x="T4" y="T5"/>
                </a:cxn>
                <a:cxn ang="0">
                  <a:pos x="T6" y="T7"/>
                </a:cxn>
                <a:cxn ang="0">
                  <a:pos x="T8" y="T9"/>
                </a:cxn>
                <a:cxn ang="0">
                  <a:pos x="T10" y="T11"/>
                </a:cxn>
              </a:cxnLst>
              <a:rect l="0" t="0" r="r" b="b"/>
              <a:pathLst>
                <a:path w="3149" h="3574">
                  <a:moveTo>
                    <a:pt x="242" y="1727"/>
                  </a:moveTo>
                  <a:cubicBezTo>
                    <a:pt x="619" y="2539"/>
                    <a:pt x="2033" y="3482"/>
                    <a:pt x="2374" y="3546"/>
                  </a:cubicBezTo>
                  <a:cubicBezTo>
                    <a:pt x="2527" y="3574"/>
                    <a:pt x="2665" y="3184"/>
                    <a:pt x="3149" y="3245"/>
                  </a:cubicBezTo>
                  <a:cubicBezTo>
                    <a:pt x="3149" y="0"/>
                    <a:pt x="3149" y="0"/>
                    <a:pt x="3149" y="0"/>
                  </a:cubicBezTo>
                  <a:cubicBezTo>
                    <a:pt x="114" y="0"/>
                    <a:pt x="114" y="0"/>
                    <a:pt x="114" y="0"/>
                  </a:cubicBezTo>
                  <a:cubicBezTo>
                    <a:pt x="26" y="456"/>
                    <a:pt x="0" y="1205"/>
                    <a:pt x="242" y="1727"/>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任意多边形: 形状 7"/>
            <p:cNvSpPr>
              <a:spLocks/>
            </p:cNvSpPr>
            <p:nvPr/>
          </p:nvSpPr>
          <p:spPr bwMode="auto">
            <a:xfrm>
              <a:off x="8326438" y="-1588"/>
              <a:ext cx="3863975" cy="5151438"/>
            </a:xfrm>
            <a:custGeom>
              <a:avLst/>
              <a:gdLst>
                <a:gd name="T0" fmla="*/ 488 w 2435"/>
                <a:gd name="T1" fmla="*/ 1921 h 3245"/>
                <a:gd name="T2" fmla="*/ 2435 w 2435"/>
                <a:gd name="T3" fmla="*/ 3245 h 3245"/>
                <a:gd name="T4" fmla="*/ 2435 w 2435"/>
                <a:gd name="T5" fmla="*/ 0 h 3245"/>
                <a:gd name="T6" fmla="*/ 188 w 2435"/>
                <a:gd name="T7" fmla="*/ 0 h 3245"/>
                <a:gd name="T8" fmla="*/ 488 w 2435"/>
                <a:gd name="T9" fmla="*/ 1921 h 3245"/>
              </a:gdLst>
              <a:ahLst/>
              <a:cxnLst>
                <a:cxn ang="0">
                  <a:pos x="T0" y="T1"/>
                </a:cxn>
                <a:cxn ang="0">
                  <a:pos x="T2" y="T3"/>
                </a:cxn>
                <a:cxn ang="0">
                  <a:pos x="T4" y="T5"/>
                </a:cxn>
                <a:cxn ang="0">
                  <a:pos x="T6" y="T7"/>
                </a:cxn>
                <a:cxn ang="0">
                  <a:pos x="T8" y="T9"/>
                </a:cxn>
              </a:cxnLst>
              <a:rect l="0" t="0" r="r" b="b"/>
              <a:pathLst>
                <a:path w="2435" h="3245">
                  <a:moveTo>
                    <a:pt x="488" y="1921"/>
                  </a:moveTo>
                  <a:cubicBezTo>
                    <a:pt x="1077" y="2770"/>
                    <a:pt x="1955" y="3177"/>
                    <a:pt x="2435" y="3245"/>
                  </a:cubicBezTo>
                  <a:cubicBezTo>
                    <a:pt x="2435" y="0"/>
                    <a:pt x="2435" y="0"/>
                    <a:pt x="2435" y="0"/>
                  </a:cubicBezTo>
                  <a:cubicBezTo>
                    <a:pt x="188" y="0"/>
                    <a:pt x="188" y="0"/>
                    <a:pt x="188" y="0"/>
                  </a:cubicBezTo>
                  <a:cubicBezTo>
                    <a:pt x="107" y="385"/>
                    <a:pt x="0" y="1218"/>
                    <a:pt x="488" y="192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任意多边形: 形状 8"/>
            <p:cNvSpPr>
              <a:spLocks/>
            </p:cNvSpPr>
            <p:nvPr/>
          </p:nvSpPr>
          <p:spPr bwMode="auto">
            <a:xfrm>
              <a:off x="1588" y="-1588"/>
              <a:ext cx="7829550" cy="6858000"/>
            </a:xfrm>
            <a:custGeom>
              <a:avLst/>
              <a:gdLst>
                <a:gd name="T0" fmla="*/ 0 w 4933"/>
                <a:gd name="T1" fmla="*/ 4320 h 4320"/>
                <a:gd name="T2" fmla="*/ 4933 w 4933"/>
                <a:gd name="T3" fmla="*/ 4320 h 4320"/>
                <a:gd name="T4" fmla="*/ 3501 w 4933"/>
                <a:gd name="T5" fmla="*/ 3054 h 4320"/>
                <a:gd name="T6" fmla="*/ 968 w 4933"/>
                <a:gd name="T7" fmla="*/ 2114 h 4320"/>
                <a:gd name="T8" fmla="*/ 31 w 4933"/>
                <a:gd name="T9" fmla="*/ 0 h 4320"/>
                <a:gd name="T10" fmla="*/ 0 w 4933"/>
                <a:gd name="T11" fmla="*/ 0 h 4320"/>
                <a:gd name="T12" fmla="*/ 0 w 4933"/>
                <a:gd name="T13" fmla="*/ 4320 h 4320"/>
              </a:gdLst>
              <a:ahLst/>
              <a:cxnLst>
                <a:cxn ang="0">
                  <a:pos x="T0" y="T1"/>
                </a:cxn>
                <a:cxn ang="0">
                  <a:pos x="T2" y="T3"/>
                </a:cxn>
                <a:cxn ang="0">
                  <a:pos x="T4" y="T5"/>
                </a:cxn>
                <a:cxn ang="0">
                  <a:pos x="T6" y="T7"/>
                </a:cxn>
                <a:cxn ang="0">
                  <a:pos x="T8" y="T9"/>
                </a:cxn>
                <a:cxn ang="0">
                  <a:pos x="T10" y="T11"/>
                </a:cxn>
                <a:cxn ang="0">
                  <a:pos x="T12" y="T13"/>
                </a:cxn>
              </a:cxnLst>
              <a:rect l="0" t="0" r="r" b="b"/>
              <a:pathLst>
                <a:path w="4933" h="4320">
                  <a:moveTo>
                    <a:pt x="0" y="4320"/>
                  </a:moveTo>
                  <a:cubicBezTo>
                    <a:pt x="4933" y="4320"/>
                    <a:pt x="4933" y="4320"/>
                    <a:pt x="4933" y="4320"/>
                  </a:cubicBezTo>
                  <a:cubicBezTo>
                    <a:pt x="4719" y="3874"/>
                    <a:pt x="4063" y="3284"/>
                    <a:pt x="3501" y="3054"/>
                  </a:cubicBezTo>
                  <a:cubicBezTo>
                    <a:pt x="2777" y="2757"/>
                    <a:pt x="1393" y="2669"/>
                    <a:pt x="968" y="2114"/>
                  </a:cubicBezTo>
                  <a:cubicBezTo>
                    <a:pt x="631" y="1674"/>
                    <a:pt x="171" y="482"/>
                    <a:pt x="31" y="0"/>
                  </a:cubicBezTo>
                  <a:cubicBezTo>
                    <a:pt x="0" y="0"/>
                    <a:pt x="0" y="0"/>
                    <a:pt x="0" y="0"/>
                  </a:cubicBezTo>
                  <a:lnTo>
                    <a:pt x="0" y="432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p:cNvSpPr>
              <a:spLocks/>
            </p:cNvSpPr>
            <p:nvPr/>
          </p:nvSpPr>
          <p:spPr bwMode="auto">
            <a:xfrm>
              <a:off x="1588" y="2457450"/>
              <a:ext cx="7613650" cy="4398963"/>
            </a:xfrm>
            <a:custGeom>
              <a:avLst/>
              <a:gdLst>
                <a:gd name="T0" fmla="*/ 4733 w 4797"/>
                <a:gd name="T1" fmla="*/ 2668 h 2771"/>
                <a:gd name="T2" fmla="*/ 2790 w 4797"/>
                <a:gd name="T3" fmla="*/ 1732 h 2771"/>
                <a:gd name="T4" fmla="*/ 613 w 4797"/>
                <a:gd name="T5" fmla="*/ 1120 h 2771"/>
                <a:gd name="T6" fmla="*/ 0 w 4797"/>
                <a:gd name="T7" fmla="*/ 0 h 2771"/>
                <a:gd name="T8" fmla="*/ 0 w 4797"/>
                <a:gd name="T9" fmla="*/ 2771 h 2771"/>
                <a:gd name="T10" fmla="*/ 4797 w 4797"/>
                <a:gd name="T11" fmla="*/ 2771 h 2771"/>
                <a:gd name="T12" fmla="*/ 4733 w 4797"/>
                <a:gd name="T13" fmla="*/ 2668 h 2771"/>
              </a:gdLst>
              <a:ahLst/>
              <a:cxnLst>
                <a:cxn ang="0">
                  <a:pos x="T0" y="T1"/>
                </a:cxn>
                <a:cxn ang="0">
                  <a:pos x="T2" y="T3"/>
                </a:cxn>
                <a:cxn ang="0">
                  <a:pos x="T4" y="T5"/>
                </a:cxn>
                <a:cxn ang="0">
                  <a:pos x="T6" y="T7"/>
                </a:cxn>
                <a:cxn ang="0">
                  <a:pos x="T8" y="T9"/>
                </a:cxn>
                <a:cxn ang="0">
                  <a:pos x="T10" y="T11"/>
                </a:cxn>
                <a:cxn ang="0">
                  <a:pos x="T12" y="T13"/>
                </a:cxn>
              </a:cxnLst>
              <a:rect l="0" t="0" r="r" b="b"/>
              <a:pathLst>
                <a:path w="4797" h="2771">
                  <a:moveTo>
                    <a:pt x="4733" y="2668"/>
                  </a:moveTo>
                  <a:cubicBezTo>
                    <a:pt x="4239" y="1911"/>
                    <a:pt x="3316" y="1716"/>
                    <a:pt x="2790" y="1732"/>
                  </a:cubicBezTo>
                  <a:cubicBezTo>
                    <a:pt x="2263" y="1749"/>
                    <a:pt x="1238" y="1614"/>
                    <a:pt x="613" y="1120"/>
                  </a:cubicBezTo>
                  <a:cubicBezTo>
                    <a:pt x="311" y="882"/>
                    <a:pt x="105" y="459"/>
                    <a:pt x="0" y="0"/>
                  </a:cubicBezTo>
                  <a:cubicBezTo>
                    <a:pt x="0" y="2771"/>
                    <a:pt x="0" y="2771"/>
                    <a:pt x="0" y="2771"/>
                  </a:cubicBezTo>
                  <a:cubicBezTo>
                    <a:pt x="4797" y="2771"/>
                    <a:pt x="4797" y="2771"/>
                    <a:pt x="4797" y="2771"/>
                  </a:cubicBezTo>
                  <a:cubicBezTo>
                    <a:pt x="4778" y="2738"/>
                    <a:pt x="4757" y="2704"/>
                    <a:pt x="4733" y="266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任意多边形: 形状 10"/>
            <p:cNvSpPr>
              <a:spLocks/>
            </p:cNvSpPr>
            <p:nvPr/>
          </p:nvSpPr>
          <p:spPr bwMode="auto">
            <a:xfrm>
              <a:off x="1588" y="3786188"/>
              <a:ext cx="12188825" cy="3070225"/>
            </a:xfrm>
            <a:custGeom>
              <a:avLst/>
              <a:gdLst>
                <a:gd name="T0" fmla="*/ 7680 w 7680"/>
                <a:gd name="T1" fmla="*/ 625 h 1934"/>
                <a:gd name="T2" fmla="*/ 2299 w 7680"/>
                <a:gd name="T3" fmla="*/ 1304 h 1934"/>
                <a:gd name="T4" fmla="*/ 0 w 7680"/>
                <a:gd name="T5" fmla="*/ 1044 h 1934"/>
                <a:gd name="T6" fmla="*/ 0 w 7680"/>
                <a:gd name="T7" fmla="*/ 1934 h 1934"/>
                <a:gd name="T8" fmla="*/ 7680 w 7680"/>
                <a:gd name="T9" fmla="*/ 1934 h 1934"/>
                <a:gd name="T10" fmla="*/ 7680 w 7680"/>
                <a:gd name="T11" fmla="*/ 625 h 1934"/>
              </a:gdLst>
              <a:ahLst/>
              <a:cxnLst>
                <a:cxn ang="0">
                  <a:pos x="T0" y="T1"/>
                </a:cxn>
                <a:cxn ang="0">
                  <a:pos x="T2" y="T3"/>
                </a:cxn>
                <a:cxn ang="0">
                  <a:pos x="T4" y="T5"/>
                </a:cxn>
                <a:cxn ang="0">
                  <a:pos x="T6" y="T7"/>
                </a:cxn>
                <a:cxn ang="0">
                  <a:pos x="T8" y="T9"/>
                </a:cxn>
                <a:cxn ang="0">
                  <a:pos x="T10" y="T11"/>
                </a:cxn>
              </a:cxnLst>
              <a:rect l="0" t="0" r="r" b="b"/>
              <a:pathLst>
                <a:path w="7680" h="1934">
                  <a:moveTo>
                    <a:pt x="7680" y="625"/>
                  </a:moveTo>
                  <a:cubicBezTo>
                    <a:pt x="5871" y="0"/>
                    <a:pt x="3575" y="1178"/>
                    <a:pt x="2299" y="1304"/>
                  </a:cubicBezTo>
                  <a:cubicBezTo>
                    <a:pt x="1739" y="1358"/>
                    <a:pt x="688" y="1250"/>
                    <a:pt x="0" y="1044"/>
                  </a:cubicBezTo>
                  <a:cubicBezTo>
                    <a:pt x="0" y="1934"/>
                    <a:pt x="0" y="1934"/>
                    <a:pt x="0" y="1934"/>
                  </a:cubicBezTo>
                  <a:cubicBezTo>
                    <a:pt x="7680" y="1934"/>
                    <a:pt x="7680" y="1934"/>
                    <a:pt x="7680" y="1934"/>
                  </a:cubicBezTo>
                  <a:lnTo>
                    <a:pt x="7680" y="62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 name="标题 1"/>
          <p:cNvSpPr>
            <a:spLocks noGrp="1"/>
          </p:cNvSpPr>
          <p:nvPr>
            <p:ph type="title" hasCustomPrompt="1"/>
          </p:nvPr>
        </p:nvSpPr>
        <p:spPr>
          <a:xfrm>
            <a:off x="660400" y="1130300"/>
            <a:ext cx="6954838" cy="2934811"/>
          </a:xfrm>
        </p:spPr>
        <p:txBody>
          <a:bodyPr anchor="ctr">
            <a:noAutofit/>
          </a:bodyPr>
          <a:lstStyle>
            <a:lvl1pPr>
              <a:defRPr sz="4800"/>
            </a:lvl1pPr>
          </a:lstStyle>
          <a:p>
            <a:pPr lvl="0"/>
            <a:r>
              <a:rPr lang="en-US"/>
              <a:t>Click to add title</a:t>
            </a:r>
          </a:p>
        </p:txBody>
      </p:sp>
      <p:sp>
        <p:nvSpPr>
          <p:cNvPr id="4" name="文本占位符 3"/>
          <p:cNvSpPr>
            <a:spLocks noGrp="1"/>
          </p:cNvSpPr>
          <p:nvPr>
            <p:ph type="body" sz="quarter" idx="13" hasCustomPrompt="1"/>
          </p:nvPr>
        </p:nvSpPr>
        <p:spPr>
          <a:xfrm>
            <a:off x="660400" y="4339431"/>
            <a:ext cx="3657600" cy="274320"/>
          </a:xfrm>
        </p:spPr>
        <p:txBody>
          <a:bodyPr anchor="ctr"/>
          <a:lstStyle>
            <a:lvl1pPr marL="0" indent="0" algn="l">
              <a:buNone/>
              <a:defRPr sz="1200">
                <a:solidFill>
                  <a:schemeClr val="tx1"/>
                </a:solidFill>
              </a:defRPr>
            </a:lvl1pPr>
          </a:lstStyle>
          <a:p>
            <a:pPr lvl="0"/>
            <a:r>
              <a:rPr lang="en-US"/>
              <a:t>Presenter name</a:t>
            </a:r>
          </a:p>
        </p:txBody>
      </p:sp>
      <p:sp>
        <p:nvSpPr>
          <p:cNvPr id="5" name="文本占位符 4"/>
          <p:cNvSpPr>
            <a:spLocks noGrp="1"/>
          </p:cNvSpPr>
          <p:nvPr>
            <p:ph type="body" sz="quarter" idx="14" hasCustomPrompt="1"/>
          </p:nvPr>
        </p:nvSpPr>
        <p:spPr>
          <a:xfrm>
            <a:off x="660400" y="4613751"/>
            <a:ext cx="3657600" cy="274320"/>
          </a:xfrm>
        </p:spPr>
        <p:txBody>
          <a:bodyPr anchor="ctr"/>
          <a:lstStyle>
            <a:lvl1pPr marL="0" indent="0">
              <a:buNone/>
              <a:defRPr sz="1200">
                <a:solidFill>
                  <a:schemeClr val="tx1"/>
                </a:solidFill>
              </a:defRPr>
            </a:lvl1pPr>
          </a:lstStyle>
          <a:p>
            <a:pPr lvl="0"/>
            <a:r>
              <a:rPr lang="en-US"/>
              <a:t>www.islide.cc</a:t>
            </a:r>
          </a:p>
        </p:txBody>
      </p:sp>
    </p:spTree>
    <p:extLst>
      <p:ext uri="{BB962C8B-B14F-4D97-AF65-F5344CB8AC3E}">
        <p14:creationId xmlns:p14="http://schemas.microsoft.com/office/powerpoint/2010/main" val="192810368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185FAE-BD6F-54CD-7CE1-918D88F6BE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75FAEF4-126C-AF02-DBC7-9AECF057BD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5FC179-B010-4AE0-EF8F-E05A9652B4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11754-73E3-4E6F-AF62-38683F8056B7}"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43E08F62-96F3-832E-7A45-EBE28FB14C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C88ED16-C505-7CEB-1ABB-9867B1FA1C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3B59A8-8B97-4695-8A3B-C0140B116663}" type="slidenum">
              <a:rPr lang="zh-CN" altLang="en-US" smtClean="0"/>
              <a:t>‹#›</a:t>
            </a:fld>
            <a:endParaRPr lang="zh-CN" altLang="en-US"/>
          </a:p>
        </p:txBody>
      </p:sp>
    </p:spTree>
    <p:extLst>
      <p:ext uri="{BB962C8B-B14F-4D97-AF65-F5344CB8AC3E}">
        <p14:creationId xmlns:p14="http://schemas.microsoft.com/office/powerpoint/2010/main" val="2626732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extLst>
      <p:ext uri="{BB962C8B-B14F-4D97-AF65-F5344CB8AC3E}">
        <p14:creationId xmlns:p14="http://schemas.microsoft.com/office/powerpoint/2010/main" val="216107851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3.xml"/><Relationship Id="rId1" Type="http://schemas.openxmlformats.org/officeDocument/2006/relationships/themeOverride" Target="../theme/themeOverride13.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1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hemeOverride" Target="../theme/themeOverride1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1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hemeOverride" Target="../theme/themeOverride19.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9581-8E49-3187-0831-CA722CECBF42}"/>
              </a:ext>
            </a:extLst>
          </p:cNvPr>
          <p:cNvSpPr>
            <a:spLocks noGrp="1"/>
          </p:cNvSpPr>
          <p:nvPr>
            <p:ph type="ctrTitle"/>
          </p:nvPr>
        </p:nvSpPr>
        <p:spPr>
          <a:xfrm>
            <a:off x="660400" y="1263650"/>
            <a:ext cx="6807200" cy="1987549"/>
          </a:xfrm>
        </p:spPr>
        <p:txBody>
          <a:bodyPr/>
          <a:lstStyle/>
          <a:p>
            <a:pPr lvl="0"/>
            <a:r>
              <a:rPr lang="zh-CN" altLang="en-US" dirty="0"/>
              <a:t>扫雷游戏</a:t>
            </a:r>
            <a:endParaRPr lang="en-US" dirty="0"/>
          </a:p>
        </p:txBody>
      </p:sp>
      <p:sp>
        <p:nvSpPr>
          <p:cNvPr id="3" name="Subtitle 2">
            <a:extLst>
              <a:ext uri="{FF2B5EF4-FFF2-40B4-BE49-F238E27FC236}">
                <a16:creationId xmlns:a16="http://schemas.microsoft.com/office/drawing/2014/main" id="{FEC47266-BDC5-AE9B-BF2E-B62F6C53A466}"/>
              </a:ext>
            </a:extLst>
          </p:cNvPr>
          <p:cNvSpPr>
            <a:spLocks noGrp="1"/>
          </p:cNvSpPr>
          <p:nvPr>
            <p:ph type="subTitle" idx="1"/>
          </p:nvPr>
        </p:nvSpPr>
        <p:spPr>
          <a:xfrm>
            <a:off x="660400" y="3428999"/>
            <a:ext cx="6807200" cy="1035051"/>
          </a:xfrm>
        </p:spPr>
        <p:txBody>
          <a:bodyPr/>
          <a:lstStyle/>
          <a:p>
            <a:pPr lvl="0"/>
            <a:r>
              <a:rPr lang="zh-CN" altLang="en-US" dirty="0"/>
              <a:t>王志城 张鑫</a:t>
            </a:r>
            <a:endParaRPr lang="en-US" dirty="0"/>
          </a:p>
        </p:txBody>
      </p:sp>
    </p:spTree>
    <p:extLst>
      <p:ext uri="{BB962C8B-B14F-4D97-AF65-F5344CB8AC3E}">
        <p14:creationId xmlns:p14="http://schemas.microsoft.com/office/powerpoint/2010/main" val="2993932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4AA1-09D7-EC3A-301E-028F418A25B3}"/>
              </a:ext>
            </a:extLst>
          </p:cNvPr>
          <p:cNvSpPr>
            <a:spLocks noGrp="1"/>
          </p:cNvSpPr>
          <p:nvPr>
            <p:ph type="title"/>
          </p:nvPr>
        </p:nvSpPr>
        <p:spPr>
          <a:xfrm>
            <a:off x="660400" y="1500187"/>
            <a:ext cx="2836562" cy="915667"/>
          </a:xfrm>
        </p:spPr>
        <p:txBody>
          <a:bodyPr/>
          <a:lstStyle/>
          <a:p>
            <a:pPr lvl="0"/>
            <a:r>
              <a:rPr lang="en-US"/>
              <a:t>Agenda</a:t>
            </a:r>
          </a:p>
        </p:txBody>
      </p:sp>
      <p:sp>
        <p:nvSpPr>
          <p:cNvPr id="3" name="Content Placeholder 2">
            <a:extLst>
              <a:ext uri="{FF2B5EF4-FFF2-40B4-BE49-F238E27FC236}">
                <a16:creationId xmlns:a16="http://schemas.microsoft.com/office/drawing/2014/main" id="{94C7ACB6-4040-4F8E-DAE4-CD916FCA3B1A}"/>
              </a:ext>
            </a:extLst>
          </p:cNvPr>
          <p:cNvSpPr>
            <a:spLocks noGrp="1"/>
          </p:cNvSpPr>
          <p:nvPr>
            <p:ph sz="quarter" idx="1"/>
          </p:nvPr>
        </p:nvSpPr>
        <p:spPr>
          <a:xfrm>
            <a:off x="3745078" y="1500188"/>
            <a:ext cx="7773821" cy="4633912"/>
          </a:xfrm>
        </p:spPr>
        <p:txBody>
          <a:bodyPr/>
          <a:lstStyle/>
          <a:p>
            <a:pPr lvl="0"/>
            <a:r>
              <a:rPr lang="zh-CN" altLang="en-US" dirty="0"/>
              <a:t>修改前后的类图</a:t>
            </a:r>
            <a:endParaRPr lang="en-US" dirty="0"/>
          </a:p>
          <a:p>
            <a:pPr lvl="0"/>
            <a:r>
              <a:rPr lang="zh-CN" altLang="en-US" dirty="0"/>
              <a:t>在原有基础上的修改</a:t>
            </a:r>
            <a:endParaRPr lang="en-US" dirty="0"/>
          </a:p>
          <a:p>
            <a:pPr lvl="0"/>
            <a:r>
              <a:rPr lang="zh-CN" altLang="en-US" dirty="0"/>
              <a:t>一些新增的内容</a:t>
            </a:r>
            <a:endParaRPr lang="en-US" altLang="zh-CN" dirty="0"/>
          </a:p>
          <a:p>
            <a:pPr lvl="0"/>
            <a:r>
              <a:rPr lang="zh-CN" altLang="en-US" dirty="0"/>
              <a:t>主要运行界面</a:t>
            </a:r>
            <a:endParaRPr lang="en-US" dirty="0"/>
          </a:p>
        </p:txBody>
      </p:sp>
      <p:sp>
        <p:nvSpPr>
          <p:cNvPr id="4" name="Slide Number Placeholder 3">
            <a:extLst>
              <a:ext uri="{FF2B5EF4-FFF2-40B4-BE49-F238E27FC236}">
                <a16:creationId xmlns:a16="http://schemas.microsoft.com/office/drawing/2014/main" id="{9C40017B-9BDF-5D77-335B-2FE0EAEE92E6}"/>
              </a:ext>
            </a:extLst>
          </p:cNvPr>
          <p:cNvSpPr>
            <a:spLocks noGrp="1"/>
          </p:cNvSpPr>
          <p:nvPr>
            <p:ph type="sldNum" sz="quarter" idx="12"/>
          </p:nvPr>
        </p:nvSpPr>
        <p:spPr>
          <a:xfrm>
            <a:off x="7861300" y="6409690"/>
            <a:ext cx="3657600" cy="274320"/>
          </a:xfrm>
        </p:spPr>
        <p:txBody>
          <a:bodyPr/>
          <a:lstStyle/>
          <a:p>
            <a:fld id="{C8BB1146-E542-4D4E-B8E9-6919A11DDD48}" type="slidenum">
              <a:rPr lang="en-US" smtClean="0"/>
              <a:pPr/>
              <a:t>2</a:t>
            </a:fld>
            <a:endParaRPr lang="en-US" dirty="0"/>
          </a:p>
        </p:txBody>
      </p:sp>
    </p:spTree>
    <p:extLst>
      <p:ext uri="{BB962C8B-B14F-4D97-AF65-F5344CB8AC3E}">
        <p14:creationId xmlns:p14="http://schemas.microsoft.com/office/powerpoint/2010/main" val="3361711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4FCC-5933-6E59-5552-E329458E4D5C}"/>
              </a:ext>
            </a:extLst>
          </p:cNvPr>
          <p:cNvSpPr>
            <a:spLocks noGrp="1"/>
          </p:cNvSpPr>
          <p:nvPr>
            <p:ph type="title"/>
          </p:nvPr>
        </p:nvSpPr>
        <p:spPr>
          <a:xfrm>
            <a:off x="857170" y="1130300"/>
            <a:ext cx="7253368" cy="1371600"/>
          </a:xfrm>
        </p:spPr>
        <p:txBody>
          <a:bodyPr/>
          <a:lstStyle/>
          <a:p>
            <a:pPr lvl="0"/>
            <a:r>
              <a:rPr lang="zh-CN" altLang="en-US" dirty="0"/>
              <a:t>修改前后的类图</a:t>
            </a:r>
            <a:endParaRPr lang="en-US" dirty="0"/>
          </a:p>
        </p:txBody>
      </p:sp>
      <p:sp>
        <p:nvSpPr>
          <p:cNvPr id="4" name="Slide Number Placeholder 3">
            <a:extLst>
              <a:ext uri="{FF2B5EF4-FFF2-40B4-BE49-F238E27FC236}">
                <a16:creationId xmlns:a16="http://schemas.microsoft.com/office/drawing/2014/main" id="{FD1D7CBC-F975-8DE9-35EC-139DE50F2B9A}"/>
              </a:ext>
            </a:extLst>
          </p:cNvPr>
          <p:cNvSpPr>
            <a:spLocks noGrp="1"/>
          </p:cNvSpPr>
          <p:nvPr>
            <p:ph type="sldNum" sz="quarter" idx="12"/>
          </p:nvPr>
        </p:nvSpPr>
        <p:spPr>
          <a:xfrm>
            <a:off x="7861300" y="6409690"/>
            <a:ext cx="3657600" cy="27432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B1146-E542-4D4E-B8E9-6919A11DDD48}" type="slidenum">
              <a:rPr kumimoji="0" lang="en-US" sz="1000" b="0" i="0" u="none" strike="noStrike" kern="1200" cap="none" spc="0" normalizeH="0" baseline="0" noProof="0" smtClean="0">
                <a:ln>
                  <a:noFill/>
                </a:ln>
                <a:solidFill>
                  <a:srgbClr val="FFFFFF">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FFFFFF">
                  <a:tint val="75000"/>
                </a:srgbClr>
              </a:solidFill>
              <a:effectLst/>
              <a:uLnTx/>
              <a:uFillTx/>
              <a:latin typeface="Arial"/>
              <a:ea typeface="微软雅黑"/>
              <a:cs typeface="+mn-cs"/>
            </a:endParaRPr>
          </a:p>
        </p:txBody>
      </p:sp>
    </p:spTree>
    <p:extLst>
      <p:ext uri="{BB962C8B-B14F-4D97-AF65-F5344CB8AC3E}">
        <p14:creationId xmlns:p14="http://schemas.microsoft.com/office/powerpoint/2010/main" val="270813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6FDCBB89-79A9-190B-7CD8-65A9779547CD}"/>
              </a:ext>
            </a:extLst>
          </p:cNvPr>
          <p:cNvPicPr>
            <a:picLocks noGrp="1" noChangeAspect="1"/>
          </p:cNvPicPr>
          <p:nvPr>
            <p:ph idx="1"/>
          </p:nvPr>
        </p:nvPicPr>
        <p:blipFill>
          <a:blip r:embed="rId3"/>
          <a:stretch>
            <a:fillRect/>
          </a:stretch>
        </p:blipFill>
        <p:spPr>
          <a:xfrm>
            <a:off x="0" y="85026"/>
            <a:ext cx="5157229" cy="6772974"/>
          </a:xfrm>
          <a:prstGeom prst="rect">
            <a:avLst/>
          </a:prstGeom>
        </p:spPr>
      </p:pic>
    </p:spTree>
    <p:extLst>
      <p:ext uri="{BB962C8B-B14F-4D97-AF65-F5344CB8AC3E}">
        <p14:creationId xmlns:p14="http://schemas.microsoft.com/office/powerpoint/2010/main" val="3884975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4FCC-5933-6E59-5552-E329458E4D5C}"/>
              </a:ext>
            </a:extLst>
          </p:cNvPr>
          <p:cNvSpPr>
            <a:spLocks noGrp="1"/>
          </p:cNvSpPr>
          <p:nvPr>
            <p:ph type="title"/>
          </p:nvPr>
        </p:nvSpPr>
        <p:spPr>
          <a:xfrm>
            <a:off x="857170" y="1130300"/>
            <a:ext cx="7253368" cy="1371600"/>
          </a:xfrm>
        </p:spPr>
        <p:txBody>
          <a:bodyPr/>
          <a:lstStyle/>
          <a:p>
            <a:pPr lvl="0"/>
            <a:r>
              <a:rPr lang="zh-CN" altLang="en-US" dirty="0"/>
              <a:t>在原有基础上的修改</a:t>
            </a:r>
            <a:endParaRPr lang="en-US" dirty="0"/>
          </a:p>
        </p:txBody>
      </p:sp>
      <p:sp>
        <p:nvSpPr>
          <p:cNvPr id="4" name="Slide Number Placeholder 3">
            <a:extLst>
              <a:ext uri="{FF2B5EF4-FFF2-40B4-BE49-F238E27FC236}">
                <a16:creationId xmlns:a16="http://schemas.microsoft.com/office/drawing/2014/main" id="{FD1D7CBC-F975-8DE9-35EC-139DE50F2B9A}"/>
              </a:ext>
            </a:extLst>
          </p:cNvPr>
          <p:cNvSpPr>
            <a:spLocks noGrp="1"/>
          </p:cNvSpPr>
          <p:nvPr>
            <p:ph type="sldNum" sz="quarter" idx="12"/>
          </p:nvPr>
        </p:nvSpPr>
        <p:spPr>
          <a:xfrm>
            <a:off x="7861300" y="6409690"/>
            <a:ext cx="3657600" cy="27432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B1146-E542-4D4E-B8E9-6919A11DDD48}" type="slidenum">
              <a:rPr kumimoji="0" lang="en-US" sz="1000" b="0" i="0" u="none" strike="noStrike" kern="1200" cap="none" spc="0" normalizeH="0" baseline="0" noProof="0" smtClean="0">
                <a:ln>
                  <a:noFill/>
                </a:ln>
                <a:solidFill>
                  <a:srgbClr val="FFFFFF">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FFFFFF">
                  <a:tint val="75000"/>
                </a:srgbClr>
              </a:solidFill>
              <a:effectLst/>
              <a:uLnTx/>
              <a:uFillTx/>
              <a:latin typeface="Arial"/>
              <a:ea typeface="微软雅黑"/>
              <a:cs typeface="+mn-cs"/>
            </a:endParaRPr>
          </a:p>
        </p:txBody>
      </p:sp>
    </p:spTree>
    <p:extLst>
      <p:ext uri="{BB962C8B-B14F-4D97-AF65-F5344CB8AC3E}">
        <p14:creationId xmlns:p14="http://schemas.microsoft.com/office/powerpoint/2010/main" val="519502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DE6276-FDF9-6E89-132E-5D08E20EE67C}"/>
              </a:ext>
            </a:extLst>
          </p:cNvPr>
          <p:cNvSpPr>
            <a:spLocks noGrp="1"/>
          </p:cNvSpPr>
          <p:nvPr>
            <p:ph type="title"/>
          </p:nvPr>
        </p:nvSpPr>
        <p:spPr>
          <a:xfrm>
            <a:off x="653473" y="69561"/>
            <a:ext cx="10515600" cy="1325563"/>
          </a:xfrm>
        </p:spPr>
        <p:txBody>
          <a:bodyPr/>
          <a:lstStyle/>
          <a:p>
            <a:r>
              <a:rPr lang="zh-CN" altLang="en-US" dirty="0"/>
              <a:t>模板方法</a:t>
            </a:r>
          </a:p>
        </p:txBody>
      </p:sp>
      <p:sp>
        <p:nvSpPr>
          <p:cNvPr id="3" name="内容占位符 2">
            <a:extLst>
              <a:ext uri="{FF2B5EF4-FFF2-40B4-BE49-F238E27FC236}">
                <a16:creationId xmlns:a16="http://schemas.microsoft.com/office/drawing/2014/main" id="{E8D8274A-C9CB-EF2A-06B5-6CC6A4430165}"/>
              </a:ext>
            </a:extLst>
          </p:cNvPr>
          <p:cNvSpPr>
            <a:spLocks noGrp="1"/>
          </p:cNvSpPr>
          <p:nvPr>
            <p:ph idx="1"/>
          </p:nvPr>
        </p:nvSpPr>
        <p:spPr>
          <a:xfrm>
            <a:off x="277091" y="1253330"/>
            <a:ext cx="6298478" cy="5535109"/>
          </a:xfrm>
        </p:spPr>
        <p:txBody>
          <a:bodyPr>
            <a:normAutofit fontScale="55000" lnSpcReduction="20000"/>
          </a:bodyPr>
          <a:lstStyle/>
          <a:p>
            <a:pPr marL="0" indent="0">
              <a:buNone/>
            </a:pPr>
            <a:r>
              <a:rPr lang="zh-CN" altLang="en-US" sz="3300" b="1" dirty="0"/>
              <a:t>说明</a:t>
            </a:r>
            <a:r>
              <a:rPr lang="en-US" altLang="zh-CN" sz="3300" b="1" dirty="0"/>
              <a:t>:</a:t>
            </a:r>
            <a:r>
              <a:rPr lang="en-US" altLang="zh-CN" sz="3300" dirty="0" err="1"/>
              <a:t>GameSquare</a:t>
            </a:r>
            <a:r>
              <a:rPr lang="en-US" altLang="zh-CN" sz="3300" dirty="0"/>
              <a:t> </a:t>
            </a:r>
            <a:r>
              <a:rPr lang="zh-CN" altLang="en-US" sz="3300" dirty="0"/>
              <a:t>定义了 </a:t>
            </a:r>
            <a:r>
              <a:rPr lang="en-US" altLang="zh-CN" sz="3300" dirty="0"/>
              <a:t>clicked() </a:t>
            </a:r>
            <a:r>
              <a:rPr lang="zh-CN" altLang="en-US" sz="3300" dirty="0"/>
              <a:t>这个抽象方法，但具体的实现延迟到子类 </a:t>
            </a:r>
            <a:r>
              <a:rPr lang="en-US" altLang="zh-CN" sz="3300" dirty="0" err="1"/>
              <a:t>SmartSquare</a:t>
            </a:r>
            <a:r>
              <a:rPr lang="en-US" altLang="zh-CN" sz="3300" dirty="0"/>
              <a:t> </a:t>
            </a:r>
            <a:r>
              <a:rPr lang="zh-CN" altLang="en-US" sz="3300" dirty="0"/>
              <a:t>中。父类定义了操作的骨架，而子类负责实现具体的步骤。同样，</a:t>
            </a:r>
            <a:r>
              <a:rPr lang="en-US" altLang="zh-CN" sz="3300" dirty="0"/>
              <a:t>Bomb </a:t>
            </a:r>
            <a:r>
              <a:rPr lang="zh-CN" altLang="en-US" sz="3300" dirty="0"/>
              <a:t>类在其构造函数中需要一个布雷的行为，它定义了抽象的 </a:t>
            </a:r>
            <a:r>
              <a:rPr lang="en-US" altLang="zh-CN" sz="3300" dirty="0" err="1"/>
              <a:t>reproduceBomb</a:t>
            </a:r>
            <a:r>
              <a:rPr lang="en-US" altLang="zh-CN" sz="3300" dirty="0"/>
              <a:t>() </a:t>
            </a:r>
            <a:r>
              <a:rPr lang="zh-CN" altLang="en-US" sz="3300" dirty="0"/>
              <a:t>方法，由子类 </a:t>
            </a:r>
            <a:r>
              <a:rPr lang="en-US" altLang="zh-CN" sz="3300" dirty="0" err="1"/>
              <a:t>ProduceBombs</a:t>
            </a:r>
            <a:r>
              <a:rPr lang="en-US" altLang="zh-CN" sz="3300" dirty="0"/>
              <a:t> </a:t>
            </a:r>
            <a:r>
              <a:rPr lang="zh-CN" altLang="en-US" sz="3300" dirty="0"/>
              <a:t>提供具体实现。</a:t>
            </a:r>
            <a:endParaRPr lang="en-US" altLang="zh-CN" sz="3300" dirty="0"/>
          </a:p>
          <a:p>
            <a:pPr marL="0" indent="0">
              <a:buNone/>
            </a:pPr>
            <a:r>
              <a:rPr lang="zh-CN" altLang="en-US" sz="3300" b="1" dirty="0"/>
              <a:t>优点：</a:t>
            </a:r>
            <a:endParaRPr lang="en-US" altLang="zh-CN" sz="3300" b="1" dirty="0"/>
          </a:p>
          <a:p>
            <a:pPr marL="0" indent="0">
              <a:buNone/>
            </a:pPr>
            <a:r>
              <a:rPr lang="en-US" altLang="zh-CN" sz="3300" b="1" dirty="0"/>
              <a:t>1. </a:t>
            </a:r>
            <a:r>
              <a:rPr lang="zh-CN" altLang="en-US" sz="3300" b="1" dirty="0"/>
              <a:t>提高代码复用性和扩展性 </a:t>
            </a:r>
            <a:r>
              <a:rPr lang="en-US" altLang="zh-CN" sz="3300" b="1" dirty="0"/>
              <a:t>(</a:t>
            </a:r>
            <a:r>
              <a:rPr lang="zh-CN" altLang="en-US" sz="3300" b="1" dirty="0"/>
              <a:t>更符合开闭原则</a:t>
            </a:r>
            <a:r>
              <a:rPr lang="en-US" altLang="zh-CN" sz="3300" b="1" dirty="0"/>
              <a:t>)</a:t>
            </a:r>
            <a:endParaRPr lang="en-US" altLang="zh-CN" sz="3300" dirty="0"/>
          </a:p>
          <a:p>
            <a:pPr marL="0" indent="0">
              <a:buNone/>
            </a:pPr>
            <a:r>
              <a:rPr lang="zh-CN" altLang="en-US" sz="3300" dirty="0"/>
              <a:t>在原有代码中，处理点击的逻辑是写死的。如果你想增加一种新型方块（例如一个“探测方块”），必须修改 </a:t>
            </a:r>
            <a:r>
              <a:rPr lang="en-US" altLang="zh-CN" sz="3300" dirty="0" err="1"/>
              <a:t>GameBoard</a:t>
            </a:r>
            <a:r>
              <a:rPr lang="en-US" altLang="zh-CN" sz="3300" dirty="0"/>
              <a:t> </a:t>
            </a:r>
            <a:r>
              <a:rPr lang="zh-CN" altLang="en-US" sz="3300" dirty="0"/>
              <a:t>类，增加更多的 </a:t>
            </a:r>
            <a:r>
              <a:rPr lang="en-US" altLang="zh-CN" sz="3300" dirty="0"/>
              <a:t>if-else </a:t>
            </a:r>
            <a:r>
              <a:rPr lang="zh-CN" altLang="en-US" sz="3300" dirty="0"/>
              <a:t>判断。如果使用模板方法</a:t>
            </a:r>
            <a:r>
              <a:rPr lang="en-US" altLang="zh-CN" sz="3300" dirty="0"/>
              <a:t>: </a:t>
            </a:r>
            <a:r>
              <a:rPr lang="zh-CN" altLang="en-US" sz="3300" dirty="0"/>
              <a:t>使用 </a:t>
            </a:r>
            <a:r>
              <a:rPr lang="en-US" altLang="zh-CN" sz="3300" dirty="0" err="1"/>
              <a:t>GameSquare</a:t>
            </a:r>
            <a:r>
              <a:rPr lang="en-US" altLang="zh-CN" sz="3300" dirty="0"/>
              <a:t> </a:t>
            </a:r>
            <a:r>
              <a:rPr lang="zh-CN" altLang="en-US" sz="3300" dirty="0"/>
              <a:t>作为模板，可以轻松创建新的子类并为其编写独特的 </a:t>
            </a:r>
            <a:r>
              <a:rPr lang="en-US" altLang="zh-CN" sz="3300" dirty="0"/>
              <a:t>clicked() </a:t>
            </a:r>
            <a:r>
              <a:rPr lang="zh-CN" altLang="en-US" sz="3300" dirty="0"/>
              <a:t>行为。完全不需要修改 </a:t>
            </a:r>
            <a:r>
              <a:rPr lang="en-US" altLang="zh-CN" sz="3300" dirty="0" err="1"/>
              <a:t>GameBoard</a:t>
            </a:r>
            <a:r>
              <a:rPr lang="en-US" altLang="zh-CN" sz="3300" dirty="0"/>
              <a:t> </a:t>
            </a:r>
            <a:r>
              <a:rPr lang="zh-CN" altLang="en-US" sz="3300" dirty="0"/>
              <a:t>的任何代码，只需在创建棋盘时实例化新的子类即可。这使得系统更容易扩展新功能。</a:t>
            </a:r>
          </a:p>
          <a:p>
            <a:pPr marL="0" indent="0">
              <a:buNone/>
            </a:pPr>
            <a:r>
              <a:rPr lang="en-US" altLang="zh-CN" sz="3300" b="1" dirty="0"/>
              <a:t>2. </a:t>
            </a:r>
            <a:r>
              <a:rPr lang="zh-CN" altLang="en-US" sz="3300" b="1" dirty="0"/>
              <a:t>增强代码的结构清晰度和可维护性</a:t>
            </a:r>
            <a:endParaRPr lang="zh-CN" altLang="en-US" sz="3300" dirty="0"/>
          </a:p>
          <a:p>
            <a:pPr marL="0" indent="0">
              <a:buNone/>
            </a:pPr>
            <a:r>
              <a:rPr lang="zh-CN" altLang="en-US" sz="3300" dirty="0"/>
              <a:t>原有</a:t>
            </a:r>
            <a:r>
              <a:rPr lang="en-US" altLang="zh-CN" sz="3300" dirty="0" err="1"/>
              <a:t>GameBoard</a:t>
            </a:r>
            <a:r>
              <a:rPr lang="en-US" altLang="zh-CN" sz="3300" dirty="0"/>
              <a:t> </a:t>
            </a:r>
            <a:r>
              <a:rPr lang="zh-CN" altLang="en-US" sz="3300" dirty="0"/>
              <a:t>类过于庞大它不仅要负责</a:t>
            </a:r>
            <a:r>
              <a:rPr lang="en-US" altLang="zh-CN" sz="3300" dirty="0"/>
              <a:t>UI</a:t>
            </a:r>
            <a:r>
              <a:rPr lang="zh-CN" altLang="en-US" sz="3300" dirty="0"/>
              <a:t>布局，还要处理所有点击事件、游戏输赢判断、计时等，职责混乱。如果使用模板方法</a:t>
            </a:r>
            <a:r>
              <a:rPr lang="en-US" altLang="zh-CN" sz="3300" dirty="0"/>
              <a:t>: </a:t>
            </a:r>
            <a:r>
              <a:rPr lang="en-US" altLang="zh-CN" sz="3300" dirty="0" err="1"/>
              <a:t>SmartSquare</a:t>
            </a:r>
            <a:r>
              <a:rPr lang="en-US" altLang="zh-CN" sz="3300" dirty="0"/>
              <a:t> </a:t>
            </a:r>
            <a:r>
              <a:rPr lang="zh-CN" altLang="en-US" sz="3300" dirty="0"/>
              <a:t>将自身的行为（被点击后如何反应）封装在了自己内部。</a:t>
            </a:r>
            <a:r>
              <a:rPr lang="en-US" altLang="zh-CN" sz="3300" dirty="0" err="1"/>
              <a:t>GameBoard</a:t>
            </a:r>
            <a:r>
              <a:rPr lang="en-US" altLang="zh-CN" sz="3300" dirty="0"/>
              <a:t> </a:t>
            </a:r>
            <a:r>
              <a:rPr lang="zh-CN" altLang="en-US" sz="3300" dirty="0"/>
              <a:t>的职责变得更纯粹：管理方块和响应事件，但不关心事件的具体处理逻辑。这种职责分离使得代码结构更清晰，定位和修改特定逻辑也变得更容易。</a:t>
            </a:r>
          </a:p>
          <a:p>
            <a:pPr marL="0" indent="0">
              <a:buNone/>
            </a:pPr>
            <a:endParaRPr lang="zh-CN" altLang="en-US" dirty="0"/>
          </a:p>
        </p:txBody>
      </p:sp>
      <p:pic>
        <p:nvPicPr>
          <p:cNvPr id="4" name="图片 3">
            <a:extLst>
              <a:ext uri="{FF2B5EF4-FFF2-40B4-BE49-F238E27FC236}">
                <a16:creationId xmlns:a16="http://schemas.microsoft.com/office/drawing/2014/main" id="{27F248FB-671F-9429-C3F4-9A7C9A9B6C1E}"/>
              </a:ext>
            </a:extLst>
          </p:cNvPr>
          <p:cNvPicPr>
            <a:picLocks noChangeAspect="1"/>
          </p:cNvPicPr>
          <p:nvPr/>
        </p:nvPicPr>
        <p:blipFill>
          <a:blip r:embed="rId3"/>
          <a:stretch>
            <a:fillRect/>
          </a:stretch>
        </p:blipFill>
        <p:spPr>
          <a:xfrm>
            <a:off x="6575569" y="1672215"/>
            <a:ext cx="5229225" cy="4324350"/>
          </a:xfrm>
          <a:prstGeom prst="rect">
            <a:avLst/>
          </a:prstGeom>
        </p:spPr>
      </p:pic>
    </p:spTree>
    <p:extLst>
      <p:ext uri="{BB962C8B-B14F-4D97-AF65-F5344CB8AC3E}">
        <p14:creationId xmlns:p14="http://schemas.microsoft.com/office/powerpoint/2010/main" val="3435523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48EEA3B-1116-BC98-B48D-9A1AA2DB8EF0}"/>
              </a:ext>
            </a:extLst>
          </p:cNvPr>
          <p:cNvSpPr>
            <a:spLocks noGrp="1"/>
          </p:cNvSpPr>
          <p:nvPr>
            <p:ph idx="1"/>
          </p:nvPr>
        </p:nvSpPr>
        <p:spPr>
          <a:xfrm>
            <a:off x="138545" y="449791"/>
            <a:ext cx="2976418" cy="378691"/>
          </a:xfrm>
        </p:spPr>
        <p:txBody>
          <a:bodyPr>
            <a:normAutofit/>
          </a:bodyPr>
          <a:lstStyle/>
          <a:p>
            <a:pPr marL="0" indent="0">
              <a:buNone/>
            </a:pPr>
            <a:r>
              <a:rPr lang="zh-CN" altLang="en-US" sz="1800" i="0" dirty="0">
                <a:effectLst/>
                <a:latin typeface="Segoe WPC"/>
              </a:rPr>
              <a:t>在构造函数中调用父类构造：</a:t>
            </a:r>
            <a:endParaRPr lang="zh-CN" altLang="en-US" sz="1800" dirty="0"/>
          </a:p>
        </p:txBody>
      </p:sp>
      <p:pic>
        <p:nvPicPr>
          <p:cNvPr id="4" name="图片 3">
            <a:extLst>
              <a:ext uri="{FF2B5EF4-FFF2-40B4-BE49-F238E27FC236}">
                <a16:creationId xmlns:a16="http://schemas.microsoft.com/office/drawing/2014/main" id="{7A622D10-92EE-B876-929F-5538DE101F1C}"/>
              </a:ext>
            </a:extLst>
          </p:cNvPr>
          <p:cNvPicPr>
            <a:picLocks noChangeAspect="1"/>
          </p:cNvPicPr>
          <p:nvPr/>
        </p:nvPicPr>
        <p:blipFill>
          <a:blip r:embed="rId3"/>
          <a:stretch>
            <a:fillRect/>
          </a:stretch>
        </p:blipFill>
        <p:spPr>
          <a:xfrm>
            <a:off x="240145" y="3266882"/>
            <a:ext cx="4496427" cy="2762636"/>
          </a:xfrm>
          <a:prstGeom prst="rect">
            <a:avLst/>
          </a:prstGeom>
        </p:spPr>
      </p:pic>
      <p:sp>
        <p:nvSpPr>
          <p:cNvPr id="7" name="文本框 6">
            <a:extLst>
              <a:ext uri="{FF2B5EF4-FFF2-40B4-BE49-F238E27FC236}">
                <a16:creationId xmlns:a16="http://schemas.microsoft.com/office/drawing/2014/main" id="{D0DA716E-C011-96E6-6D08-8AA7DA1AB37F}"/>
              </a:ext>
            </a:extLst>
          </p:cNvPr>
          <p:cNvSpPr txBox="1"/>
          <p:nvPr/>
        </p:nvSpPr>
        <p:spPr>
          <a:xfrm>
            <a:off x="138545" y="828482"/>
            <a:ext cx="5163128" cy="1200329"/>
          </a:xfrm>
          <a:prstGeom prst="rect">
            <a:avLst/>
          </a:prstGeom>
          <a:noFill/>
        </p:spPr>
        <p:txBody>
          <a:bodyPr wrap="square">
            <a:spAutoFit/>
          </a:bodyPr>
          <a:lstStyle/>
          <a:p>
            <a:r>
              <a:rPr lang="zh-CN" altLang="en-US" dirty="0"/>
              <a:t>通用 </a:t>
            </a:r>
            <a:r>
              <a:rPr lang="en-US" altLang="zh-CN" dirty="0"/>
              <a:t>UI </a:t>
            </a:r>
            <a:r>
              <a:rPr lang="zh-CN" altLang="en-US" dirty="0"/>
              <a:t>初始化（按钮、位置、图片）在 </a:t>
            </a:r>
            <a:r>
              <a:rPr lang="en-US" altLang="zh-CN" dirty="0" err="1"/>
              <a:t>GameSquare</a:t>
            </a:r>
            <a:r>
              <a:rPr lang="zh-CN" altLang="en-US" dirty="0"/>
              <a:t>；</a:t>
            </a:r>
          </a:p>
          <a:p>
            <a:r>
              <a:rPr lang="zh-CN" altLang="en-US" dirty="0"/>
              <a:t>特有的逻辑（是否有雷、是否被标记、监听鼠标事件等）在 </a:t>
            </a:r>
            <a:r>
              <a:rPr lang="en-US" altLang="zh-CN" dirty="0" err="1"/>
              <a:t>SmartSquare</a:t>
            </a:r>
            <a:r>
              <a:rPr lang="zh-CN" altLang="en-US" dirty="0"/>
              <a:t>。</a:t>
            </a:r>
          </a:p>
        </p:txBody>
      </p:sp>
      <p:pic>
        <p:nvPicPr>
          <p:cNvPr id="8" name="图片 7">
            <a:extLst>
              <a:ext uri="{FF2B5EF4-FFF2-40B4-BE49-F238E27FC236}">
                <a16:creationId xmlns:a16="http://schemas.microsoft.com/office/drawing/2014/main" id="{8A788526-8175-F39D-3C2F-A1E224622DDC}"/>
              </a:ext>
            </a:extLst>
          </p:cNvPr>
          <p:cNvPicPr>
            <a:picLocks noChangeAspect="1"/>
          </p:cNvPicPr>
          <p:nvPr/>
        </p:nvPicPr>
        <p:blipFill>
          <a:blip r:embed="rId4"/>
          <a:stretch>
            <a:fillRect/>
          </a:stretch>
        </p:blipFill>
        <p:spPr>
          <a:xfrm>
            <a:off x="5175454" y="3106137"/>
            <a:ext cx="6776401" cy="3883869"/>
          </a:xfrm>
          <a:prstGeom prst="rect">
            <a:avLst/>
          </a:prstGeom>
        </p:spPr>
      </p:pic>
      <p:sp>
        <p:nvSpPr>
          <p:cNvPr id="11" name="文本框 10">
            <a:extLst>
              <a:ext uri="{FF2B5EF4-FFF2-40B4-BE49-F238E27FC236}">
                <a16:creationId xmlns:a16="http://schemas.microsoft.com/office/drawing/2014/main" id="{1D6CCF70-08EA-18FC-26A8-DBCA2D119A3E}"/>
              </a:ext>
            </a:extLst>
          </p:cNvPr>
          <p:cNvSpPr txBox="1"/>
          <p:nvPr/>
        </p:nvSpPr>
        <p:spPr>
          <a:xfrm>
            <a:off x="5175453" y="317522"/>
            <a:ext cx="6776401" cy="2585323"/>
          </a:xfrm>
          <a:prstGeom prst="rect">
            <a:avLst/>
          </a:prstGeom>
          <a:noFill/>
        </p:spPr>
        <p:txBody>
          <a:bodyPr wrap="square" rtlCol="0">
            <a:spAutoFit/>
          </a:bodyPr>
          <a:lstStyle/>
          <a:p>
            <a:r>
              <a:rPr lang="zh-CN" altLang="en-US" i="0" dirty="0">
                <a:effectLst/>
                <a:latin typeface="Segoe WPC"/>
              </a:rPr>
              <a:t>实现</a:t>
            </a:r>
            <a:r>
              <a:rPr lang="en-US" altLang="zh-CN" i="0" dirty="0">
                <a:effectLst/>
                <a:latin typeface="Segoe WPC"/>
              </a:rPr>
              <a:t>/</a:t>
            </a:r>
            <a:r>
              <a:rPr lang="zh-CN" altLang="en-US" i="0" dirty="0">
                <a:effectLst/>
                <a:latin typeface="Segoe WPC"/>
              </a:rPr>
              <a:t>扩展了“点击”后具体要做什么的逻辑：</a:t>
            </a:r>
            <a:endParaRPr lang="en-US" altLang="zh-CN" dirty="0"/>
          </a:p>
          <a:p>
            <a:r>
              <a:rPr lang="en-US" altLang="zh-CN" dirty="0"/>
              <a:t>clicked() </a:t>
            </a:r>
            <a:r>
              <a:rPr lang="zh-CN" altLang="en-US" dirty="0"/>
              <a:t>这个方法是“模板流程中的某一个可变步骤”的具体实现：</a:t>
            </a:r>
          </a:p>
          <a:p>
            <a:r>
              <a:rPr lang="zh-CN" altLang="en-US" dirty="0"/>
              <a:t>如何根据是否有雷来更新图片；</a:t>
            </a:r>
          </a:p>
          <a:p>
            <a:r>
              <a:rPr lang="zh-CN" altLang="en-US" dirty="0"/>
              <a:t>如何调用 </a:t>
            </a:r>
            <a:r>
              <a:rPr lang="en-US" altLang="zh-CN" dirty="0" err="1"/>
              <a:t>CheckSquare</a:t>
            </a:r>
            <a:r>
              <a:rPr lang="en-US" altLang="zh-CN" dirty="0"/>
              <a:t> </a:t>
            </a:r>
            <a:r>
              <a:rPr lang="zh-CN" altLang="en-US" dirty="0"/>
              <a:t>统计周围地雷；</a:t>
            </a:r>
          </a:p>
          <a:p>
            <a:r>
              <a:rPr lang="zh-CN" altLang="en-US" dirty="0"/>
              <a:t>如何判断胜负并弹出不同的窗口；</a:t>
            </a:r>
          </a:p>
          <a:p>
            <a:r>
              <a:rPr lang="zh-CN" altLang="en-US" dirty="0"/>
              <a:t>怎样使用 </a:t>
            </a:r>
            <a:r>
              <a:rPr lang="en-US" altLang="zh-CN" dirty="0" err="1"/>
              <a:t>TimeChecker</a:t>
            </a:r>
            <a:r>
              <a:rPr lang="en-US" altLang="zh-CN" dirty="0"/>
              <a:t> </a:t>
            </a:r>
            <a:r>
              <a:rPr lang="zh-CN" altLang="en-US" dirty="0"/>
              <a:t>显示用时。</a:t>
            </a:r>
          </a:p>
          <a:p>
            <a:r>
              <a:rPr lang="zh-CN" altLang="en-US" dirty="0"/>
              <a:t>换句话说，按钮被点击这个事件本身（入口）是由 </a:t>
            </a:r>
            <a:r>
              <a:rPr lang="en-US" altLang="zh-CN" dirty="0" err="1"/>
              <a:t>GameBoard</a:t>
            </a:r>
            <a:r>
              <a:rPr lang="en-US" altLang="zh-CN" dirty="0"/>
              <a:t> + ActionListener </a:t>
            </a:r>
            <a:r>
              <a:rPr lang="zh-CN" altLang="en-US" dirty="0"/>
              <a:t>提供的统一流程，而每一个格子被“点到”之后的行为则由 </a:t>
            </a:r>
            <a:r>
              <a:rPr lang="en-US" altLang="zh-CN" dirty="0" err="1"/>
              <a:t>SmartSquare.clicked</a:t>
            </a:r>
            <a:r>
              <a:rPr lang="en-US" altLang="zh-CN" dirty="0"/>
              <a:t>() </a:t>
            </a:r>
            <a:r>
              <a:rPr lang="zh-CN" altLang="en-US" dirty="0"/>
              <a:t>决定。</a:t>
            </a:r>
          </a:p>
        </p:txBody>
      </p:sp>
    </p:spTree>
    <p:extLst>
      <p:ext uri="{BB962C8B-B14F-4D97-AF65-F5344CB8AC3E}">
        <p14:creationId xmlns:p14="http://schemas.microsoft.com/office/powerpoint/2010/main" val="394159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30A3B4A-EB1F-46AE-0BF3-F40A62198601}"/>
              </a:ext>
            </a:extLst>
          </p:cNvPr>
          <p:cNvSpPr>
            <a:spLocks noGrp="1"/>
          </p:cNvSpPr>
          <p:nvPr>
            <p:ph idx="1"/>
          </p:nvPr>
        </p:nvSpPr>
        <p:spPr>
          <a:xfrm>
            <a:off x="264978" y="83976"/>
            <a:ext cx="7631545" cy="5674209"/>
          </a:xfrm>
        </p:spPr>
        <p:txBody>
          <a:bodyPr>
            <a:noAutofit/>
          </a:bodyPr>
          <a:lstStyle/>
          <a:p>
            <a:pPr marL="0" indent="0">
              <a:buNone/>
            </a:pPr>
            <a:r>
              <a:rPr lang="zh-CN" altLang="en-US" sz="4400" dirty="0"/>
              <a:t>观察者模式 </a:t>
            </a:r>
            <a:endParaRPr lang="en-US" altLang="zh-CN" sz="4400" dirty="0"/>
          </a:p>
          <a:p>
            <a:pPr marL="0" indent="0">
              <a:buNone/>
            </a:pPr>
            <a:r>
              <a:rPr lang="zh-CN" altLang="en-US" sz="1600" b="1" dirty="0"/>
              <a:t>说明</a:t>
            </a:r>
            <a:r>
              <a:rPr lang="en-US" altLang="zh-CN" sz="1600" b="1" dirty="0"/>
              <a:t>: </a:t>
            </a:r>
            <a:r>
              <a:rPr lang="en-US" altLang="zh-CN" sz="1600" dirty="0" err="1"/>
              <a:t>SmartSquare</a:t>
            </a:r>
            <a:r>
              <a:rPr lang="zh-CN" altLang="en-US" sz="1600" dirty="0"/>
              <a:t>（观察者）向事件源（如按钮本身）注册自己。当鼠标点击事件发生时，事件源会通知所有注册的观察者，并调用它们的回调方法（如 </a:t>
            </a:r>
            <a:r>
              <a:rPr lang="en-US" altLang="zh-CN" sz="1600" dirty="0" err="1"/>
              <a:t>mouseClicked</a:t>
            </a:r>
            <a:r>
              <a:rPr lang="en-US" altLang="zh-CN" sz="1600" dirty="0"/>
              <a:t>()</a:t>
            </a:r>
            <a:r>
              <a:rPr lang="zh-CN" altLang="en-US" sz="1600" dirty="0"/>
              <a:t>）。这实现了事件源和事件处理者之间的解耦。</a:t>
            </a:r>
            <a:endParaRPr lang="en-US" altLang="zh-CN" sz="1600" dirty="0"/>
          </a:p>
          <a:p>
            <a:pPr marL="0" indent="0">
              <a:buNone/>
            </a:pPr>
            <a:r>
              <a:rPr lang="zh-CN" altLang="en-US" sz="1600" b="1" dirty="0"/>
              <a:t>优点：</a:t>
            </a:r>
            <a:endParaRPr lang="en-US" altLang="zh-CN" sz="1600" b="1" dirty="0"/>
          </a:p>
          <a:p>
            <a:pPr marL="0" indent="0">
              <a:buNone/>
            </a:pPr>
            <a:r>
              <a:rPr lang="en-US" altLang="zh-CN" sz="1600" b="1" dirty="0"/>
              <a:t> 1. </a:t>
            </a:r>
            <a:r>
              <a:rPr lang="zh-CN" altLang="en-US" sz="1600" b="1" dirty="0"/>
              <a:t>主题与观察者的解耦 </a:t>
            </a:r>
            <a:endParaRPr lang="en-US" altLang="zh-CN" sz="1600" b="1" dirty="0"/>
          </a:p>
          <a:p>
            <a:pPr marL="0" indent="0">
              <a:buNone/>
            </a:pPr>
            <a:r>
              <a:rPr lang="en-US" altLang="zh-CN" sz="1600" dirty="0" err="1"/>
              <a:t>JButton</a:t>
            </a:r>
            <a:r>
              <a:rPr lang="en-US" altLang="zh-CN" sz="1600" dirty="0"/>
              <a:t> </a:t>
            </a:r>
            <a:r>
              <a:rPr lang="zh-CN" altLang="en-US" sz="1600" dirty="0"/>
              <a:t>和 </a:t>
            </a:r>
            <a:r>
              <a:rPr lang="en-US" altLang="zh-CN" sz="1600" dirty="0" err="1"/>
              <a:t>SmartSquare</a:t>
            </a:r>
            <a:r>
              <a:rPr lang="zh-CN" altLang="en-US" sz="1600" dirty="0"/>
              <a:t>之间没有编译时的硬编码依赖。它们通过一个抽象的接口 </a:t>
            </a:r>
            <a:r>
              <a:rPr lang="en-US" altLang="zh-CN" sz="1600" dirty="0"/>
              <a:t>(</a:t>
            </a:r>
            <a:r>
              <a:rPr lang="en-US" altLang="zh-CN" sz="1600" dirty="0" err="1"/>
              <a:t>MouseListener</a:t>
            </a:r>
            <a:r>
              <a:rPr lang="en-US" altLang="zh-CN" sz="1600" dirty="0"/>
              <a:t>) </a:t>
            </a:r>
            <a:r>
              <a:rPr lang="zh-CN" altLang="en-US" sz="1600" dirty="0"/>
              <a:t>进行通信。相较于原有代码，</a:t>
            </a:r>
            <a:r>
              <a:rPr lang="en-US" altLang="zh-CN" sz="1600" dirty="0" err="1"/>
              <a:t>GameBoard</a:t>
            </a:r>
            <a:r>
              <a:rPr lang="zh-CN" altLang="en-US" sz="1600" dirty="0"/>
              <a:t>与 </a:t>
            </a:r>
            <a:r>
              <a:rPr lang="en-US" altLang="zh-CN" sz="1600" dirty="0" err="1"/>
              <a:t>GameSquare</a:t>
            </a:r>
            <a:r>
              <a:rPr lang="zh-CN" altLang="en-US" sz="1600" dirty="0"/>
              <a:t>是紧密耦合的。</a:t>
            </a:r>
            <a:r>
              <a:rPr lang="en-US" altLang="zh-CN" sz="1600" dirty="0" err="1"/>
              <a:t>GameBoard</a:t>
            </a:r>
            <a:r>
              <a:rPr lang="zh-CN" altLang="en-US" sz="1600" dirty="0"/>
              <a:t>的 </a:t>
            </a:r>
            <a:r>
              <a:rPr lang="en-US" altLang="zh-CN" sz="1600" dirty="0" err="1"/>
              <a:t>handleSquareClick</a:t>
            </a:r>
            <a:r>
              <a:rPr lang="en-US" altLang="zh-CN" sz="1600" dirty="0"/>
              <a:t> </a:t>
            </a:r>
            <a:r>
              <a:rPr lang="zh-CN" altLang="en-US" sz="1600" dirty="0"/>
              <a:t>方法必须明确知道 </a:t>
            </a:r>
            <a:r>
              <a:rPr lang="en-US" altLang="zh-CN" sz="1600" dirty="0" err="1"/>
              <a:t>GameSquare</a:t>
            </a:r>
            <a:r>
              <a:rPr lang="zh-CN" altLang="en-US" sz="1600" dirty="0"/>
              <a:t>的内部状态才能工作。如果 </a:t>
            </a:r>
            <a:r>
              <a:rPr lang="en-US" altLang="zh-CN" sz="1600" dirty="0" err="1"/>
              <a:t>GameSquare</a:t>
            </a:r>
            <a:r>
              <a:rPr lang="zh-CN" altLang="en-US" sz="1600" dirty="0"/>
              <a:t>的实现改变，</a:t>
            </a:r>
            <a:r>
              <a:rPr lang="en-US" altLang="zh-CN" sz="1600" dirty="0" err="1"/>
              <a:t>GameBoard</a:t>
            </a:r>
            <a:r>
              <a:rPr lang="zh-CN" altLang="en-US" sz="1600" dirty="0"/>
              <a:t>也必须随之修改。而观察者模式中，</a:t>
            </a:r>
            <a:r>
              <a:rPr lang="en-US" altLang="zh-CN" sz="1600" dirty="0" err="1"/>
              <a:t>SmartSquare</a:t>
            </a:r>
            <a:r>
              <a:rPr lang="zh-CN" altLang="en-US" sz="1600" dirty="0"/>
              <a:t>的内部逻辑无论多复杂，</a:t>
            </a:r>
            <a:r>
              <a:rPr lang="en-US" altLang="zh-CN" sz="1600" dirty="0" err="1"/>
              <a:t>JButton</a:t>
            </a:r>
            <a:r>
              <a:rPr lang="zh-CN" altLang="en-US" sz="1600" dirty="0"/>
              <a:t>的通知机制都无需改变。</a:t>
            </a:r>
            <a:endParaRPr lang="en-US" altLang="zh-CN" sz="1600" dirty="0"/>
          </a:p>
          <a:p>
            <a:pPr marL="0" indent="0">
              <a:buNone/>
            </a:pPr>
            <a:r>
              <a:rPr lang="en-US" altLang="zh-CN" sz="1600" b="1" dirty="0"/>
              <a:t>2. </a:t>
            </a:r>
            <a:r>
              <a:rPr lang="zh-CN" altLang="en-US" sz="1600" b="1" dirty="0"/>
              <a:t>支持广播通信 </a:t>
            </a:r>
            <a:endParaRPr lang="en-US" altLang="zh-CN" sz="1600" b="1" dirty="0"/>
          </a:p>
          <a:p>
            <a:pPr marL="0" indent="0">
              <a:buNone/>
            </a:pPr>
            <a:r>
              <a:rPr lang="zh-CN" altLang="en-US" sz="1600" dirty="0"/>
              <a:t>可以在运行时动态地为一个主题添加或移除观察者，相较于原有代码中的</a:t>
            </a:r>
            <a:r>
              <a:rPr lang="en-US" altLang="zh-CN" sz="1600" dirty="0" err="1"/>
              <a:t>handleSquareClick</a:t>
            </a:r>
            <a:r>
              <a:rPr lang="zh-CN" altLang="en-US" sz="1600" dirty="0"/>
              <a:t>是一种一对一的命令式调用，缺乏灵活性。而在观察者模式下，我们可以轻易地扩展功能。</a:t>
            </a:r>
            <a:endParaRPr lang="en-US" altLang="zh-CN" sz="1600" dirty="0"/>
          </a:p>
          <a:p>
            <a:pPr marL="0" indent="0">
              <a:buNone/>
            </a:pPr>
            <a:r>
              <a:rPr lang="en-US" altLang="zh-CN" sz="1600" b="1" dirty="0"/>
              <a:t>3. </a:t>
            </a:r>
            <a:r>
              <a:rPr lang="zh-CN" altLang="en-US" sz="1600" b="1" dirty="0"/>
              <a:t>抽象了通知机制 </a:t>
            </a:r>
            <a:endParaRPr lang="en-US" altLang="zh-CN" sz="1600" b="1" dirty="0"/>
          </a:p>
          <a:p>
            <a:pPr marL="0" indent="0">
              <a:buNone/>
            </a:pPr>
            <a:r>
              <a:rPr lang="zh-CN" altLang="en-US" sz="1600" dirty="0"/>
              <a:t>事件触发和处理的逻辑被清晰地分开了。</a:t>
            </a:r>
            <a:r>
              <a:rPr lang="en-US" altLang="zh-CN" sz="1600" dirty="0" err="1"/>
              <a:t>SmartSquare</a:t>
            </a:r>
            <a:r>
              <a:rPr lang="zh-CN" altLang="en-US" sz="1600" dirty="0"/>
              <a:t>只需在构造时说一句“我要订阅点击事件” ，之后就只需在</a:t>
            </a:r>
            <a:r>
              <a:rPr lang="en-US" altLang="zh-CN" sz="1600" dirty="0" err="1"/>
              <a:t>mouseClicked</a:t>
            </a:r>
            <a:r>
              <a:rPr lang="zh-CN" altLang="en-US" sz="1600" dirty="0"/>
              <a:t>方法里等待通知即可，它不需要关心事件是如何被底层的</a:t>
            </a:r>
            <a:r>
              <a:rPr lang="en-US" altLang="zh-CN" sz="1600" dirty="0" err="1"/>
              <a:t>JButton</a:t>
            </a:r>
            <a:r>
              <a:rPr lang="zh-CN" altLang="en-US" sz="1600" dirty="0"/>
              <a:t>捕获和分发的。相较于初始版本中没有抽象的通知机制，</a:t>
            </a:r>
            <a:r>
              <a:rPr lang="en-US" altLang="zh-CN" sz="1600" dirty="0" err="1"/>
              <a:t>GameBoard</a:t>
            </a:r>
            <a:r>
              <a:rPr lang="zh-CN" altLang="en-US" sz="1600" dirty="0"/>
              <a:t>必须手动为每个按钮设置监听器。这种集中式的处理方式使得当逻辑变得复杂时，</a:t>
            </a:r>
            <a:r>
              <a:rPr lang="en-US" altLang="zh-CN" sz="1600" dirty="0" err="1"/>
              <a:t>handleSquareClick</a:t>
            </a:r>
            <a:r>
              <a:rPr lang="zh-CN" altLang="en-US" sz="1600" dirty="0"/>
              <a:t>方法会迅速膨胀，变得难以维护。观察者模式则将这种复杂的集中式逻辑分散到了各个独立的观察者内部，使得每个部分都更简单。</a:t>
            </a:r>
          </a:p>
        </p:txBody>
      </p:sp>
      <p:pic>
        <p:nvPicPr>
          <p:cNvPr id="4" name="图片 3">
            <a:extLst>
              <a:ext uri="{FF2B5EF4-FFF2-40B4-BE49-F238E27FC236}">
                <a16:creationId xmlns:a16="http://schemas.microsoft.com/office/drawing/2014/main" id="{A078B937-4094-E497-13A2-36D48A4FFAD4}"/>
              </a:ext>
            </a:extLst>
          </p:cNvPr>
          <p:cNvPicPr>
            <a:picLocks noChangeAspect="1"/>
          </p:cNvPicPr>
          <p:nvPr/>
        </p:nvPicPr>
        <p:blipFill>
          <a:blip r:embed="rId3"/>
          <a:stretch>
            <a:fillRect/>
          </a:stretch>
        </p:blipFill>
        <p:spPr>
          <a:xfrm>
            <a:off x="8199159" y="0"/>
            <a:ext cx="3589173" cy="6858000"/>
          </a:xfrm>
          <a:prstGeom prst="rect">
            <a:avLst/>
          </a:prstGeom>
        </p:spPr>
      </p:pic>
    </p:spTree>
    <p:extLst>
      <p:ext uri="{BB962C8B-B14F-4D97-AF65-F5344CB8AC3E}">
        <p14:creationId xmlns:p14="http://schemas.microsoft.com/office/powerpoint/2010/main" val="2336585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2DEC175-0E5A-C2DF-8326-24E8CAC038E8}"/>
              </a:ext>
            </a:extLst>
          </p:cNvPr>
          <p:cNvSpPr>
            <a:spLocks noGrp="1"/>
          </p:cNvSpPr>
          <p:nvPr>
            <p:ph idx="1"/>
          </p:nvPr>
        </p:nvSpPr>
        <p:spPr>
          <a:xfrm>
            <a:off x="293254" y="907552"/>
            <a:ext cx="5656673" cy="4994483"/>
          </a:xfrm>
        </p:spPr>
        <p:txBody>
          <a:bodyPr>
            <a:normAutofit/>
          </a:bodyPr>
          <a:lstStyle/>
          <a:p>
            <a:pPr marL="0" indent="0">
              <a:buNone/>
            </a:pPr>
            <a:r>
              <a:rPr lang="en-US" altLang="zh-CN" sz="1800" dirty="0" err="1"/>
              <a:t>GameBoard</a:t>
            </a:r>
            <a:r>
              <a:rPr lang="en-US" altLang="zh-CN" sz="1800" dirty="0"/>
              <a:t> </a:t>
            </a:r>
            <a:r>
              <a:rPr lang="zh-CN" altLang="en-US" sz="1800" dirty="0"/>
              <a:t>作为按钮点击的观察者</a:t>
            </a:r>
          </a:p>
          <a:p>
            <a:pPr marL="0" indent="0">
              <a:buNone/>
            </a:pPr>
            <a:r>
              <a:rPr lang="en-US" altLang="zh-CN" sz="1800" dirty="0"/>
              <a:t>GameBoard.java </a:t>
            </a:r>
            <a:r>
              <a:rPr lang="zh-CN" altLang="en-US" sz="1800" dirty="0"/>
              <a:t>中：</a:t>
            </a:r>
            <a:endParaRPr lang="en-US" altLang="zh-CN" sz="1800" dirty="0"/>
          </a:p>
          <a:p>
            <a:pPr marL="0" indent="0">
              <a:buNone/>
            </a:pPr>
            <a:r>
              <a:rPr lang="en-US" altLang="zh-CN" sz="1800" dirty="0"/>
              <a:t>    Subject</a:t>
            </a:r>
            <a:r>
              <a:rPr lang="zh-CN" altLang="en-US" sz="1800" dirty="0"/>
              <a:t>（被观察者）：每一个 </a:t>
            </a:r>
            <a:r>
              <a:rPr lang="en-US" altLang="zh-CN" sz="1800" dirty="0" err="1"/>
              <a:t>GameSquare</a:t>
            </a:r>
            <a:r>
              <a:rPr lang="en-US" altLang="zh-CN" sz="1800" dirty="0"/>
              <a:t> / </a:t>
            </a:r>
            <a:r>
              <a:rPr lang="en-US" altLang="zh-CN" sz="1800" dirty="0" err="1"/>
              <a:t>SmartSquare</a:t>
            </a:r>
            <a:r>
              <a:rPr lang="en-US" altLang="zh-CN" sz="1800" dirty="0"/>
              <a:t> </a:t>
            </a:r>
            <a:r>
              <a:rPr lang="zh-CN" altLang="en-US" sz="1800" dirty="0"/>
              <a:t>按钮。</a:t>
            </a:r>
          </a:p>
          <a:p>
            <a:pPr marL="0" indent="0">
              <a:buNone/>
            </a:pPr>
            <a:r>
              <a:rPr lang="en-US" altLang="zh-CN" sz="1800" dirty="0"/>
              <a:t>    Observer</a:t>
            </a:r>
            <a:r>
              <a:rPr lang="zh-CN" altLang="en-US" sz="1800" dirty="0"/>
              <a:t>（观察者）：</a:t>
            </a:r>
            <a:r>
              <a:rPr lang="en-US" altLang="zh-CN" sz="1800" dirty="0" err="1"/>
              <a:t>GameBoard</a:t>
            </a:r>
            <a:r>
              <a:rPr lang="zh-CN" altLang="en-US" sz="1800" dirty="0"/>
              <a:t>，实现了 </a:t>
            </a:r>
            <a:r>
              <a:rPr lang="en-US" altLang="zh-CN" sz="1800" dirty="0"/>
              <a:t>ActionListener</a:t>
            </a:r>
            <a:r>
              <a:rPr lang="zh-CN" altLang="en-US" sz="1800" dirty="0"/>
              <a:t>。</a:t>
            </a:r>
          </a:p>
          <a:p>
            <a:pPr marL="0" indent="0">
              <a:buNone/>
            </a:pPr>
            <a:r>
              <a:rPr lang="zh-CN" altLang="en-US" sz="1800" dirty="0"/>
              <a:t>    订阅关系：</a:t>
            </a:r>
            <a:r>
              <a:rPr lang="en-US" altLang="zh-CN" sz="1800" dirty="0"/>
              <a:t>board[x][y].</a:t>
            </a:r>
            <a:r>
              <a:rPr lang="en-US" altLang="zh-CN" sz="1800" dirty="0" err="1"/>
              <a:t>addActionListener</a:t>
            </a:r>
            <a:r>
              <a:rPr lang="en-US" altLang="zh-CN" sz="1800" dirty="0"/>
              <a:t>(this);</a:t>
            </a:r>
          </a:p>
          <a:p>
            <a:pPr marL="0" indent="0">
              <a:buNone/>
            </a:pPr>
            <a:r>
              <a:rPr lang="zh-CN" altLang="en-US" sz="1800" dirty="0"/>
              <a:t>    表示“棋盘”订阅了每一个格子的点击事件。</a:t>
            </a:r>
          </a:p>
          <a:p>
            <a:pPr marL="0" indent="0">
              <a:buNone/>
            </a:pPr>
            <a:r>
              <a:rPr lang="zh-CN" altLang="en-US" sz="1800" dirty="0"/>
              <a:t>    通知机制：当按钮被点击时，</a:t>
            </a:r>
            <a:r>
              <a:rPr lang="en-US" altLang="zh-CN" sz="1800" dirty="0"/>
              <a:t>Swing </a:t>
            </a:r>
            <a:r>
              <a:rPr lang="zh-CN" altLang="en-US" sz="1800" dirty="0"/>
              <a:t>框架调用 </a:t>
            </a:r>
            <a:r>
              <a:rPr lang="en-US" altLang="zh-CN" sz="1800" dirty="0" err="1"/>
              <a:t>actionPerformed</a:t>
            </a:r>
            <a:r>
              <a:rPr lang="en-US" altLang="zh-CN" sz="1800" dirty="0"/>
              <a:t>(</a:t>
            </a:r>
            <a:r>
              <a:rPr lang="en-US" altLang="zh-CN" sz="1800" dirty="0" err="1"/>
              <a:t>ActionEvent</a:t>
            </a:r>
            <a:r>
              <a:rPr lang="en-US" altLang="zh-CN" sz="1800" dirty="0"/>
              <a:t> e)</a:t>
            </a:r>
            <a:r>
              <a:rPr lang="zh-CN" altLang="en-US" sz="1800" dirty="0"/>
              <a:t>，</a:t>
            </a:r>
            <a:r>
              <a:rPr lang="en-US" altLang="zh-CN" sz="1800" dirty="0" err="1"/>
              <a:t>GameBoard</a:t>
            </a:r>
            <a:r>
              <a:rPr lang="en-US" altLang="zh-CN" sz="1800" dirty="0"/>
              <a:t> </a:t>
            </a:r>
            <a:r>
              <a:rPr lang="zh-CN" altLang="en-US" sz="1800" dirty="0"/>
              <a:t>就会被回调，这就是典型的“被观察者状态变化 → 通知观察者”的过程。</a:t>
            </a:r>
          </a:p>
        </p:txBody>
      </p:sp>
      <p:pic>
        <p:nvPicPr>
          <p:cNvPr id="4" name="图片 3">
            <a:extLst>
              <a:ext uri="{FF2B5EF4-FFF2-40B4-BE49-F238E27FC236}">
                <a16:creationId xmlns:a16="http://schemas.microsoft.com/office/drawing/2014/main" id="{111B27FE-441F-78CC-F97B-08AE451CFA51}"/>
              </a:ext>
            </a:extLst>
          </p:cNvPr>
          <p:cNvPicPr>
            <a:picLocks noChangeAspect="1"/>
          </p:cNvPicPr>
          <p:nvPr/>
        </p:nvPicPr>
        <p:blipFill>
          <a:blip r:embed="rId3"/>
          <a:stretch>
            <a:fillRect/>
          </a:stretch>
        </p:blipFill>
        <p:spPr>
          <a:xfrm>
            <a:off x="6242073" y="713588"/>
            <a:ext cx="5377273" cy="5569007"/>
          </a:xfrm>
          <a:prstGeom prst="rect">
            <a:avLst/>
          </a:prstGeom>
        </p:spPr>
      </p:pic>
    </p:spTree>
    <p:extLst>
      <p:ext uri="{BB962C8B-B14F-4D97-AF65-F5344CB8AC3E}">
        <p14:creationId xmlns:p14="http://schemas.microsoft.com/office/powerpoint/2010/main" val="2862629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CD205-E6E0-488C-A936-11F173C2C873}"/>
              </a:ext>
            </a:extLst>
          </p:cNvPr>
          <p:cNvSpPr>
            <a:spLocks noGrp="1"/>
          </p:cNvSpPr>
          <p:nvPr>
            <p:ph type="title"/>
          </p:nvPr>
        </p:nvSpPr>
        <p:spPr>
          <a:xfrm>
            <a:off x="210127" y="-56737"/>
            <a:ext cx="10515600" cy="1325563"/>
          </a:xfrm>
        </p:spPr>
        <p:txBody>
          <a:bodyPr/>
          <a:lstStyle/>
          <a:p>
            <a:r>
              <a:rPr lang="zh-CN" altLang="en-US" dirty="0"/>
              <a:t>单例模式</a:t>
            </a:r>
          </a:p>
        </p:txBody>
      </p:sp>
      <p:sp>
        <p:nvSpPr>
          <p:cNvPr id="17" name="文本框 16">
            <a:extLst>
              <a:ext uri="{FF2B5EF4-FFF2-40B4-BE49-F238E27FC236}">
                <a16:creationId xmlns:a16="http://schemas.microsoft.com/office/drawing/2014/main" id="{B5187071-7A19-CBA0-C02E-7A65DAD555B2}"/>
              </a:ext>
            </a:extLst>
          </p:cNvPr>
          <p:cNvSpPr txBox="1"/>
          <p:nvPr/>
        </p:nvSpPr>
        <p:spPr>
          <a:xfrm>
            <a:off x="348672" y="839532"/>
            <a:ext cx="11770629" cy="646331"/>
          </a:xfrm>
          <a:prstGeom prst="rect">
            <a:avLst/>
          </a:prstGeom>
          <a:noFill/>
        </p:spPr>
        <p:txBody>
          <a:bodyPr wrap="square" rtlCol="0">
            <a:spAutoFit/>
          </a:bodyPr>
          <a:lstStyle/>
          <a:p>
            <a:r>
              <a:rPr lang="zh-CN" altLang="en-US" dirty="0"/>
              <a:t>使用单例模式实现了炸弹生成管理器 </a:t>
            </a:r>
            <a:r>
              <a:rPr lang="en-US" altLang="zh-CN" dirty="0" err="1"/>
              <a:t>ProduceBombs</a:t>
            </a:r>
            <a:r>
              <a:rPr lang="en-US" altLang="zh-CN" dirty="0"/>
              <a:t> </a:t>
            </a:r>
            <a:r>
              <a:rPr lang="zh-CN" altLang="en-US" dirty="0"/>
              <a:t>和时间工具类 </a:t>
            </a:r>
            <a:r>
              <a:rPr lang="en-US" altLang="zh-CN" dirty="0" err="1"/>
              <a:t>TimeChecker</a:t>
            </a:r>
            <a:r>
              <a:rPr lang="zh-CN" altLang="en-US" dirty="0"/>
              <a:t>：它们都通过：私有构造函数 </a:t>
            </a:r>
            <a:r>
              <a:rPr lang="en-US" altLang="zh-CN" dirty="0"/>
              <a:t>+ </a:t>
            </a:r>
            <a:r>
              <a:rPr lang="zh-CN" altLang="en-US" dirty="0"/>
              <a:t>静态唯一实例字段 </a:t>
            </a:r>
            <a:r>
              <a:rPr lang="en-US" altLang="zh-CN" dirty="0"/>
              <a:t>+ </a:t>
            </a:r>
            <a:r>
              <a:rPr lang="en-US" altLang="zh-CN" dirty="0" err="1"/>
              <a:t>getInstance</a:t>
            </a:r>
            <a:r>
              <a:rPr lang="en-US" altLang="zh-CN" dirty="0"/>
              <a:t>() </a:t>
            </a:r>
            <a:r>
              <a:rPr lang="zh-CN" altLang="en-US" dirty="0"/>
              <a:t>静态方法保证在整个程序运行期间只有一个实例</a:t>
            </a:r>
          </a:p>
        </p:txBody>
      </p:sp>
      <p:sp>
        <p:nvSpPr>
          <p:cNvPr id="20" name="内容占位符 2">
            <a:extLst>
              <a:ext uri="{FF2B5EF4-FFF2-40B4-BE49-F238E27FC236}">
                <a16:creationId xmlns:a16="http://schemas.microsoft.com/office/drawing/2014/main" id="{0A0A1209-EAA2-2C5A-5F81-06C859A315DD}"/>
              </a:ext>
            </a:extLst>
          </p:cNvPr>
          <p:cNvSpPr>
            <a:spLocks noGrp="1"/>
          </p:cNvSpPr>
          <p:nvPr>
            <p:ph idx="1"/>
          </p:nvPr>
        </p:nvSpPr>
        <p:spPr>
          <a:xfrm>
            <a:off x="453735" y="1451049"/>
            <a:ext cx="11560502" cy="4334164"/>
          </a:xfrm>
        </p:spPr>
        <p:txBody>
          <a:bodyPr>
            <a:normAutofit/>
          </a:bodyPr>
          <a:lstStyle/>
          <a:p>
            <a:pPr marL="0" indent="0">
              <a:buNone/>
            </a:pPr>
            <a:r>
              <a:rPr lang="zh-CN" altLang="en-US" sz="1600" b="1" dirty="0"/>
              <a:t>优点：</a:t>
            </a:r>
            <a:endParaRPr lang="en-US" altLang="zh-CN" sz="1600" b="1" dirty="0"/>
          </a:p>
          <a:p>
            <a:pPr marL="0" indent="0">
              <a:buNone/>
            </a:pPr>
            <a:r>
              <a:rPr lang="en-US" altLang="zh-CN" sz="1600" b="1" dirty="0"/>
              <a:t>1. </a:t>
            </a:r>
            <a:r>
              <a:rPr lang="zh-CN" altLang="en-US" sz="1600" b="1" dirty="0"/>
              <a:t>控制全局唯一性，避免重复资源开销：  </a:t>
            </a:r>
            <a:endParaRPr lang="en-US" altLang="zh-CN" sz="1600" b="1" dirty="0"/>
          </a:p>
          <a:p>
            <a:pPr marL="0" indent="0">
              <a:buNone/>
            </a:pPr>
            <a:r>
              <a:rPr lang="zh-CN" altLang="en-US" sz="1600" dirty="0"/>
              <a:t>以前你每创建一次布雷对象，就会 </a:t>
            </a:r>
            <a:r>
              <a:rPr lang="en-US" altLang="zh-CN" sz="1600" dirty="0"/>
              <a:t>new </a:t>
            </a:r>
            <a:r>
              <a:rPr lang="en-US" altLang="zh-CN" sz="1600" dirty="0" err="1"/>
              <a:t>ProduceBombs</a:t>
            </a:r>
            <a:r>
              <a:rPr lang="zh-CN" altLang="en-US" sz="1600" dirty="0"/>
              <a:t>和</a:t>
            </a:r>
            <a:r>
              <a:rPr lang="en-US" altLang="zh-CN" sz="1600" dirty="0"/>
              <a:t>Random</a:t>
            </a:r>
            <a:r>
              <a:rPr lang="zh-CN" altLang="en-US" sz="1600" dirty="0"/>
              <a:t>，同时还通过构造函数、递归等方式布雷。现在使用单例，全局只保留一份</a:t>
            </a:r>
            <a:r>
              <a:rPr lang="en-US" altLang="zh-CN" sz="1600" dirty="0" err="1"/>
              <a:t>ProduceBombs</a:t>
            </a:r>
            <a:r>
              <a:rPr lang="zh-CN" altLang="en-US" sz="1600" dirty="0"/>
              <a:t>和一份</a:t>
            </a:r>
            <a:r>
              <a:rPr lang="en-US" altLang="zh-CN" sz="1600" dirty="0"/>
              <a:t>Random</a:t>
            </a:r>
            <a:r>
              <a:rPr lang="zh-CN" altLang="en-US" sz="1600" dirty="0"/>
              <a:t>。如果以后多次开始</a:t>
            </a:r>
            <a:r>
              <a:rPr lang="en-US" altLang="zh-CN" sz="1600" dirty="0"/>
              <a:t>/</a:t>
            </a:r>
            <a:r>
              <a:rPr lang="zh-CN" altLang="en-US" sz="1600" dirty="0"/>
              <a:t>重开游戏，仍然使用同一个炸弹管理器实例。 减少重复对象创建，去除了递归，使用循环计数的方式布雷，栈空间使用更安全，也更易优化。</a:t>
            </a:r>
            <a:r>
              <a:rPr lang="en-US" altLang="zh-CN" sz="1600" dirty="0" err="1"/>
              <a:t>TimeChecker</a:t>
            </a:r>
            <a:r>
              <a:rPr lang="zh-CN" altLang="en-US" sz="1600" dirty="0"/>
              <a:t>：目前主要是工具逻辑，性能收益不明显。但如果将来加上缓存、格式策略（比如不同语言显示规则），放在单例里可以避免到处 </a:t>
            </a:r>
            <a:r>
              <a:rPr lang="en-US" altLang="zh-CN" sz="1600" dirty="0"/>
              <a:t>new </a:t>
            </a:r>
            <a:r>
              <a:rPr lang="zh-CN" altLang="en-US" sz="1600" dirty="0"/>
              <a:t>格式化器。</a:t>
            </a:r>
            <a:endParaRPr lang="en-US" altLang="zh-CN" sz="1600" dirty="0"/>
          </a:p>
          <a:p>
            <a:pPr marL="0" indent="0">
              <a:buNone/>
            </a:pPr>
            <a:r>
              <a:rPr lang="en-US" altLang="zh-CN" sz="1600" b="1" dirty="0"/>
              <a:t>2. </a:t>
            </a:r>
            <a:r>
              <a:rPr lang="zh-CN" altLang="en-US" sz="1600" b="1" dirty="0"/>
              <a:t>统一访问入口，方便重构与维护</a:t>
            </a:r>
            <a:endParaRPr lang="en-US" altLang="zh-CN" sz="1600" b="1" dirty="0"/>
          </a:p>
          <a:p>
            <a:pPr marL="0" indent="0">
              <a:buNone/>
            </a:pPr>
            <a:r>
              <a:rPr lang="zh-CN" altLang="en-US" sz="1600" dirty="0"/>
              <a:t>所有布雷逻辑统一通过一个入口完成，如果布雷算法、概率策略、难度调节等发生变化，只改单例内部，不改调用点。所有时间显示的格式规则集中在单例中，有利于修改时间显示形式</a:t>
            </a:r>
            <a:endParaRPr lang="en-US" altLang="zh-CN" sz="1600" dirty="0"/>
          </a:p>
          <a:p>
            <a:pPr marL="0" indent="0">
              <a:buNone/>
            </a:pPr>
            <a:r>
              <a:rPr lang="en-US" altLang="zh-CN" sz="1600" b="1" dirty="0"/>
              <a:t>3. </a:t>
            </a:r>
            <a:r>
              <a:rPr lang="zh-CN" altLang="en-US" sz="1600" b="1" dirty="0"/>
              <a:t>更适合作为“全局服务”的角色</a:t>
            </a:r>
            <a:endParaRPr lang="en-US" altLang="zh-CN" sz="1600" b="1" dirty="0"/>
          </a:p>
          <a:p>
            <a:pPr marL="0" indent="0">
              <a:buNone/>
            </a:pPr>
            <a:r>
              <a:rPr lang="en-US" altLang="zh-CN" sz="1600" dirty="0" err="1"/>
              <a:t>ProduceBombs</a:t>
            </a:r>
            <a:r>
              <a:rPr lang="zh-CN" altLang="en-US" sz="1600" dirty="0"/>
              <a:t>、</a:t>
            </a:r>
            <a:r>
              <a:rPr lang="en-US" altLang="zh-CN" sz="1600" dirty="0" err="1"/>
              <a:t>TimeChecker</a:t>
            </a:r>
            <a:r>
              <a:rPr lang="zh-CN" altLang="en-US" sz="1600" dirty="0"/>
              <a:t>都扮演“全局唯一服务”的角色：</a:t>
            </a:r>
            <a:r>
              <a:rPr lang="en-US" altLang="zh-CN" sz="1600" dirty="0" err="1"/>
              <a:t>ProduceBombs</a:t>
            </a:r>
            <a:r>
              <a:rPr lang="zh-CN" altLang="en-US" sz="1600" dirty="0"/>
              <a:t>是整个游戏的炸弹生成服务。</a:t>
            </a:r>
            <a:r>
              <a:rPr lang="en-US" altLang="zh-CN" sz="1600" dirty="0" err="1"/>
              <a:t>TimeChecker</a:t>
            </a:r>
            <a:r>
              <a:rPr lang="zh-CN" altLang="en-US" sz="1600" dirty="0"/>
              <a:t>是统一的时间格式服务。相对于“到处 </a:t>
            </a:r>
            <a:r>
              <a:rPr lang="en-US" altLang="zh-CN" sz="1600" dirty="0"/>
              <a:t>new </a:t>
            </a:r>
            <a:r>
              <a:rPr lang="zh-CN" altLang="en-US" sz="1600" dirty="0"/>
              <a:t>对象”的方式，单例能表达“这个东西在逻辑上应当是全局唯一”的意图，更符合设计意图</a:t>
            </a:r>
          </a:p>
        </p:txBody>
      </p:sp>
      <p:pic>
        <p:nvPicPr>
          <p:cNvPr id="21" name="图片 20">
            <a:extLst>
              <a:ext uri="{FF2B5EF4-FFF2-40B4-BE49-F238E27FC236}">
                <a16:creationId xmlns:a16="http://schemas.microsoft.com/office/drawing/2014/main" id="{783AFB18-D230-086A-E431-1A5454442B7F}"/>
              </a:ext>
            </a:extLst>
          </p:cNvPr>
          <p:cNvPicPr>
            <a:picLocks noChangeAspect="1"/>
          </p:cNvPicPr>
          <p:nvPr/>
        </p:nvPicPr>
        <p:blipFill>
          <a:blip r:embed="rId3"/>
          <a:stretch>
            <a:fillRect/>
          </a:stretch>
        </p:blipFill>
        <p:spPr>
          <a:xfrm>
            <a:off x="177763" y="4870813"/>
            <a:ext cx="11753850" cy="1828800"/>
          </a:xfrm>
          <a:prstGeom prst="rect">
            <a:avLst/>
          </a:prstGeom>
        </p:spPr>
      </p:pic>
    </p:spTree>
    <p:extLst>
      <p:ext uri="{BB962C8B-B14F-4D97-AF65-F5344CB8AC3E}">
        <p14:creationId xmlns:p14="http://schemas.microsoft.com/office/powerpoint/2010/main" val="2612465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62919F70-25DC-4B7E-3C2B-E1582EBCA55F}"/>
              </a:ext>
            </a:extLst>
          </p:cNvPr>
          <p:cNvSpPr txBox="1"/>
          <p:nvPr/>
        </p:nvSpPr>
        <p:spPr>
          <a:xfrm>
            <a:off x="356716" y="674178"/>
            <a:ext cx="4202545" cy="3416320"/>
          </a:xfrm>
          <a:prstGeom prst="rect">
            <a:avLst/>
          </a:prstGeom>
          <a:noFill/>
        </p:spPr>
        <p:txBody>
          <a:bodyPr wrap="square" rtlCol="0">
            <a:spAutoFit/>
          </a:bodyPr>
          <a:lstStyle/>
          <a:p>
            <a:r>
              <a:rPr lang="zh-CN" altLang="en-US" dirty="0"/>
              <a:t>单例体现点：</a:t>
            </a:r>
          </a:p>
          <a:p>
            <a:r>
              <a:rPr lang="en-US" altLang="zh-CN" dirty="0"/>
              <a:t>1. </a:t>
            </a:r>
            <a:r>
              <a:rPr lang="zh-CN" altLang="en-US" dirty="0"/>
              <a:t>唯一实例字段：</a:t>
            </a:r>
            <a:r>
              <a:rPr lang="en-US" altLang="zh-CN" dirty="0"/>
              <a:t>private static final </a:t>
            </a:r>
            <a:r>
              <a:rPr lang="en-US" altLang="zh-CN" dirty="0" err="1"/>
              <a:t>ProduceBombs</a:t>
            </a:r>
            <a:r>
              <a:rPr lang="en-US" altLang="zh-CN" dirty="0"/>
              <a:t> INSTANCE = new </a:t>
            </a:r>
            <a:r>
              <a:rPr lang="en-US" altLang="zh-CN" dirty="0" err="1"/>
              <a:t>ProduceBombs</a:t>
            </a:r>
            <a:r>
              <a:rPr lang="en-US" altLang="zh-CN" dirty="0"/>
              <a:t>();</a:t>
            </a:r>
          </a:p>
          <a:p>
            <a:r>
              <a:rPr lang="en-US" altLang="zh-CN" dirty="0"/>
              <a:t>2. </a:t>
            </a:r>
            <a:r>
              <a:rPr lang="zh-CN" altLang="en-US" dirty="0"/>
              <a:t>私有构造函数：</a:t>
            </a:r>
            <a:r>
              <a:rPr lang="en-US" altLang="zh-CN" dirty="0"/>
              <a:t>private </a:t>
            </a:r>
            <a:r>
              <a:rPr lang="en-US" altLang="zh-CN" dirty="0" err="1"/>
              <a:t>ProduceBombs</a:t>
            </a:r>
            <a:r>
              <a:rPr lang="en-US" altLang="zh-CN" dirty="0"/>
              <a:t>() {} —— </a:t>
            </a:r>
            <a:r>
              <a:rPr lang="zh-CN" altLang="en-US" dirty="0"/>
              <a:t>外部不能 </a:t>
            </a:r>
            <a:r>
              <a:rPr lang="en-US" altLang="zh-CN" dirty="0"/>
              <a:t>new </a:t>
            </a:r>
            <a:r>
              <a:rPr lang="en-US" altLang="zh-CN" dirty="0" err="1"/>
              <a:t>ProduceBombs</a:t>
            </a:r>
            <a:r>
              <a:rPr lang="en-US" altLang="zh-CN" dirty="0"/>
              <a:t>()</a:t>
            </a:r>
            <a:r>
              <a:rPr lang="zh-CN" altLang="en-US" dirty="0"/>
              <a:t>。</a:t>
            </a:r>
          </a:p>
          <a:p>
            <a:r>
              <a:rPr lang="en-US" altLang="zh-CN" dirty="0"/>
              <a:t>3. </a:t>
            </a:r>
            <a:r>
              <a:rPr lang="zh-CN" altLang="en-US" dirty="0"/>
              <a:t>全局访问点：</a:t>
            </a:r>
            <a:r>
              <a:rPr lang="en-US" altLang="zh-CN" dirty="0"/>
              <a:t>public static </a:t>
            </a:r>
            <a:r>
              <a:rPr lang="en-US" altLang="zh-CN" dirty="0" err="1"/>
              <a:t>ProduceBombs</a:t>
            </a:r>
            <a:r>
              <a:rPr lang="en-US" altLang="zh-CN" dirty="0"/>
              <a:t> </a:t>
            </a:r>
            <a:r>
              <a:rPr lang="en-US" altLang="zh-CN" dirty="0" err="1"/>
              <a:t>getInstance</a:t>
            </a:r>
            <a:r>
              <a:rPr lang="en-US" altLang="zh-CN" dirty="0"/>
              <a:t>()</a:t>
            </a:r>
            <a:r>
              <a:rPr lang="zh-CN" altLang="en-US" dirty="0"/>
              <a:t>。</a:t>
            </a:r>
          </a:p>
          <a:p>
            <a:r>
              <a:rPr lang="en-US" altLang="zh-CN" dirty="0"/>
              <a:t>4. </a:t>
            </a:r>
            <a:r>
              <a:rPr lang="zh-CN" altLang="en-US" dirty="0"/>
              <a:t>客户端调用方式：</a:t>
            </a:r>
            <a:r>
              <a:rPr lang="en-US" altLang="zh-CN" dirty="0" err="1"/>
              <a:t>ProduceBombs.getInstance</a:t>
            </a:r>
            <a:r>
              <a:rPr lang="en-US" altLang="zh-CN" dirty="0"/>
              <a:t>().</a:t>
            </a:r>
            <a:r>
              <a:rPr lang="en-US" altLang="zh-CN" dirty="0" err="1"/>
              <a:t>placeBombs</a:t>
            </a:r>
            <a:r>
              <a:rPr lang="en-US" altLang="zh-CN" dirty="0"/>
              <a:t>()</a:t>
            </a:r>
            <a:r>
              <a:rPr lang="zh-CN" altLang="en-US" dirty="0"/>
              <a:t>，而不是 </a:t>
            </a:r>
            <a:r>
              <a:rPr lang="en-US" altLang="zh-CN" dirty="0"/>
              <a:t>new </a:t>
            </a:r>
            <a:r>
              <a:rPr lang="en-US" altLang="zh-CN" dirty="0" err="1"/>
              <a:t>ProduceBombs</a:t>
            </a:r>
            <a:r>
              <a:rPr lang="en-US" altLang="zh-CN" dirty="0"/>
              <a:t>()</a:t>
            </a:r>
            <a:r>
              <a:rPr lang="zh-CN" altLang="en-US" dirty="0"/>
              <a:t>。</a:t>
            </a:r>
          </a:p>
        </p:txBody>
      </p:sp>
      <p:sp>
        <p:nvSpPr>
          <p:cNvPr id="7" name="文本框 6">
            <a:extLst>
              <a:ext uri="{FF2B5EF4-FFF2-40B4-BE49-F238E27FC236}">
                <a16:creationId xmlns:a16="http://schemas.microsoft.com/office/drawing/2014/main" id="{75E31D3B-3033-22E9-69E4-8DEE838CD540}"/>
              </a:ext>
            </a:extLst>
          </p:cNvPr>
          <p:cNvSpPr txBox="1"/>
          <p:nvPr/>
        </p:nvSpPr>
        <p:spPr>
          <a:xfrm>
            <a:off x="5730047" y="785910"/>
            <a:ext cx="5514109" cy="646331"/>
          </a:xfrm>
          <a:prstGeom prst="rect">
            <a:avLst/>
          </a:prstGeom>
          <a:noFill/>
        </p:spPr>
        <p:txBody>
          <a:bodyPr wrap="square" rtlCol="0">
            <a:spAutoFit/>
          </a:bodyPr>
          <a:lstStyle/>
          <a:p>
            <a:r>
              <a:rPr lang="zh-CN" altLang="en-US" i="0" dirty="0">
                <a:effectLst/>
                <a:latin typeface="Segoe WPC"/>
              </a:rPr>
              <a:t>炸弹生成管理类 </a:t>
            </a:r>
            <a:r>
              <a:rPr lang="en-US" altLang="zh-CN" dirty="0" err="1">
                <a:latin typeface="Segoe WPC"/>
              </a:rPr>
              <a:t>ProduceBombs</a:t>
            </a:r>
            <a:endParaRPr lang="en-US" altLang="zh-CN" i="0" dirty="0">
              <a:effectLst/>
              <a:latin typeface="Segoe WPC"/>
            </a:endParaRPr>
          </a:p>
          <a:p>
            <a:endParaRPr lang="zh-CN" altLang="en-US" b="1" dirty="0"/>
          </a:p>
        </p:txBody>
      </p:sp>
      <p:pic>
        <p:nvPicPr>
          <p:cNvPr id="12" name="内容占位符 11">
            <a:extLst>
              <a:ext uri="{FF2B5EF4-FFF2-40B4-BE49-F238E27FC236}">
                <a16:creationId xmlns:a16="http://schemas.microsoft.com/office/drawing/2014/main" id="{BFE4D2EE-63A2-2C09-F790-4AEF60E610BE}"/>
              </a:ext>
            </a:extLst>
          </p:cNvPr>
          <p:cNvPicPr>
            <a:picLocks noGrp="1" noChangeAspect="1"/>
          </p:cNvPicPr>
          <p:nvPr>
            <p:ph idx="1"/>
          </p:nvPr>
        </p:nvPicPr>
        <p:blipFill>
          <a:blip r:embed="rId3"/>
          <a:stretch>
            <a:fillRect/>
          </a:stretch>
        </p:blipFill>
        <p:spPr>
          <a:xfrm>
            <a:off x="5138917" y="1367585"/>
            <a:ext cx="5953956" cy="3753374"/>
          </a:xfrm>
          <a:prstGeom prst="rect">
            <a:avLst/>
          </a:prstGeom>
        </p:spPr>
      </p:pic>
      <p:sp>
        <p:nvSpPr>
          <p:cNvPr id="8" name="文本框 7">
            <a:extLst>
              <a:ext uri="{FF2B5EF4-FFF2-40B4-BE49-F238E27FC236}">
                <a16:creationId xmlns:a16="http://schemas.microsoft.com/office/drawing/2014/main" id="{93844FF1-E756-B7FF-CE36-078DE6871A67}"/>
              </a:ext>
            </a:extLst>
          </p:cNvPr>
          <p:cNvSpPr txBox="1"/>
          <p:nvPr/>
        </p:nvSpPr>
        <p:spPr>
          <a:xfrm>
            <a:off x="5975927" y="5305749"/>
            <a:ext cx="4613565" cy="369332"/>
          </a:xfrm>
          <a:prstGeom prst="rect">
            <a:avLst/>
          </a:prstGeom>
          <a:noFill/>
        </p:spPr>
        <p:txBody>
          <a:bodyPr wrap="square" rtlCol="0">
            <a:spAutoFit/>
          </a:bodyPr>
          <a:lstStyle/>
          <a:p>
            <a:r>
              <a:rPr lang="zh-CN" altLang="en-US" b="0" i="0" dirty="0">
                <a:effectLst/>
                <a:latin typeface="Segoe WPC"/>
              </a:rPr>
              <a:t>在 </a:t>
            </a:r>
            <a:r>
              <a:rPr lang="en-US" altLang="zh-CN" dirty="0">
                <a:latin typeface="Segoe WPC"/>
              </a:rPr>
              <a:t>Menu</a:t>
            </a:r>
            <a:r>
              <a:rPr lang="zh-CN" altLang="en-US" b="0" i="0" dirty="0">
                <a:effectLst/>
                <a:latin typeface="Segoe WPC"/>
              </a:rPr>
              <a:t>中的使用（体现“全局唯一入口”）</a:t>
            </a:r>
            <a:endParaRPr lang="zh-CN" altLang="en-US" dirty="0"/>
          </a:p>
        </p:txBody>
      </p:sp>
      <p:pic>
        <p:nvPicPr>
          <p:cNvPr id="13" name="图片 12">
            <a:extLst>
              <a:ext uri="{FF2B5EF4-FFF2-40B4-BE49-F238E27FC236}">
                <a16:creationId xmlns:a16="http://schemas.microsoft.com/office/drawing/2014/main" id="{A2E2ED90-1D0E-B175-5097-333B47A3F109}"/>
              </a:ext>
            </a:extLst>
          </p:cNvPr>
          <p:cNvPicPr>
            <a:picLocks noChangeAspect="1"/>
          </p:cNvPicPr>
          <p:nvPr/>
        </p:nvPicPr>
        <p:blipFill>
          <a:blip r:embed="rId4"/>
          <a:stretch>
            <a:fillRect/>
          </a:stretch>
        </p:blipFill>
        <p:spPr>
          <a:xfrm>
            <a:off x="5057622" y="5985144"/>
            <a:ext cx="6858957" cy="676369"/>
          </a:xfrm>
          <a:prstGeom prst="rect">
            <a:avLst/>
          </a:prstGeom>
        </p:spPr>
      </p:pic>
    </p:spTree>
    <p:extLst>
      <p:ext uri="{BB962C8B-B14F-4D97-AF65-F5344CB8AC3E}">
        <p14:creationId xmlns:p14="http://schemas.microsoft.com/office/powerpoint/2010/main" val="285270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4FCC-5933-6E59-5552-E329458E4D5C}"/>
              </a:ext>
            </a:extLst>
          </p:cNvPr>
          <p:cNvSpPr>
            <a:spLocks noGrp="1"/>
          </p:cNvSpPr>
          <p:nvPr>
            <p:ph type="title"/>
          </p:nvPr>
        </p:nvSpPr>
        <p:spPr>
          <a:xfrm>
            <a:off x="857170" y="1130300"/>
            <a:ext cx="7253368" cy="1371600"/>
          </a:xfrm>
        </p:spPr>
        <p:txBody>
          <a:bodyPr/>
          <a:lstStyle/>
          <a:p>
            <a:pPr lvl="0"/>
            <a:r>
              <a:rPr lang="zh-CN" altLang="en-US" dirty="0"/>
              <a:t>一些新增的内容</a:t>
            </a:r>
            <a:endParaRPr lang="en-US" dirty="0"/>
          </a:p>
        </p:txBody>
      </p:sp>
      <p:sp>
        <p:nvSpPr>
          <p:cNvPr id="4" name="Slide Number Placeholder 3">
            <a:extLst>
              <a:ext uri="{FF2B5EF4-FFF2-40B4-BE49-F238E27FC236}">
                <a16:creationId xmlns:a16="http://schemas.microsoft.com/office/drawing/2014/main" id="{FD1D7CBC-F975-8DE9-35EC-139DE50F2B9A}"/>
              </a:ext>
            </a:extLst>
          </p:cNvPr>
          <p:cNvSpPr>
            <a:spLocks noGrp="1"/>
          </p:cNvSpPr>
          <p:nvPr>
            <p:ph type="sldNum" sz="quarter" idx="12"/>
          </p:nvPr>
        </p:nvSpPr>
        <p:spPr>
          <a:xfrm>
            <a:off x="7861300" y="6409690"/>
            <a:ext cx="3657600" cy="27432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B1146-E542-4D4E-B8E9-6919A11DDD48}" type="slidenum">
              <a:rPr kumimoji="0" lang="en-US" sz="1000" b="0" i="0" u="none" strike="noStrike" kern="1200" cap="none" spc="0" normalizeH="0" baseline="0" noProof="0" smtClean="0">
                <a:ln>
                  <a:noFill/>
                </a:ln>
                <a:solidFill>
                  <a:srgbClr val="FFFFFF">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FFFFFF">
                  <a:tint val="75000"/>
                </a:srgbClr>
              </a:solidFill>
              <a:effectLst/>
              <a:uLnTx/>
              <a:uFillTx/>
              <a:latin typeface="Arial"/>
              <a:ea typeface="微软雅黑"/>
              <a:cs typeface="+mn-cs"/>
            </a:endParaRPr>
          </a:p>
        </p:txBody>
      </p:sp>
    </p:spTree>
    <p:extLst>
      <p:ext uri="{BB962C8B-B14F-4D97-AF65-F5344CB8AC3E}">
        <p14:creationId xmlns:p14="http://schemas.microsoft.com/office/powerpoint/2010/main" val="4131217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6A25A8-4573-C01E-A498-D53BCF27D2C7}"/>
              </a:ext>
            </a:extLst>
          </p:cNvPr>
          <p:cNvSpPr>
            <a:spLocks noGrp="1"/>
          </p:cNvSpPr>
          <p:nvPr>
            <p:ph type="title"/>
          </p:nvPr>
        </p:nvSpPr>
        <p:spPr/>
        <p:txBody>
          <a:bodyPr>
            <a:normAutofit/>
          </a:bodyPr>
          <a:lstStyle/>
          <a:p>
            <a:r>
              <a:rPr lang="zh-CN" altLang="en-US" sz="4400" b="0" dirty="0">
                <a:latin typeface="等线 Light" panose="02010600030101010101" pitchFamily="2" charset="-122"/>
                <a:ea typeface="等线 Light" panose="02010600030101010101" pitchFamily="2" charset="-122"/>
              </a:rPr>
              <a:t>音乐播放功能</a:t>
            </a:r>
          </a:p>
        </p:txBody>
      </p:sp>
      <p:sp>
        <p:nvSpPr>
          <p:cNvPr id="6" name="文本框 5">
            <a:extLst>
              <a:ext uri="{FF2B5EF4-FFF2-40B4-BE49-F238E27FC236}">
                <a16:creationId xmlns:a16="http://schemas.microsoft.com/office/drawing/2014/main" id="{55DD6961-0CC2-0AB7-26E0-9E31F43D6121}"/>
              </a:ext>
            </a:extLst>
          </p:cNvPr>
          <p:cNvSpPr txBox="1"/>
          <p:nvPr/>
        </p:nvSpPr>
        <p:spPr>
          <a:xfrm>
            <a:off x="660400" y="1179373"/>
            <a:ext cx="3403496" cy="369332"/>
          </a:xfrm>
          <a:prstGeom prst="rect">
            <a:avLst/>
          </a:prstGeom>
          <a:noFill/>
        </p:spPr>
        <p:txBody>
          <a:bodyPr wrap="none" rtlCol="0">
            <a:spAutoFit/>
          </a:bodyPr>
          <a:lstStyle/>
          <a:p>
            <a:r>
              <a:rPr lang="zh-CN" altLang="en-US" dirty="0"/>
              <a:t>读取</a:t>
            </a:r>
            <a:r>
              <a:rPr lang="en-US" altLang="zh-CN" dirty="0" err="1"/>
              <a:t>bgm</a:t>
            </a:r>
            <a:r>
              <a:rPr lang="zh-CN" altLang="en-US" dirty="0"/>
              <a:t>文件夹中的音乐并播放</a:t>
            </a:r>
          </a:p>
        </p:txBody>
      </p:sp>
      <p:graphicFrame>
        <p:nvGraphicFramePr>
          <p:cNvPr id="7" name="表格 6">
            <a:extLst>
              <a:ext uri="{FF2B5EF4-FFF2-40B4-BE49-F238E27FC236}">
                <a16:creationId xmlns:a16="http://schemas.microsoft.com/office/drawing/2014/main" id="{857DF8CB-07D4-1413-8435-E7E0E87860B5}"/>
              </a:ext>
            </a:extLst>
          </p:cNvPr>
          <p:cNvGraphicFramePr>
            <a:graphicFrameLocks noGrp="1"/>
          </p:cNvGraphicFramePr>
          <p:nvPr>
            <p:extLst>
              <p:ext uri="{D42A27DB-BD31-4B8C-83A1-F6EECF244321}">
                <p14:modId xmlns:p14="http://schemas.microsoft.com/office/powerpoint/2010/main" val="3630529557"/>
              </p:ext>
            </p:extLst>
          </p:nvPr>
        </p:nvGraphicFramePr>
        <p:xfrm>
          <a:off x="261257" y="1699379"/>
          <a:ext cx="7828383" cy="4141410"/>
        </p:xfrm>
        <a:graphic>
          <a:graphicData uri="http://schemas.openxmlformats.org/drawingml/2006/table">
            <a:tbl>
              <a:tblPr firstRow="1" bandRow="1">
                <a:tableStyleId>{5C22544A-7EE6-4342-B048-85BDC9FD1C3A}</a:tableStyleId>
              </a:tblPr>
              <a:tblGrid>
                <a:gridCol w="1383828">
                  <a:extLst>
                    <a:ext uri="{9D8B030D-6E8A-4147-A177-3AD203B41FA5}">
                      <a16:colId xmlns:a16="http://schemas.microsoft.com/office/drawing/2014/main" val="1506973227"/>
                    </a:ext>
                  </a:extLst>
                </a:gridCol>
                <a:gridCol w="1398025">
                  <a:extLst>
                    <a:ext uri="{9D8B030D-6E8A-4147-A177-3AD203B41FA5}">
                      <a16:colId xmlns:a16="http://schemas.microsoft.com/office/drawing/2014/main" val="213374773"/>
                    </a:ext>
                  </a:extLst>
                </a:gridCol>
                <a:gridCol w="2523265">
                  <a:extLst>
                    <a:ext uri="{9D8B030D-6E8A-4147-A177-3AD203B41FA5}">
                      <a16:colId xmlns:a16="http://schemas.microsoft.com/office/drawing/2014/main" val="2321845813"/>
                    </a:ext>
                  </a:extLst>
                </a:gridCol>
                <a:gridCol w="2523265">
                  <a:extLst>
                    <a:ext uri="{9D8B030D-6E8A-4147-A177-3AD203B41FA5}">
                      <a16:colId xmlns:a16="http://schemas.microsoft.com/office/drawing/2014/main" val="3335136129"/>
                    </a:ext>
                  </a:extLst>
                </a:gridCol>
              </a:tblGrid>
              <a:tr h="372050">
                <a:tc>
                  <a:txBody>
                    <a:bodyPr/>
                    <a:lstStyle/>
                    <a:p>
                      <a:r>
                        <a:rPr lang="zh-CN" altLang="en-US" dirty="0">
                          <a:effectLst/>
                        </a:rPr>
                        <a:t>功能</a:t>
                      </a:r>
                    </a:p>
                  </a:txBody>
                  <a:tcPr marL="57150" marR="57150" marT="38100" marB="38100" anchor="ctr"/>
                </a:tc>
                <a:tc>
                  <a:txBody>
                    <a:bodyPr/>
                    <a:lstStyle/>
                    <a:p>
                      <a:r>
                        <a:rPr lang="zh-CN" altLang="en-US" dirty="0">
                          <a:effectLst/>
                        </a:rPr>
                        <a:t>位置</a:t>
                      </a:r>
                    </a:p>
                  </a:txBody>
                  <a:tcPr marL="57150" marR="57150" marT="38100" marB="38100" anchor="ctr"/>
                </a:tc>
                <a:tc>
                  <a:txBody>
                    <a:bodyPr/>
                    <a:lstStyle/>
                    <a:p>
                      <a:r>
                        <a:rPr lang="zh-CN" altLang="en-US" dirty="0">
                          <a:effectLst/>
                        </a:rPr>
                        <a:t>说明</a:t>
                      </a:r>
                    </a:p>
                  </a:txBody>
                  <a:tcPr marL="57150" marR="57150" marT="38100" marB="38100" anchor="ctr"/>
                </a:tc>
                <a:tc>
                  <a:txBody>
                    <a:bodyPr/>
                    <a:lstStyle/>
                    <a:p>
                      <a:r>
                        <a:rPr lang="zh-CN" altLang="en-US" dirty="0">
                          <a:effectLst/>
                        </a:rPr>
                        <a:t>功能</a:t>
                      </a:r>
                    </a:p>
                  </a:txBody>
                  <a:tcPr marL="57150" marR="57150" marT="38100" marB="38100" anchor="ctr"/>
                </a:tc>
                <a:extLst>
                  <a:ext uri="{0D108BD9-81ED-4DB2-BD59-A6C34878D82A}">
                    <a16:rowId xmlns:a16="http://schemas.microsoft.com/office/drawing/2014/main" val="517175920"/>
                  </a:ext>
                </a:extLst>
              </a:tr>
              <a:tr h="370840">
                <a:tc>
                  <a:txBody>
                    <a:bodyPr/>
                    <a:lstStyle/>
                    <a:p>
                      <a:r>
                        <a:rPr lang="zh-CN" altLang="en-US" dirty="0">
                          <a:effectLst/>
                        </a:rPr>
                        <a:t>音乐开关</a:t>
                      </a:r>
                    </a:p>
                  </a:txBody>
                  <a:tcPr marL="57150" marR="57150" marT="38100" marB="38100" anchor="ctr"/>
                </a:tc>
                <a:tc>
                  <a:txBody>
                    <a:bodyPr/>
                    <a:lstStyle/>
                    <a:p>
                      <a:r>
                        <a:rPr lang="en-US" dirty="0">
                          <a:effectLst/>
                        </a:rPr>
                        <a:t>Menu</a:t>
                      </a:r>
                    </a:p>
                  </a:txBody>
                  <a:tcPr marL="57150" marR="57150" marT="38100" marB="38100" anchor="ctr"/>
                </a:tc>
                <a:tc>
                  <a:txBody>
                    <a:bodyPr/>
                    <a:lstStyle/>
                    <a:p>
                      <a:r>
                        <a:rPr lang="zh-CN" altLang="en-US" dirty="0">
                          <a:effectLst/>
                        </a:rPr>
                        <a:t>复选框控制是否播放，默认关闭</a:t>
                      </a:r>
                    </a:p>
                  </a:txBody>
                  <a:tcPr marL="57150" marR="57150" marT="38100" marB="38100" anchor="ctr"/>
                </a:tc>
                <a:tc rowSpan="3">
                  <a:txBody>
                    <a:bodyPr/>
                    <a:lstStyle/>
                    <a:p>
                      <a:r>
                        <a:rPr lang="zh-CN" altLang="en-US" sz="1800" b="0" i="0" kern="1200" dirty="0">
                          <a:solidFill>
                            <a:schemeClr val="dk1"/>
                          </a:solidFill>
                          <a:effectLst/>
                          <a:latin typeface="+mn-lt"/>
                          <a:ea typeface="+mn-ea"/>
                          <a:cs typeface="+mn-cs"/>
                        </a:rPr>
                        <a:t>添加音乐设置界面（复选框、音乐选择、音量滑块</a:t>
                      </a:r>
                      <a:endParaRPr lang="zh-CN" altLang="en-US" dirty="0">
                        <a:effectLst/>
                      </a:endParaRPr>
                    </a:p>
                  </a:txBody>
                  <a:tcPr marL="57150" marR="57150" marT="38100" marB="38100" anchor="ctr"/>
                </a:tc>
                <a:extLst>
                  <a:ext uri="{0D108BD9-81ED-4DB2-BD59-A6C34878D82A}">
                    <a16:rowId xmlns:a16="http://schemas.microsoft.com/office/drawing/2014/main" val="1731933694"/>
                  </a:ext>
                </a:extLst>
              </a:tr>
              <a:tr h="370840">
                <a:tc>
                  <a:txBody>
                    <a:bodyPr/>
                    <a:lstStyle/>
                    <a:p>
                      <a:r>
                        <a:rPr lang="zh-CN" altLang="en-US">
                          <a:effectLst/>
                        </a:rPr>
                        <a:t>音乐选择</a:t>
                      </a:r>
                    </a:p>
                  </a:txBody>
                  <a:tcPr marL="57150" marR="57150" marT="38100" marB="38100" anchor="ctr"/>
                </a:tc>
                <a:tc>
                  <a:txBody>
                    <a:bodyPr/>
                    <a:lstStyle/>
                    <a:p>
                      <a:r>
                        <a:rPr lang="en-US">
                          <a:effectLst/>
                        </a:rPr>
                        <a:t>Menu</a:t>
                      </a:r>
                    </a:p>
                  </a:txBody>
                  <a:tcPr marL="57150" marR="57150" marT="38100" marB="38100" anchor="ctr"/>
                </a:tc>
                <a:tc>
                  <a:txBody>
                    <a:bodyPr/>
                    <a:lstStyle/>
                    <a:p>
                      <a:r>
                        <a:rPr lang="zh-CN" altLang="en-US" dirty="0">
                          <a:effectLst/>
                        </a:rPr>
                        <a:t>下拉框选择具体曲目或随机播放</a:t>
                      </a:r>
                    </a:p>
                  </a:txBody>
                  <a:tcPr marL="57150" marR="57150" marT="38100" marB="38100" anchor="ctr"/>
                </a:tc>
                <a:tc vMerge="1">
                  <a:txBody>
                    <a:bodyPr/>
                    <a:lstStyle/>
                    <a:p>
                      <a:endParaRPr lang="zh-CN" altLang="en-US" dirty="0">
                        <a:effectLst/>
                      </a:endParaRPr>
                    </a:p>
                  </a:txBody>
                  <a:tcPr marL="57150" marR="57150" marT="38100" marB="38100" anchor="ctr"/>
                </a:tc>
                <a:extLst>
                  <a:ext uri="{0D108BD9-81ED-4DB2-BD59-A6C34878D82A}">
                    <a16:rowId xmlns:a16="http://schemas.microsoft.com/office/drawing/2014/main" val="1705314790"/>
                  </a:ext>
                </a:extLst>
              </a:tr>
              <a:tr h="370840">
                <a:tc>
                  <a:txBody>
                    <a:bodyPr/>
                    <a:lstStyle/>
                    <a:p>
                      <a:r>
                        <a:rPr lang="zh-CN" altLang="en-US">
                          <a:effectLst/>
                        </a:rPr>
                        <a:t>音量控制</a:t>
                      </a:r>
                    </a:p>
                  </a:txBody>
                  <a:tcPr marL="57150" marR="57150" marT="38100" marB="38100" anchor="ctr"/>
                </a:tc>
                <a:tc>
                  <a:txBody>
                    <a:bodyPr/>
                    <a:lstStyle/>
                    <a:p>
                      <a:r>
                        <a:rPr lang="en-US">
                          <a:effectLst/>
                        </a:rPr>
                        <a:t>Menu</a:t>
                      </a:r>
                    </a:p>
                  </a:txBody>
                  <a:tcPr marL="57150" marR="57150" marT="38100" marB="38100" anchor="ctr"/>
                </a:tc>
                <a:tc>
                  <a:txBody>
                    <a:bodyPr/>
                    <a:lstStyle/>
                    <a:p>
                      <a:r>
                        <a:rPr lang="zh-CN" altLang="en-US" dirty="0">
                          <a:effectLst/>
                        </a:rPr>
                        <a:t>滑块调节音量 </a:t>
                      </a:r>
                      <a:r>
                        <a:rPr lang="en-US" altLang="zh-CN" dirty="0">
                          <a:effectLst/>
                        </a:rPr>
                        <a:t>(0-100%)</a:t>
                      </a:r>
                    </a:p>
                  </a:txBody>
                  <a:tcPr marL="57150" marR="57150" marT="38100" marB="38100" anchor="ctr"/>
                </a:tc>
                <a:tc vMerge="1">
                  <a:txBody>
                    <a:bodyPr/>
                    <a:lstStyle/>
                    <a:p>
                      <a:endParaRPr lang="en-US" altLang="zh-CN" dirty="0">
                        <a:effectLst/>
                      </a:endParaRPr>
                    </a:p>
                  </a:txBody>
                  <a:tcPr marL="57150" marR="57150" marT="38100" marB="38100" anchor="ctr"/>
                </a:tc>
                <a:extLst>
                  <a:ext uri="{0D108BD9-81ED-4DB2-BD59-A6C34878D82A}">
                    <a16:rowId xmlns:a16="http://schemas.microsoft.com/office/drawing/2014/main" val="3585465677"/>
                  </a:ext>
                </a:extLst>
              </a:tr>
              <a:tr h="370840">
                <a:tc>
                  <a:txBody>
                    <a:bodyPr/>
                    <a:lstStyle/>
                    <a:p>
                      <a:r>
                        <a:rPr lang="zh-CN" altLang="en-US">
                          <a:effectLst/>
                        </a:rPr>
                        <a:t>播放</a:t>
                      </a:r>
                      <a:r>
                        <a:rPr lang="en-US" altLang="zh-CN">
                          <a:effectLst/>
                        </a:rPr>
                        <a:t>/</a:t>
                      </a:r>
                      <a:r>
                        <a:rPr lang="zh-CN" altLang="en-US">
                          <a:effectLst/>
                        </a:rPr>
                        <a:t>暂停</a:t>
                      </a:r>
                    </a:p>
                  </a:txBody>
                  <a:tcPr marL="57150" marR="57150" marT="38100" marB="38100" anchor="ctr"/>
                </a:tc>
                <a:tc>
                  <a:txBody>
                    <a:bodyPr/>
                    <a:lstStyle/>
                    <a:p>
                      <a:r>
                        <a:rPr lang="en-US">
                          <a:effectLst/>
                        </a:rPr>
                        <a:t>GameBoard</a:t>
                      </a:r>
                    </a:p>
                  </a:txBody>
                  <a:tcPr marL="57150" marR="57150" marT="38100" marB="38100" anchor="ctr"/>
                </a:tc>
                <a:tc>
                  <a:txBody>
                    <a:bodyPr/>
                    <a:lstStyle/>
                    <a:p>
                      <a:r>
                        <a:rPr lang="zh-CN" altLang="en-US">
                          <a:effectLst/>
                        </a:rPr>
                        <a:t>游戏中切换播放状态</a:t>
                      </a:r>
                    </a:p>
                  </a:txBody>
                  <a:tcPr marL="57150" marR="57150" marT="38100" marB="38100" anchor="ctr"/>
                </a:tc>
                <a:tc rowSpan="2">
                  <a:txBody>
                    <a:bodyPr/>
                    <a:lstStyle/>
                    <a:p>
                      <a:r>
                        <a:rPr lang="zh-CN" altLang="en-US" sz="1800" b="0" i="0" kern="1200" dirty="0">
                          <a:solidFill>
                            <a:schemeClr val="dk1"/>
                          </a:solidFill>
                          <a:effectLst/>
                          <a:latin typeface="+mn-lt"/>
                          <a:ea typeface="+mn-ea"/>
                          <a:cs typeface="+mn-cs"/>
                        </a:rPr>
                        <a:t>添加底部音乐控制面板；新增 </a:t>
                      </a:r>
                      <a:r>
                        <a:rPr lang="en-US" altLang="zh-CN" sz="1800" b="0" i="0" u="none" strike="noStrike" kern="1200" dirty="0" err="1">
                          <a:solidFill>
                            <a:schemeClr val="dk1"/>
                          </a:solidFill>
                          <a:effectLst/>
                          <a:latin typeface="+mn-lt"/>
                          <a:ea typeface="+mn-ea"/>
                          <a:cs typeface="+mn-cs"/>
                        </a:rPr>
                        <a:t>getBoardWidth</a:t>
                      </a:r>
                      <a:r>
                        <a:rPr lang="en-US" altLang="zh-CN" sz="1800" b="0" i="0" u="none" strike="noStrike" kern="1200" dirty="0">
                          <a:solidFill>
                            <a:schemeClr val="dk1"/>
                          </a:solidFill>
                          <a:effectLst/>
                          <a:latin typeface="+mn-lt"/>
                          <a:ea typeface="+mn-ea"/>
                          <a:cs typeface="+mn-cs"/>
                        </a:rPr>
                        <a:t>()</a:t>
                      </a:r>
                      <a:r>
                        <a:rPr lang="zh-CN" altLang="en-US" sz="1800" b="0" i="0" kern="1200" dirty="0">
                          <a:solidFill>
                            <a:schemeClr val="dk1"/>
                          </a:solidFill>
                          <a:effectLst/>
                          <a:latin typeface="+mn-lt"/>
                          <a:ea typeface="+mn-ea"/>
                          <a:cs typeface="+mn-cs"/>
                        </a:rPr>
                        <a:t>和 </a:t>
                      </a:r>
                      <a:r>
                        <a:rPr lang="en-US" altLang="zh-CN" sz="1800" b="0" i="0" u="none" strike="noStrike" kern="1200" dirty="0" err="1">
                          <a:solidFill>
                            <a:schemeClr val="dk1"/>
                          </a:solidFill>
                          <a:effectLst/>
                          <a:latin typeface="+mn-lt"/>
                          <a:ea typeface="+mn-ea"/>
                          <a:cs typeface="+mn-cs"/>
                        </a:rPr>
                        <a:t>getBoardHeight</a:t>
                      </a:r>
                      <a:r>
                        <a:rPr lang="en-US" altLang="zh-CN" sz="1800" b="0" i="0" u="none" strike="noStrike" kern="1200" dirty="0">
                          <a:solidFill>
                            <a:schemeClr val="dk1"/>
                          </a:solidFill>
                          <a:effectLst/>
                          <a:latin typeface="+mn-lt"/>
                          <a:ea typeface="+mn-ea"/>
                          <a:cs typeface="+mn-cs"/>
                        </a:rPr>
                        <a:t>()</a:t>
                      </a:r>
                      <a:endParaRPr lang="zh-CN" altLang="en-US" dirty="0">
                        <a:effectLst/>
                      </a:endParaRPr>
                    </a:p>
                  </a:txBody>
                  <a:tcPr marL="57150" marR="57150" marT="38100" marB="38100" anchor="ctr"/>
                </a:tc>
                <a:extLst>
                  <a:ext uri="{0D108BD9-81ED-4DB2-BD59-A6C34878D82A}">
                    <a16:rowId xmlns:a16="http://schemas.microsoft.com/office/drawing/2014/main" val="4283061161"/>
                  </a:ext>
                </a:extLst>
              </a:tr>
              <a:tr h="370840">
                <a:tc>
                  <a:txBody>
                    <a:bodyPr/>
                    <a:lstStyle/>
                    <a:p>
                      <a:r>
                        <a:rPr lang="zh-CN" altLang="en-US">
                          <a:effectLst/>
                        </a:rPr>
                        <a:t>下一首</a:t>
                      </a:r>
                    </a:p>
                  </a:txBody>
                  <a:tcPr marL="57150" marR="57150" marT="38100" marB="38100" anchor="ctr"/>
                </a:tc>
                <a:tc>
                  <a:txBody>
                    <a:bodyPr/>
                    <a:lstStyle/>
                    <a:p>
                      <a:r>
                        <a:rPr lang="en-US">
                          <a:effectLst/>
                        </a:rPr>
                        <a:t>GameBoard</a:t>
                      </a:r>
                    </a:p>
                  </a:txBody>
                  <a:tcPr marL="57150" marR="57150" marT="38100" marB="38100" anchor="ctr"/>
                </a:tc>
                <a:tc>
                  <a:txBody>
                    <a:bodyPr/>
                    <a:lstStyle/>
                    <a:p>
                      <a:r>
                        <a:rPr lang="zh-CN" altLang="en-US" dirty="0">
                          <a:effectLst/>
                        </a:rPr>
                        <a:t>游戏中切换曲目</a:t>
                      </a:r>
                    </a:p>
                  </a:txBody>
                  <a:tcPr marL="57150" marR="57150" marT="38100" marB="38100" anchor="ctr"/>
                </a:tc>
                <a:tc vMerge="1">
                  <a:txBody>
                    <a:bodyPr/>
                    <a:lstStyle/>
                    <a:p>
                      <a:endParaRPr lang="zh-CN" altLang="en-US" dirty="0">
                        <a:effectLst/>
                      </a:endParaRPr>
                    </a:p>
                  </a:txBody>
                  <a:tcPr marL="57150" marR="57150" marT="38100" marB="38100" anchor="ctr"/>
                </a:tc>
                <a:extLst>
                  <a:ext uri="{0D108BD9-81ED-4DB2-BD59-A6C34878D82A}">
                    <a16:rowId xmlns:a16="http://schemas.microsoft.com/office/drawing/2014/main" val="3491428631"/>
                  </a:ext>
                </a:extLst>
              </a:tr>
              <a:tr h="370840">
                <a:tc>
                  <a:txBody>
                    <a:bodyPr/>
                    <a:lstStyle/>
                    <a:p>
                      <a:r>
                        <a:rPr lang="zh-CN" altLang="en-US">
                          <a:effectLst/>
                        </a:rPr>
                        <a:t>自动播放</a:t>
                      </a:r>
                    </a:p>
                  </a:txBody>
                  <a:tcPr marL="57150" marR="57150" marT="38100" marB="38100" anchor="ctr"/>
                </a:tc>
                <a:tc>
                  <a:txBody>
                    <a:bodyPr/>
                    <a:lstStyle/>
                    <a:p>
                      <a:r>
                        <a:rPr lang="en-US">
                          <a:effectLst/>
                        </a:rPr>
                        <a:t>MusicPlayer</a:t>
                      </a:r>
                    </a:p>
                  </a:txBody>
                  <a:tcPr marL="57150" marR="57150" marT="38100" marB="38100" anchor="ctr"/>
                </a:tc>
                <a:tc>
                  <a:txBody>
                    <a:bodyPr/>
                    <a:lstStyle/>
                    <a:p>
                      <a:r>
                        <a:rPr lang="zh-CN" altLang="en-US" dirty="0">
                          <a:effectLst/>
                        </a:rPr>
                        <a:t>一首结束后自动播放下一首</a:t>
                      </a:r>
                    </a:p>
                  </a:txBody>
                  <a:tcPr marL="57150" marR="57150" marT="38100" marB="38100" anchor="ctr"/>
                </a:tc>
                <a:tc>
                  <a:txBody>
                    <a:bodyPr/>
                    <a:lstStyle/>
                    <a:p>
                      <a:r>
                        <a:rPr lang="zh-CN" altLang="en-US" sz="1800" b="0" i="0" kern="1200" dirty="0">
                          <a:solidFill>
                            <a:schemeClr val="dk1"/>
                          </a:solidFill>
                          <a:effectLst/>
                          <a:latin typeface="+mn-lt"/>
                          <a:ea typeface="+mn-ea"/>
                          <a:cs typeface="+mn-cs"/>
                        </a:rPr>
                        <a:t>新增的核心音乐播放器类</a:t>
                      </a:r>
                      <a:endParaRPr lang="zh-CN" altLang="en-US" dirty="0">
                        <a:effectLst/>
                      </a:endParaRPr>
                    </a:p>
                  </a:txBody>
                  <a:tcPr marL="57150" marR="57150" marT="38100" marB="38100" anchor="ctr"/>
                </a:tc>
                <a:extLst>
                  <a:ext uri="{0D108BD9-81ED-4DB2-BD59-A6C34878D82A}">
                    <a16:rowId xmlns:a16="http://schemas.microsoft.com/office/drawing/2014/main" val="220169985"/>
                  </a:ext>
                </a:extLst>
              </a:tr>
              <a:tr h="370840">
                <a:tc>
                  <a:txBody>
                    <a:bodyPr/>
                    <a:lstStyle/>
                    <a:p>
                      <a:r>
                        <a:rPr lang="zh-CN" altLang="en-US">
                          <a:effectLst/>
                        </a:rPr>
                        <a:t>游戏结束停止</a:t>
                      </a:r>
                    </a:p>
                  </a:txBody>
                  <a:tcPr marL="57150" marR="57150" marT="38100" marB="38100" anchor="ctr"/>
                </a:tc>
                <a:tc>
                  <a:txBody>
                    <a:bodyPr/>
                    <a:lstStyle/>
                    <a:p>
                      <a:r>
                        <a:rPr lang="en-US">
                          <a:effectLst/>
                        </a:rPr>
                        <a:t>SmartSquare</a:t>
                      </a:r>
                    </a:p>
                  </a:txBody>
                  <a:tcPr marL="57150" marR="57150" marT="38100" marB="38100" anchor="ctr"/>
                </a:tc>
                <a:tc>
                  <a:txBody>
                    <a:bodyPr/>
                    <a:lstStyle/>
                    <a:p>
                      <a:r>
                        <a:rPr lang="zh-CN" altLang="en-US" dirty="0">
                          <a:effectLst/>
                        </a:rPr>
                        <a:t>游戏胜利</a:t>
                      </a:r>
                      <a:r>
                        <a:rPr lang="en-US" altLang="zh-CN" dirty="0">
                          <a:effectLst/>
                        </a:rPr>
                        <a:t>/</a:t>
                      </a:r>
                      <a:r>
                        <a:rPr lang="zh-CN" altLang="en-US" dirty="0">
                          <a:effectLst/>
                        </a:rPr>
                        <a:t>失败时自动停止音乐</a:t>
                      </a:r>
                    </a:p>
                  </a:txBody>
                  <a:tcPr marL="57150" marR="57150" marT="38100" marB="38100" anchor="ctr"/>
                </a:tc>
                <a:tc>
                  <a:txBody>
                    <a:bodyPr/>
                    <a:lstStyle/>
                    <a:p>
                      <a:r>
                        <a:rPr lang="zh-CN" altLang="en-US" sz="1800" b="0" i="0" kern="1200" dirty="0">
                          <a:solidFill>
                            <a:schemeClr val="dk1"/>
                          </a:solidFill>
                          <a:effectLst/>
                          <a:latin typeface="+mn-lt"/>
                          <a:ea typeface="+mn-ea"/>
                          <a:cs typeface="+mn-cs"/>
                        </a:rPr>
                        <a:t>游戏结束时停止音乐</a:t>
                      </a:r>
                      <a:endParaRPr lang="zh-CN" altLang="en-US" dirty="0">
                        <a:effectLst/>
                      </a:endParaRPr>
                    </a:p>
                  </a:txBody>
                  <a:tcPr marL="57150" marR="57150" marT="38100" marB="38100" anchor="ctr"/>
                </a:tc>
                <a:extLst>
                  <a:ext uri="{0D108BD9-81ED-4DB2-BD59-A6C34878D82A}">
                    <a16:rowId xmlns:a16="http://schemas.microsoft.com/office/drawing/2014/main" val="2825539339"/>
                  </a:ext>
                </a:extLst>
              </a:tr>
            </a:tbl>
          </a:graphicData>
        </a:graphic>
      </p:graphicFrame>
      <p:pic>
        <p:nvPicPr>
          <p:cNvPr id="11" name="图片 10">
            <a:extLst>
              <a:ext uri="{FF2B5EF4-FFF2-40B4-BE49-F238E27FC236}">
                <a16:creationId xmlns:a16="http://schemas.microsoft.com/office/drawing/2014/main" id="{E4DDDACD-4578-0486-EEFC-CA67B214A152}"/>
              </a:ext>
            </a:extLst>
          </p:cNvPr>
          <p:cNvPicPr>
            <a:picLocks noChangeAspect="1"/>
          </p:cNvPicPr>
          <p:nvPr/>
        </p:nvPicPr>
        <p:blipFill>
          <a:blip r:embed="rId3"/>
          <a:stretch>
            <a:fillRect/>
          </a:stretch>
        </p:blipFill>
        <p:spPr>
          <a:xfrm>
            <a:off x="6189771" y="121736"/>
            <a:ext cx="5858693" cy="1790950"/>
          </a:xfrm>
          <a:prstGeom prst="rect">
            <a:avLst/>
          </a:prstGeom>
        </p:spPr>
      </p:pic>
      <p:pic>
        <p:nvPicPr>
          <p:cNvPr id="13" name="图片 12">
            <a:extLst>
              <a:ext uri="{FF2B5EF4-FFF2-40B4-BE49-F238E27FC236}">
                <a16:creationId xmlns:a16="http://schemas.microsoft.com/office/drawing/2014/main" id="{36CF509A-3419-A86E-1627-DABFA95A47FA}"/>
              </a:ext>
            </a:extLst>
          </p:cNvPr>
          <p:cNvPicPr>
            <a:picLocks noChangeAspect="1"/>
          </p:cNvPicPr>
          <p:nvPr/>
        </p:nvPicPr>
        <p:blipFill>
          <a:blip r:embed="rId4"/>
          <a:stretch>
            <a:fillRect/>
          </a:stretch>
        </p:blipFill>
        <p:spPr>
          <a:xfrm>
            <a:off x="8640153" y="2443599"/>
            <a:ext cx="2495898" cy="1457528"/>
          </a:xfrm>
          <a:prstGeom prst="rect">
            <a:avLst/>
          </a:prstGeom>
        </p:spPr>
      </p:pic>
      <p:sp>
        <p:nvSpPr>
          <p:cNvPr id="15" name="文本框 14">
            <a:extLst>
              <a:ext uri="{FF2B5EF4-FFF2-40B4-BE49-F238E27FC236}">
                <a16:creationId xmlns:a16="http://schemas.microsoft.com/office/drawing/2014/main" id="{DA95B6B8-57A2-B922-1FC4-D93CA8875F88}"/>
              </a:ext>
            </a:extLst>
          </p:cNvPr>
          <p:cNvSpPr txBox="1"/>
          <p:nvPr/>
        </p:nvSpPr>
        <p:spPr>
          <a:xfrm>
            <a:off x="9119117" y="1977999"/>
            <a:ext cx="1107996" cy="369332"/>
          </a:xfrm>
          <a:prstGeom prst="rect">
            <a:avLst/>
          </a:prstGeom>
          <a:noFill/>
        </p:spPr>
        <p:txBody>
          <a:bodyPr wrap="none" rtlCol="0">
            <a:spAutoFit/>
          </a:bodyPr>
          <a:lstStyle/>
          <a:p>
            <a:r>
              <a:rPr lang="zh-CN" altLang="en-US" dirty="0"/>
              <a:t>选择界面</a:t>
            </a:r>
          </a:p>
        </p:txBody>
      </p:sp>
      <p:pic>
        <p:nvPicPr>
          <p:cNvPr id="16" name="图片 15">
            <a:extLst>
              <a:ext uri="{FF2B5EF4-FFF2-40B4-BE49-F238E27FC236}">
                <a16:creationId xmlns:a16="http://schemas.microsoft.com/office/drawing/2014/main" id="{19E547AE-EABB-719B-ECEF-6943F7FCF3A2}"/>
              </a:ext>
            </a:extLst>
          </p:cNvPr>
          <p:cNvPicPr>
            <a:picLocks noChangeAspect="1"/>
          </p:cNvPicPr>
          <p:nvPr/>
        </p:nvPicPr>
        <p:blipFill>
          <a:blip r:embed="rId5"/>
          <a:stretch>
            <a:fillRect/>
          </a:stretch>
        </p:blipFill>
        <p:spPr>
          <a:xfrm>
            <a:off x="8838093" y="4235938"/>
            <a:ext cx="1924319" cy="2286319"/>
          </a:xfrm>
          <a:prstGeom prst="rect">
            <a:avLst/>
          </a:prstGeom>
        </p:spPr>
      </p:pic>
    </p:spTree>
    <p:extLst>
      <p:ext uri="{BB962C8B-B14F-4D97-AF65-F5344CB8AC3E}">
        <p14:creationId xmlns:p14="http://schemas.microsoft.com/office/powerpoint/2010/main" val="1552905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04B3C-8C40-FB4E-E0D6-DF54A0F64717}"/>
              </a:ext>
            </a:extLst>
          </p:cNvPr>
          <p:cNvSpPr>
            <a:spLocks noGrp="1"/>
          </p:cNvSpPr>
          <p:nvPr>
            <p:ph type="title"/>
          </p:nvPr>
        </p:nvSpPr>
        <p:spPr/>
        <p:txBody>
          <a:bodyPr>
            <a:normAutofit/>
          </a:bodyPr>
          <a:lstStyle/>
          <a:p>
            <a:r>
              <a:rPr lang="zh-CN" altLang="en-US" sz="4400" dirty="0">
                <a:latin typeface="等线 Light" panose="02010600030101010101" pitchFamily="2" charset="-122"/>
                <a:ea typeface="等线 Light" panose="02010600030101010101" pitchFamily="2" charset="-122"/>
              </a:rPr>
              <a:t>使用的设计模式</a:t>
            </a:r>
          </a:p>
        </p:txBody>
      </p:sp>
      <p:sp>
        <p:nvSpPr>
          <p:cNvPr id="3" name="内容占位符 2">
            <a:extLst>
              <a:ext uri="{FF2B5EF4-FFF2-40B4-BE49-F238E27FC236}">
                <a16:creationId xmlns:a16="http://schemas.microsoft.com/office/drawing/2014/main" id="{B761F1BF-3910-942E-BD11-920380B4413A}"/>
              </a:ext>
            </a:extLst>
          </p:cNvPr>
          <p:cNvSpPr>
            <a:spLocks noGrp="1"/>
          </p:cNvSpPr>
          <p:nvPr>
            <p:ph idx="1"/>
          </p:nvPr>
        </p:nvSpPr>
        <p:spPr>
          <a:xfrm>
            <a:off x="581089" y="1028700"/>
            <a:ext cx="3906935" cy="1910444"/>
          </a:xfrm>
        </p:spPr>
        <p:txBody>
          <a:bodyPr>
            <a:normAutofit fontScale="92500" lnSpcReduction="10000"/>
          </a:bodyPr>
          <a:lstStyle/>
          <a:p>
            <a:pPr marL="342900" indent="-342900">
              <a:buAutoNum type="arabicPeriod"/>
            </a:pPr>
            <a:r>
              <a:rPr lang="zh-CN" altLang="en-US" sz="1500" dirty="0"/>
              <a:t>单例模式</a:t>
            </a:r>
            <a:endParaRPr lang="en-US" altLang="zh-CN" sz="1500" dirty="0"/>
          </a:p>
          <a:p>
            <a:pPr marL="0" indent="0">
              <a:buNone/>
            </a:pPr>
            <a:r>
              <a:rPr lang="zh-CN" altLang="en-US" sz="1500" b="0" i="0" dirty="0">
                <a:effectLst/>
                <a:latin typeface="Segoe WPC"/>
              </a:rPr>
              <a:t>确保整个应用程序中只有一个音乐播放器实例</a:t>
            </a:r>
            <a:endParaRPr lang="en-US" altLang="zh-CN" sz="1500" b="0" i="0" dirty="0">
              <a:effectLst/>
              <a:latin typeface="Segoe WPC"/>
            </a:endParaRPr>
          </a:p>
          <a:p>
            <a:pPr marL="0" indent="0">
              <a:buNone/>
            </a:pPr>
            <a:r>
              <a:rPr lang="zh-CN" altLang="en-US" sz="1500" b="0" i="0" dirty="0">
                <a:effectLst/>
                <a:latin typeface="Segoe WPC"/>
              </a:rPr>
              <a:t>所有界面（</a:t>
            </a:r>
            <a:r>
              <a:rPr lang="en-US" altLang="zh-CN" sz="1500" b="0" i="0" dirty="0">
                <a:effectLst/>
                <a:latin typeface="Segoe WPC"/>
              </a:rPr>
              <a:t>Menu</a:t>
            </a:r>
            <a:r>
              <a:rPr lang="zh-CN" altLang="en-US" sz="1500" b="0" i="0" dirty="0">
                <a:effectLst/>
                <a:latin typeface="Segoe WPC"/>
              </a:rPr>
              <a:t>、</a:t>
            </a:r>
            <a:r>
              <a:rPr lang="en-US" altLang="zh-CN" sz="1500" b="0" i="0" dirty="0" err="1">
                <a:effectLst/>
                <a:latin typeface="Segoe WPC"/>
              </a:rPr>
              <a:t>GameBoard</a:t>
            </a:r>
            <a:r>
              <a:rPr lang="zh-CN" altLang="en-US" sz="1500" b="0" i="0" dirty="0">
                <a:effectLst/>
                <a:latin typeface="Segoe WPC"/>
              </a:rPr>
              <a:t>、</a:t>
            </a:r>
            <a:r>
              <a:rPr lang="en-US" altLang="zh-CN" sz="1500" b="0" i="0" dirty="0" err="1">
                <a:effectLst/>
                <a:latin typeface="Segoe WPC"/>
              </a:rPr>
              <a:t>SmartSquare</a:t>
            </a:r>
            <a:r>
              <a:rPr lang="zh-CN" altLang="en-US" sz="1500" b="0" i="0" dirty="0">
                <a:effectLst/>
                <a:latin typeface="Segoe WPC"/>
              </a:rPr>
              <a:t>）都通过 </a:t>
            </a:r>
            <a:r>
              <a:rPr lang="en-US" altLang="zh-CN" sz="1500" dirty="0" err="1">
                <a:latin typeface="Segoe WPC"/>
              </a:rPr>
              <a:t>MusicPlayer.getInstance</a:t>
            </a:r>
            <a:r>
              <a:rPr lang="en-US" altLang="zh-CN" sz="1500" dirty="0">
                <a:latin typeface="Segoe WPC"/>
              </a:rPr>
              <a:t>()</a:t>
            </a:r>
            <a:r>
              <a:rPr lang="zh-CN" altLang="en-US" sz="1500" b="0" i="0" dirty="0">
                <a:effectLst/>
                <a:latin typeface="Segoe WPC"/>
              </a:rPr>
              <a:t>访问同一个播放器</a:t>
            </a:r>
          </a:p>
          <a:p>
            <a:pPr marL="0" indent="0" algn="l">
              <a:buNone/>
            </a:pPr>
            <a:r>
              <a:rPr lang="zh-CN" altLang="en-US" sz="1500" b="0" i="0" dirty="0">
                <a:effectLst/>
                <a:latin typeface="Segoe WPC"/>
              </a:rPr>
              <a:t>避免多个播放器同时播放造成混乱</a:t>
            </a:r>
          </a:p>
          <a:p>
            <a:endParaRPr lang="zh-CN" altLang="en-US" dirty="0"/>
          </a:p>
        </p:txBody>
      </p:sp>
      <p:pic>
        <p:nvPicPr>
          <p:cNvPr id="4" name="图片 3">
            <a:extLst>
              <a:ext uri="{FF2B5EF4-FFF2-40B4-BE49-F238E27FC236}">
                <a16:creationId xmlns:a16="http://schemas.microsoft.com/office/drawing/2014/main" id="{49ABD8C1-A498-43CA-927F-31B2D941F895}"/>
              </a:ext>
            </a:extLst>
          </p:cNvPr>
          <p:cNvPicPr>
            <a:picLocks noChangeAspect="1"/>
          </p:cNvPicPr>
          <p:nvPr/>
        </p:nvPicPr>
        <p:blipFill>
          <a:blip r:embed="rId2"/>
          <a:stretch>
            <a:fillRect/>
          </a:stretch>
        </p:blipFill>
        <p:spPr>
          <a:xfrm>
            <a:off x="244475" y="2939144"/>
            <a:ext cx="5039428" cy="3248478"/>
          </a:xfrm>
          <a:prstGeom prst="rect">
            <a:avLst/>
          </a:prstGeom>
        </p:spPr>
      </p:pic>
      <p:sp>
        <p:nvSpPr>
          <p:cNvPr id="7" name="文本框 6">
            <a:extLst>
              <a:ext uri="{FF2B5EF4-FFF2-40B4-BE49-F238E27FC236}">
                <a16:creationId xmlns:a16="http://schemas.microsoft.com/office/drawing/2014/main" id="{E3EC151D-A1E7-2BF5-2003-73633E4B27B9}"/>
              </a:ext>
            </a:extLst>
          </p:cNvPr>
          <p:cNvSpPr txBox="1"/>
          <p:nvPr/>
        </p:nvSpPr>
        <p:spPr>
          <a:xfrm>
            <a:off x="5374432" y="128587"/>
            <a:ext cx="6817567" cy="1015663"/>
          </a:xfrm>
          <a:prstGeom prst="rect">
            <a:avLst/>
          </a:prstGeom>
          <a:noFill/>
        </p:spPr>
        <p:txBody>
          <a:bodyPr wrap="square" rtlCol="0">
            <a:spAutoFit/>
          </a:bodyPr>
          <a:lstStyle/>
          <a:p>
            <a:r>
              <a:rPr lang="en-US" altLang="zh-CN" sz="1500" dirty="0"/>
              <a:t>2. </a:t>
            </a:r>
            <a:r>
              <a:rPr lang="zh-CN" altLang="en-US" sz="1500" dirty="0"/>
              <a:t>观察者模式</a:t>
            </a:r>
            <a:endParaRPr lang="en-US" altLang="zh-CN" sz="1500" dirty="0"/>
          </a:p>
          <a:p>
            <a:r>
              <a:rPr lang="zh-CN" altLang="en-US" sz="1500" dirty="0"/>
              <a:t>音频播放器 </a:t>
            </a:r>
            <a:r>
              <a:rPr lang="en-US" altLang="zh-CN" sz="1500" dirty="0"/>
              <a:t>Clip </a:t>
            </a:r>
            <a:r>
              <a:rPr lang="zh-CN" altLang="en-US" sz="1500" dirty="0"/>
              <a:t>作为被观察者</a:t>
            </a:r>
          </a:p>
          <a:p>
            <a:r>
              <a:rPr lang="zh-CN" altLang="en-US" sz="1500" dirty="0"/>
              <a:t>通过 </a:t>
            </a:r>
            <a:r>
              <a:rPr lang="en-US" altLang="zh-CN" sz="1500" dirty="0" err="1"/>
              <a:t>LineListener</a:t>
            </a:r>
            <a:r>
              <a:rPr lang="en-US" altLang="zh-CN" sz="1500" dirty="0"/>
              <a:t> </a:t>
            </a:r>
            <a:r>
              <a:rPr lang="zh-CN" altLang="en-US" sz="1500" dirty="0"/>
              <a:t>监听播放状态变化</a:t>
            </a:r>
          </a:p>
          <a:p>
            <a:r>
              <a:rPr lang="zh-CN" altLang="en-US" sz="1500" dirty="0"/>
              <a:t>当音乐播放结束时自动触发 </a:t>
            </a:r>
            <a:r>
              <a:rPr lang="en-US" altLang="zh-CN" sz="1500" dirty="0" err="1"/>
              <a:t>playNext</a:t>
            </a:r>
            <a:r>
              <a:rPr lang="en-US" altLang="zh-CN" sz="1500" dirty="0"/>
              <a:t>() </a:t>
            </a:r>
            <a:r>
              <a:rPr lang="zh-CN" altLang="en-US" sz="1500" dirty="0"/>
              <a:t>播放下一首</a:t>
            </a:r>
          </a:p>
        </p:txBody>
      </p:sp>
      <p:pic>
        <p:nvPicPr>
          <p:cNvPr id="8" name="图片 7">
            <a:extLst>
              <a:ext uri="{FF2B5EF4-FFF2-40B4-BE49-F238E27FC236}">
                <a16:creationId xmlns:a16="http://schemas.microsoft.com/office/drawing/2014/main" id="{4DBA2928-50B3-50FD-31AF-39879AECFC86}"/>
              </a:ext>
            </a:extLst>
          </p:cNvPr>
          <p:cNvPicPr>
            <a:picLocks noChangeAspect="1"/>
          </p:cNvPicPr>
          <p:nvPr/>
        </p:nvPicPr>
        <p:blipFill>
          <a:blip r:embed="rId3"/>
          <a:stretch>
            <a:fillRect/>
          </a:stretch>
        </p:blipFill>
        <p:spPr>
          <a:xfrm>
            <a:off x="6025826" y="1144250"/>
            <a:ext cx="5029902" cy="1267002"/>
          </a:xfrm>
          <a:prstGeom prst="rect">
            <a:avLst/>
          </a:prstGeom>
        </p:spPr>
      </p:pic>
      <p:sp>
        <p:nvSpPr>
          <p:cNvPr id="9" name="文本框 8">
            <a:extLst>
              <a:ext uri="{FF2B5EF4-FFF2-40B4-BE49-F238E27FC236}">
                <a16:creationId xmlns:a16="http://schemas.microsoft.com/office/drawing/2014/main" id="{96B76619-16FD-2DCE-3A7D-7CAB289A3B22}"/>
              </a:ext>
            </a:extLst>
          </p:cNvPr>
          <p:cNvSpPr txBox="1"/>
          <p:nvPr/>
        </p:nvSpPr>
        <p:spPr>
          <a:xfrm>
            <a:off x="5374432" y="2431312"/>
            <a:ext cx="6419462" cy="1015663"/>
          </a:xfrm>
          <a:prstGeom prst="rect">
            <a:avLst/>
          </a:prstGeom>
          <a:noFill/>
        </p:spPr>
        <p:txBody>
          <a:bodyPr wrap="square" rtlCol="0">
            <a:spAutoFit/>
          </a:bodyPr>
          <a:lstStyle/>
          <a:p>
            <a:r>
              <a:rPr lang="en-US" altLang="zh-CN" sz="1500" dirty="0"/>
              <a:t>3. </a:t>
            </a:r>
            <a:r>
              <a:rPr lang="zh-CN" altLang="en-US" sz="1500" dirty="0"/>
              <a:t>外观模式</a:t>
            </a:r>
            <a:endParaRPr lang="en-US" altLang="zh-CN" sz="1500" dirty="0"/>
          </a:p>
          <a:p>
            <a:r>
              <a:rPr lang="en-US" altLang="zh-CN" sz="1500" dirty="0" err="1"/>
              <a:t>MusicPlayer</a:t>
            </a:r>
            <a:r>
              <a:rPr lang="en-US" altLang="zh-CN" sz="1500" dirty="0"/>
              <a:t> </a:t>
            </a:r>
            <a:r>
              <a:rPr lang="zh-CN" altLang="en-US" sz="1500" dirty="0"/>
              <a:t>封装了底层 </a:t>
            </a:r>
            <a:r>
              <a:rPr lang="en-US" altLang="zh-CN" sz="1500" dirty="0" err="1"/>
              <a:t>javax.sound.sampled</a:t>
            </a:r>
            <a:r>
              <a:rPr lang="en-US" altLang="zh-CN" sz="1500" dirty="0"/>
              <a:t> API </a:t>
            </a:r>
            <a:r>
              <a:rPr lang="zh-CN" altLang="en-US" sz="1500" dirty="0"/>
              <a:t>的复杂操作</a:t>
            </a:r>
          </a:p>
          <a:p>
            <a:r>
              <a:rPr lang="zh-CN" altLang="en-US" sz="1500" dirty="0"/>
              <a:t>对外提供简单的接口（</a:t>
            </a:r>
            <a:r>
              <a:rPr lang="en-US" altLang="zh-CN" sz="1500" dirty="0"/>
              <a:t>play</a:t>
            </a:r>
            <a:r>
              <a:rPr lang="zh-CN" altLang="en-US" sz="1500" dirty="0"/>
              <a:t>、</a:t>
            </a:r>
            <a:r>
              <a:rPr lang="en-US" altLang="zh-CN" sz="1500" dirty="0"/>
              <a:t>pause</a:t>
            </a:r>
            <a:r>
              <a:rPr lang="zh-CN" altLang="en-US" sz="1500" dirty="0"/>
              <a:t>、</a:t>
            </a:r>
            <a:r>
              <a:rPr lang="en-US" altLang="zh-CN" sz="1500" dirty="0"/>
              <a:t>stop </a:t>
            </a:r>
            <a:r>
              <a:rPr lang="zh-CN" altLang="en-US" sz="1500" dirty="0"/>
              <a:t>等）</a:t>
            </a:r>
          </a:p>
          <a:p>
            <a:r>
              <a:rPr lang="zh-CN" altLang="en-US" sz="1500" dirty="0"/>
              <a:t>其他类无需了解音频播放的底层细节</a:t>
            </a:r>
          </a:p>
        </p:txBody>
      </p:sp>
      <p:pic>
        <p:nvPicPr>
          <p:cNvPr id="6" name="图片 5">
            <a:extLst>
              <a:ext uri="{FF2B5EF4-FFF2-40B4-BE49-F238E27FC236}">
                <a16:creationId xmlns:a16="http://schemas.microsoft.com/office/drawing/2014/main" id="{8F00D502-A0BB-5818-DBDA-C33E818F81AD}"/>
              </a:ext>
            </a:extLst>
          </p:cNvPr>
          <p:cNvPicPr>
            <a:picLocks noChangeAspect="1"/>
          </p:cNvPicPr>
          <p:nvPr/>
        </p:nvPicPr>
        <p:blipFill>
          <a:blip r:embed="rId4"/>
          <a:stretch>
            <a:fillRect/>
          </a:stretch>
        </p:blipFill>
        <p:spPr>
          <a:xfrm>
            <a:off x="5692254" y="3473220"/>
            <a:ext cx="5201451" cy="3256193"/>
          </a:xfrm>
          <a:prstGeom prst="rect">
            <a:avLst/>
          </a:prstGeom>
        </p:spPr>
      </p:pic>
    </p:spTree>
    <p:extLst>
      <p:ext uri="{BB962C8B-B14F-4D97-AF65-F5344CB8AC3E}">
        <p14:creationId xmlns:p14="http://schemas.microsoft.com/office/powerpoint/2010/main" val="678753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2CB24C09-4481-607B-19E2-9963532FD0C5}"/>
              </a:ext>
            </a:extLst>
          </p:cNvPr>
          <p:cNvSpPr>
            <a:spLocks noGrp="1"/>
          </p:cNvSpPr>
          <p:nvPr>
            <p:ph type="title"/>
          </p:nvPr>
        </p:nvSpPr>
        <p:spPr>
          <a:xfrm>
            <a:off x="660400" y="128588"/>
            <a:ext cx="10858500" cy="900112"/>
          </a:xfrm>
        </p:spPr>
        <p:txBody>
          <a:bodyPr>
            <a:normAutofit/>
          </a:bodyPr>
          <a:lstStyle/>
          <a:p>
            <a:r>
              <a:rPr lang="zh-CN" altLang="en-US" sz="4400" b="0" dirty="0">
                <a:latin typeface="等线 Light" panose="02010600030101010101" pitchFamily="2" charset="-122"/>
                <a:ea typeface="等线 Light" panose="02010600030101010101" pitchFamily="2" charset="-122"/>
              </a:rPr>
              <a:t>记录功能</a:t>
            </a:r>
          </a:p>
        </p:txBody>
      </p:sp>
      <p:pic>
        <p:nvPicPr>
          <p:cNvPr id="7" name="图片 6">
            <a:extLst>
              <a:ext uri="{FF2B5EF4-FFF2-40B4-BE49-F238E27FC236}">
                <a16:creationId xmlns:a16="http://schemas.microsoft.com/office/drawing/2014/main" id="{D8575A29-5665-D6B1-0634-77E1B9F16888}"/>
              </a:ext>
            </a:extLst>
          </p:cNvPr>
          <p:cNvPicPr>
            <a:picLocks noChangeAspect="1"/>
          </p:cNvPicPr>
          <p:nvPr/>
        </p:nvPicPr>
        <p:blipFill>
          <a:blip r:embed="rId2"/>
          <a:stretch>
            <a:fillRect/>
          </a:stretch>
        </p:blipFill>
        <p:spPr>
          <a:xfrm>
            <a:off x="704202" y="1130300"/>
            <a:ext cx="1705213" cy="3791479"/>
          </a:xfrm>
          <a:prstGeom prst="rect">
            <a:avLst/>
          </a:prstGeom>
        </p:spPr>
      </p:pic>
      <p:pic>
        <p:nvPicPr>
          <p:cNvPr id="8" name="图片 7">
            <a:extLst>
              <a:ext uri="{FF2B5EF4-FFF2-40B4-BE49-F238E27FC236}">
                <a16:creationId xmlns:a16="http://schemas.microsoft.com/office/drawing/2014/main" id="{A9AADD7C-68DE-3D5D-5BC8-CA40E21188F0}"/>
              </a:ext>
            </a:extLst>
          </p:cNvPr>
          <p:cNvPicPr>
            <a:picLocks noChangeAspect="1"/>
          </p:cNvPicPr>
          <p:nvPr/>
        </p:nvPicPr>
        <p:blipFill>
          <a:blip r:embed="rId3"/>
          <a:stretch>
            <a:fillRect/>
          </a:stretch>
        </p:blipFill>
        <p:spPr>
          <a:xfrm>
            <a:off x="3284161" y="1149352"/>
            <a:ext cx="1686160" cy="3753374"/>
          </a:xfrm>
          <a:prstGeom prst="rect">
            <a:avLst/>
          </a:prstGeom>
        </p:spPr>
      </p:pic>
    </p:spTree>
    <p:extLst>
      <p:ext uri="{BB962C8B-B14F-4D97-AF65-F5344CB8AC3E}">
        <p14:creationId xmlns:p14="http://schemas.microsoft.com/office/powerpoint/2010/main" val="46587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CF7AF75-F8A2-5858-C0D3-322577EEFDF9}"/>
              </a:ext>
            </a:extLst>
          </p:cNvPr>
          <p:cNvSpPr>
            <a:spLocks noGrp="1"/>
          </p:cNvSpPr>
          <p:nvPr>
            <p:ph idx="1"/>
          </p:nvPr>
        </p:nvSpPr>
        <p:spPr>
          <a:xfrm>
            <a:off x="506857" y="1027771"/>
            <a:ext cx="3099837" cy="437243"/>
          </a:xfrm>
        </p:spPr>
        <p:txBody>
          <a:bodyPr>
            <a:normAutofit/>
          </a:bodyPr>
          <a:lstStyle/>
          <a:p>
            <a:pPr marL="0" indent="0">
              <a:buNone/>
            </a:pPr>
            <a:r>
              <a:rPr lang="zh-CN" altLang="en-US" sz="1500" i="0" dirty="0">
                <a:effectLst/>
                <a:latin typeface="Segoe WPC"/>
              </a:rPr>
              <a:t>单例模式</a:t>
            </a:r>
            <a:endParaRPr lang="en-US" altLang="zh-CN" sz="1500" i="0" dirty="0">
              <a:effectLst/>
              <a:latin typeface="Segoe WPC"/>
            </a:endParaRPr>
          </a:p>
        </p:txBody>
      </p:sp>
      <p:pic>
        <p:nvPicPr>
          <p:cNvPr id="4" name="图片 3">
            <a:extLst>
              <a:ext uri="{FF2B5EF4-FFF2-40B4-BE49-F238E27FC236}">
                <a16:creationId xmlns:a16="http://schemas.microsoft.com/office/drawing/2014/main" id="{E2102CF8-98CF-8252-1660-9B52BB03405B}"/>
              </a:ext>
            </a:extLst>
          </p:cNvPr>
          <p:cNvPicPr>
            <a:picLocks noChangeAspect="1"/>
          </p:cNvPicPr>
          <p:nvPr/>
        </p:nvPicPr>
        <p:blipFill>
          <a:blip r:embed="rId2"/>
          <a:stretch>
            <a:fillRect/>
          </a:stretch>
        </p:blipFill>
        <p:spPr>
          <a:xfrm>
            <a:off x="209379" y="1359700"/>
            <a:ext cx="5114309" cy="2384998"/>
          </a:xfrm>
          <a:prstGeom prst="rect">
            <a:avLst/>
          </a:prstGeom>
        </p:spPr>
      </p:pic>
      <p:sp>
        <p:nvSpPr>
          <p:cNvPr id="5" name="文本框 4">
            <a:extLst>
              <a:ext uri="{FF2B5EF4-FFF2-40B4-BE49-F238E27FC236}">
                <a16:creationId xmlns:a16="http://schemas.microsoft.com/office/drawing/2014/main" id="{21934271-84CF-670A-3107-B9AC769985B9}"/>
              </a:ext>
            </a:extLst>
          </p:cNvPr>
          <p:cNvSpPr txBox="1"/>
          <p:nvPr/>
        </p:nvSpPr>
        <p:spPr>
          <a:xfrm>
            <a:off x="660399" y="3760573"/>
            <a:ext cx="1146468" cy="323165"/>
          </a:xfrm>
          <a:prstGeom prst="rect">
            <a:avLst/>
          </a:prstGeom>
          <a:noFill/>
        </p:spPr>
        <p:txBody>
          <a:bodyPr wrap="none" rtlCol="0">
            <a:spAutoFit/>
          </a:bodyPr>
          <a:lstStyle/>
          <a:p>
            <a:r>
              <a:rPr lang="zh-CN" altLang="en-US" sz="1500" dirty="0"/>
              <a:t>观察者模式</a:t>
            </a:r>
          </a:p>
        </p:txBody>
      </p:sp>
      <p:pic>
        <p:nvPicPr>
          <p:cNvPr id="6" name="图片 5">
            <a:extLst>
              <a:ext uri="{FF2B5EF4-FFF2-40B4-BE49-F238E27FC236}">
                <a16:creationId xmlns:a16="http://schemas.microsoft.com/office/drawing/2014/main" id="{35C40862-529F-6830-8B71-5B573102CAAD}"/>
              </a:ext>
            </a:extLst>
          </p:cNvPr>
          <p:cNvPicPr>
            <a:picLocks noChangeAspect="1"/>
          </p:cNvPicPr>
          <p:nvPr/>
        </p:nvPicPr>
        <p:blipFill>
          <a:blip r:embed="rId3"/>
          <a:stretch>
            <a:fillRect/>
          </a:stretch>
        </p:blipFill>
        <p:spPr>
          <a:xfrm>
            <a:off x="209380" y="4099613"/>
            <a:ext cx="4474588" cy="2762091"/>
          </a:xfrm>
          <a:prstGeom prst="rect">
            <a:avLst/>
          </a:prstGeom>
        </p:spPr>
      </p:pic>
      <p:sp>
        <p:nvSpPr>
          <p:cNvPr id="7" name="文本框 6">
            <a:extLst>
              <a:ext uri="{FF2B5EF4-FFF2-40B4-BE49-F238E27FC236}">
                <a16:creationId xmlns:a16="http://schemas.microsoft.com/office/drawing/2014/main" id="{D2B2EB40-E3E7-2F4E-17C3-42D5BCA1C6E5}"/>
              </a:ext>
            </a:extLst>
          </p:cNvPr>
          <p:cNvSpPr txBox="1"/>
          <p:nvPr/>
        </p:nvSpPr>
        <p:spPr>
          <a:xfrm>
            <a:off x="6876662" y="417060"/>
            <a:ext cx="1338828" cy="323165"/>
          </a:xfrm>
          <a:prstGeom prst="rect">
            <a:avLst/>
          </a:prstGeom>
          <a:noFill/>
        </p:spPr>
        <p:txBody>
          <a:bodyPr wrap="none" rtlCol="0">
            <a:spAutoFit/>
          </a:bodyPr>
          <a:lstStyle/>
          <a:p>
            <a:r>
              <a:rPr lang="zh-CN" altLang="en-US" sz="1500" dirty="0"/>
              <a:t>工厂方法模式</a:t>
            </a:r>
          </a:p>
        </p:txBody>
      </p:sp>
      <p:pic>
        <p:nvPicPr>
          <p:cNvPr id="8" name="图片 7">
            <a:extLst>
              <a:ext uri="{FF2B5EF4-FFF2-40B4-BE49-F238E27FC236}">
                <a16:creationId xmlns:a16="http://schemas.microsoft.com/office/drawing/2014/main" id="{5950CCF9-44B4-CE25-2942-8947A3043D0A}"/>
              </a:ext>
            </a:extLst>
          </p:cNvPr>
          <p:cNvPicPr>
            <a:picLocks noChangeAspect="1"/>
          </p:cNvPicPr>
          <p:nvPr/>
        </p:nvPicPr>
        <p:blipFill>
          <a:blip r:embed="rId4"/>
          <a:stretch>
            <a:fillRect/>
          </a:stretch>
        </p:blipFill>
        <p:spPr>
          <a:xfrm>
            <a:off x="6096000" y="1246392"/>
            <a:ext cx="5210175" cy="5162550"/>
          </a:xfrm>
          <a:prstGeom prst="rect">
            <a:avLst/>
          </a:prstGeom>
        </p:spPr>
      </p:pic>
      <p:sp>
        <p:nvSpPr>
          <p:cNvPr id="9" name="标题 1">
            <a:extLst>
              <a:ext uri="{FF2B5EF4-FFF2-40B4-BE49-F238E27FC236}">
                <a16:creationId xmlns:a16="http://schemas.microsoft.com/office/drawing/2014/main" id="{62B85EE1-F06B-B9E7-8629-6501F1D4705E}"/>
              </a:ext>
            </a:extLst>
          </p:cNvPr>
          <p:cNvSpPr txBox="1">
            <a:spLocks/>
          </p:cNvSpPr>
          <p:nvPr/>
        </p:nvSpPr>
        <p:spPr>
          <a:xfrm>
            <a:off x="447675" y="8247"/>
            <a:ext cx="10858500" cy="900112"/>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r>
              <a:rPr lang="zh-CN" altLang="en-US" sz="4400" dirty="0"/>
              <a:t>使用的设计模式</a:t>
            </a:r>
          </a:p>
        </p:txBody>
      </p:sp>
    </p:spTree>
    <p:extLst>
      <p:ext uri="{BB962C8B-B14F-4D97-AF65-F5344CB8AC3E}">
        <p14:creationId xmlns:p14="http://schemas.microsoft.com/office/powerpoint/2010/main" val="3514639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1554552-A42E-B0A0-30A2-8B6C53CE1BFA}"/>
              </a:ext>
            </a:extLst>
          </p:cNvPr>
          <p:cNvSpPr>
            <a:spLocks noGrp="1"/>
          </p:cNvSpPr>
          <p:nvPr>
            <p:ph idx="1"/>
          </p:nvPr>
        </p:nvSpPr>
        <p:spPr>
          <a:xfrm>
            <a:off x="324497" y="234561"/>
            <a:ext cx="4742026" cy="5270499"/>
          </a:xfrm>
        </p:spPr>
        <p:txBody>
          <a:bodyPr>
            <a:normAutofit fontScale="92500" lnSpcReduction="10000"/>
          </a:bodyPr>
          <a:lstStyle/>
          <a:p>
            <a:pPr marL="0" indent="0">
              <a:buNone/>
            </a:pPr>
            <a:r>
              <a:rPr lang="en-US" altLang="zh-CN" sz="1500" dirty="0"/>
              <a:t>DAO</a:t>
            </a:r>
            <a:r>
              <a:rPr lang="zh-CN" altLang="en-US" sz="1500" dirty="0"/>
              <a:t>模式是为了将低级的数据访问</a:t>
            </a:r>
            <a:r>
              <a:rPr lang="en-US" altLang="zh-CN" sz="1500" dirty="0"/>
              <a:t>API</a:t>
            </a:r>
            <a:r>
              <a:rPr lang="zh-CN" altLang="en-US" sz="1500" dirty="0"/>
              <a:t>从高级的业务服务中分离出来，也是为了实现低耦合、高复用。</a:t>
            </a:r>
            <a:r>
              <a:rPr lang="en-US" altLang="zh-CN" sz="1500" dirty="0"/>
              <a:t>DAO</a:t>
            </a:r>
            <a:r>
              <a:rPr lang="zh-CN" altLang="en-US" sz="1500" dirty="0"/>
              <a:t>模式属于</a:t>
            </a:r>
            <a:r>
              <a:rPr lang="en-US" altLang="zh-CN" sz="1500" dirty="0"/>
              <a:t>J2EE</a:t>
            </a:r>
            <a:r>
              <a:rPr lang="zh-CN" altLang="en-US" sz="1500" dirty="0"/>
              <a:t>设计模式的一种，特别关注表示层。</a:t>
            </a:r>
            <a:r>
              <a:rPr lang="en-US" altLang="zh-CN" sz="1500" dirty="0"/>
              <a:t>DAO</a:t>
            </a:r>
            <a:r>
              <a:rPr lang="zh-CN" altLang="en-US" sz="1500" dirty="0"/>
              <a:t>模式主要有三个参与者：数据访问对象接口： 定义在一个模型对象上要执行的标准操作数据访问对象实体类：实现数据访问对象接口，负责从数据库等存储机制中获取数据模型对象</a:t>
            </a:r>
            <a:r>
              <a:rPr lang="en-US" altLang="zh-CN" sz="1500" dirty="0"/>
              <a:t>/</a:t>
            </a:r>
            <a:r>
              <a:rPr lang="zh-CN" altLang="en-US" sz="1500" dirty="0"/>
              <a:t>数值对象：用来存储获取到的数据的类对象</a:t>
            </a:r>
            <a:endParaRPr lang="en-US" altLang="zh-CN" sz="1500" dirty="0"/>
          </a:p>
          <a:p>
            <a:pPr marL="0" indent="0">
              <a:buNone/>
            </a:pPr>
            <a:r>
              <a:rPr lang="zh-CN" altLang="en-US" sz="1500" dirty="0"/>
              <a:t>优点：</a:t>
            </a:r>
            <a:endParaRPr lang="en-US" altLang="zh-CN" sz="1500" dirty="0"/>
          </a:p>
          <a:p>
            <a:pPr marL="342900" indent="-342900">
              <a:buAutoNum type="arabicPeriod"/>
            </a:pPr>
            <a:r>
              <a:rPr lang="zh-CN" altLang="en-US" sz="1500" dirty="0"/>
              <a:t>分离关注点：业务逻辑与数据访问逻辑完全分离</a:t>
            </a:r>
            <a:endParaRPr lang="en-US" altLang="zh-CN" sz="1500" dirty="0"/>
          </a:p>
          <a:p>
            <a:pPr marL="0" indent="0">
              <a:buNone/>
            </a:pPr>
            <a:r>
              <a:rPr lang="en-US" altLang="zh-CN" sz="1500" dirty="0"/>
              <a:t>2. </a:t>
            </a:r>
            <a:r>
              <a:rPr lang="zh-CN" altLang="en-US" sz="1500" dirty="0"/>
              <a:t>降低耦合度：业务层不依赖具体存储实现，更换存储方式（如改用数据库）只需修改 </a:t>
            </a:r>
            <a:r>
              <a:rPr lang="en-US" altLang="zh-CN" sz="1500" dirty="0"/>
              <a:t>DAO</a:t>
            </a:r>
          </a:p>
          <a:p>
            <a:pPr marL="0" indent="0">
              <a:buNone/>
            </a:pPr>
            <a:r>
              <a:rPr lang="en-US" altLang="zh-CN" sz="1500" dirty="0"/>
              <a:t>3. </a:t>
            </a:r>
            <a:r>
              <a:rPr lang="zh-CN" altLang="en-US" sz="1500" dirty="0"/>
              <a:t>提高可维护性：数据访问代码集中在一处，修改方便</a:t>
            </a:r>
          </a:p>
          <a:p>
            <a:pPr marL="0" indent="0">
              <a:buNone/>
            </a:pPr>
            <a:r>
              <a:rPr lang="en-US" altLang="zh-CN" sz="1500" dirty="0"/>
              <a:t>4. </a:t>
            </a:r>
            <a:r>
              <a:rPr lang="zh-CN" altLang="en-US" sz="1500" dirty="0"/>
              <a:t>提高可测试性：可以 </a:t>
            </a:r>
            <a:r>
              <a:rPr lang="en-US" altLang="zh-CN" sz="1500" dirty="0"/>
              <a:t>Mock DAO </a:t>
            </a:r>
            <a:r>
              <a:rPr lang="zh-CN" altLang="en-US" sz="1500" dirty="0"/>
              <a:t>进行单元测试，无需真实文件</a:t>
            </a:r>
          </a:p>
          <a:p>
            <a:pPr marL="0" indent="0">
              <a:buNone/>
            </a:pPr>
            <a:r>
              <a:rPr lang="en-US" altLang="zh-CN" sz="1500" dirty="0"/>
              <a:t>5. </a:t>
            </a:r>
            <a:r>
              <a:rPr lang="zh-CN" altLang="en-US" sz="1500" dirty="0"/>
              <a:t>代码复用：多个组件（</a:t>
            </a:r>
            <a:r>
              <a:rPr lang="en-US" altLang="zh-CN" sz="1500" dirty="0"/>
              <a:t>Menu</a:t>
            </a:r>
            <a:r>
              <a:rPr lang="zh-CN" altLang="en-US" sz="1500" dirty="0"/>
              <a:t>、</a:t>
            </a:r>
            <a:r>
              <a:rPr lang="en-US" altLang="zh-CN" sz="1500" dirty="0" err="1"/>
              <a:t>SmartSquare</a:t>
            </a:r>
            <a:r>
              <a:rPr lang="zh-CN" altLang="en-US" sz="1500" dirty="0"/>
              <a:t>）共享同一个 </a:t>
            </a:r>
            <a:r>
              <a:rPr lang="en-US" altLang="zh-CN" sz="1500" dirty="0"/>
              <a:t>DAO</a:t>
            </a:r>
          </a:p>
          <a:p>
            <a:pPr marL="0" indent="0">
              <a:buNone/>
            </a:pPr>
            <a:r>
              <a:rPr lang="en-US" altLang="zh-CN" sz="1500" dirty="0"/>
              <a:t>6. </a:t>
            </a:r>
            <a:r>
              <a:rPr lang="zh-CN" altLang="en-US" sz="1500" dirty="0"/>
              <a:t>统一接口：标准化的 </a:t>
            </a:r>
            <a:r>
              <a:rPr lang="en-US" altLang="zh-CN" sz="1500" dirty="0"/>
              <a:t>CRUD </a:t>
            </a:r>
            <a:r>
              <a:rPr lang="zh-CN" altLang="en-US" sz="1500" dirty="0"/>
              <a:t>操作，便于理解和协作</a:t>
            </a:r>
          </a:p>
        </p:txBody>
      </p:sp>
      <p:pic>
        <p:nvPicPr>
          <p:cNvPr id="6" name="图片 5">
            <a:extLst>
              <a:ext uri="{FF2B5EF4-FFF2-40B4-BE49-F238E27FC236}">
                <a16:creationId xmlns:a16="http://schemas.microsoft.com/office/drawing/2014/main" id="{A6763D02-1810-150E-5571-9BC7F4F25F58}"/>
              </a:ext>
            </a:extLst>
          </p:cNvPr>
          <p:cNvPicPr>
            <a:picLocks noChangeAspect="1"/>
          </p:cNvPicPr>
          <p:nvPr/>
        </p:nvPicPr>
        <p:blipFill>
          <a:blip r:embed="rId2"/>
          <a:stretch>
            <a:fillRect/>
          </a:stretch>
        </p:blipFill>
        <p:spPr>
          <a:xfrm>
            <a:off x="4973629" y="406313"/>
            <a:ext cx="7077856" cy="6217126"/>
          </a:xfrm>
          <a:prstGeom prst="rect">
            <a:avLst/>
          </a:prstGeom>
        </p:spPr>
      </p:pic>
      <p:sp>
        <p:nvSpPr>
          <p:cNvPr id="7" name="文本框 6">
            <a:extLst>
              <a:ext uri="{FF2B5EF4-FFF2-40B4-BE49-F238E27FC236}">
                <a16:creationId xmlns:a16="http://schemas.microsoft.com/office/drawing/2014/main" id="{A526D021-CBA2-15B0-9002-483990520602}"/>
              </a:ext>
            </a:extLst>
          </p:cNvPr>
          <p:cNvSpPr txBox="1"/>
          <p:nvPr/>
        </p:nvSpPr>
        <p:spPr>
          <a:xfrm>
            <a:off x="8910734" y="3789260"/>
            <a:ext cx="3140751" cy="1477328"/>
          </a:xfrm>
          <a:prstGeom prst="rect">
            <a:avLst/>
          </a:prstGeom>
          <a:noFill/>
        </p:spPr>
        <p:txBody>
          <a:bodyPr wrap="square" rtlCol="0">
            <a:spAutoFit/>
          </a:bodyPr>
          <a:lstStyle/>
          <a:p>
            <a:r>
              <a:rPr lang="en-US" altLang="zh-CN" sz="1500" dirty="0"/>
              <a:t>DAO </a:t>
            </a:r>
            <a:r>
              <a:rPr lang="zh-CN" altLang="en-US" sz="1500" dirty="0"/>
              <a:t>模式要素：对应实现</a:t>
            </a:r>
          </a:p>
          <a:p>
            <a:r>
              <a:rPr lang="en-US" altLang="zh-CN" sz="1500" dirty="0"/>
              <a:t>DAO </a:t>
            </a:r>
            <a:r>
              <a:rPr lang="zh-CN" altLang="en-US" sz="1500" dirty="0"/>
              <a:t>接口	：</a:t>
            </a:r>
            <a:r>
              <a:rPr lang="en-US" altLang="zh-CN" sz="1500" dirty="0" err="1"/>
              <a:t>RecordDAO</a:t>
            </a:r>
            <a:r>
              <a:rPr lang="zh-CN" altLang="en-US" sz="1500" dirty="0"/>
              <a:t>（概念上，提供 </a:t>
            </a:r>
            <a:r>
              <a:rPr lang="en-US" altLang="zh-CN" sz="1500" dirty="0"/>
              <a:t>CRUD </a:t>
            </a:r>
            <a:r>
              <a:rPr lang="zh-CN" altLang="en-US" sz="1500" dirty="0"/>
              <a:t>方法）</a:t>
            </a:r>
          </a:p>
          <a:p>
            <a:r>
              <a:rPr lang="en-US" altLang="zh-CN" sz="1500" dirty="0"/>
              <a:t>DAO </a:t>
            </a:r>
            <a:r>
              <a:rPr lang="zh-CN" altLang="en-US" sz="1500" dirty="0"/>
              <a:t>实现：</a:t>
            </a:r>
            <a:r>
              <a:rPr lang="en-US" altLang="zh-CN" sz="1500" dirty="0" err="1"/>
              <a:t>RecordManager</a:t>
            </a:r>
            <a:endParaRPr lang="en-US" altLang="zh-CN" sz="1500" dirty="0"/>
          </a:p>
          <a:p>
            <a:r>
              <a:rPr lang="zh-CN" altLang="en-US" sz="1500" dirty="0"/>
              <a:t>数据源：</a:t>
            </a:r>
            <a:r>
              <a:rPr lang="en-US" altLang="zh-CN" sz="1500" dirty="0"/>
              <a:t>records.dat </a:t>
            </a:r>
            <a:r>
              <a:rPr lang="zh-CN" altLang="en-US" sz="1500" dirty="0"/>
              <a:t>文件</a:t>
            </a:r>
          </a:p>
          <a:p>
            <a:r>
              <a:rPr lang="zh-CN" altLang="en-US" sz="1500" dirty="0"/>
              <a:t>客户端：</a:t>
            </a:r>
            <a:r>
              <a:rPr lang="en-US" altLang="zh-CN" sz="1500" dirty="0"/>
              <a:t>Menu</a:t>
            </a:r>
            <a:r>
              <a:rPr lang="zh-CN" altLang="en-US" sz="1500" dirty="0"/>
              <a:t>、</a:t>
            </a:r>
            <a:r>
              <a:rPr lang="en-US" altLang="zh-CN" sz="1500" dirty="0" err="1"/>
              <a:t>SmartSquare</a:t>
            </a:r>
            <a:endParaRPr lang="zh-CN" altLang="en-US" sz="1500" dirty="0"/>
          </a:p>
        </p:txBody>
      </p:sp>
    </p:spTree>
    <p:extLst>
      <p:ext uri="{BB962C8B-B14F-4D97-AF65-F5344CB8AC3E}">
        <p14:creationId xmlns:p14="http://schemas.microsoft.com/office/powerpoint/2010/main" val="2259918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964B9A1-D16D-C52E-B1E0-90233D66D36B}"/>
              </a:ext>
            </a:extLst>
          </p:cNvPr>
          <p:cNvSpPr>
            <a:spLocks noGrp="1"/>
          </p:cNvSpPr>
          <p:nvPr>
            <p:ph idx="1"/>
          </p:nvPr>
        </p:nvSpPr>
        <p:spPr>
          <a:xfrm>
            <a:off x="660400" y="1130300"/>
            <a:ext cx="4350139" cy="2573953"/>
          </a:xfrm>
        </p:spPr>
        <p:txBody>
          <a:bodyPr>
            <a:normAutofit/>
          </a:bodyPr>
          <a:lstStyle/>
          <a:p>
            <a:pPr marL="0" indent="0">
              <a:buNone/>
            </a:pPr>
            <a:r>
              <a:rPr lang="zh-CN" altLang="en-US" sz="1500" dirty="0"/>
              <a:t>多主题皮肤系统</a:t>
            </a:r>
          </a:p>
          <a:p>
            <a:pPr marL="0" indent="0">
              <a:buNone/>
            </a:pPr>
            <a:r>
              <a:rPr lang="en-US" altLang="zh-CN" sz="1500" dirty="0" err="1"/>
              <a:t>ThemeManager</a:t>
            </a:r>
            <a:r>
              <a:rPr lang="en-US" altLang="zh-CN" sz="1500" dirty="0"/>
              <a:t> - </a:t>
            </a:r>
            <a:r>
              <a:rPr lang="zh-CN" altLang="en-US" sz="1500" dirty="0"/>
              <a:t>主题管理器</a:t>
            </a:r>
          </a:p>
          <a:p>
            <a:pPr marL="0" indent="0">
              <a:buNone/>
            </a:pPr>
            <a:r>
              <a:rPr lang="en-US" altLang="zh-CN" sz="1500" dirty="0" err="1"/>
              <a:t>ThemeGenerator</a:t>
            </a:r>
            <a:r>
              <a:rPr lang="en-US" altLang="zh-CN" sz="1500" dirty="0"/>
              <a:t> - </a:t>
            </a:r>
            <a:r>
              <a:rPr lang="zh-CN" altLang="en-US" sz="1500" dirty="0"/>
              <a:t>主题图片生成器</a:t>
            </a:r>
          </a:p>
          <a:p>
            <a:pPr marL="0" indent="0">
              <a:buNone/>
            </a:pPr>
            <a:r>
              <a:rPr lang="zh-CN" altLang="en-US" sz="1500" dirty="0"/>
              <a:t>支持 </a:t>
            </a:r>
            <a:r>
              <a:rPr lang="en-US" altLang="zh-CN" sz="1500" dirty="0"/>
              <a:t>5 </a:t>
            </a:r>
            <a:r>
              <a:rPr lang="zh-CN" altLang="en-US" sz="1500" dirty="0"/>
              <a:t>种主题：经典、暗黑、海洋、森林、像素</a:t>
            </a:r>
          </a:p>
          <a:p>
            <a:pPr marL="0" indent="0">
              <a:buNone/>
            </a:pPr>
            <a:r>
              <a:rPr lang="zh-CN" altLang="en-US" sz="1500" dirty="0"/>
              <a:t>自动扫描 </a:t>
            </a:r>
            <a:r>
              <a:rPr lang="en-US" altLang="zh-CN" sz="1500" dirty="0"/>
              <a:t>themes </a:t>
            </a:r>
            <a:r>
              <a:rPr lang="zh-CN" altLang="en-US" sz="1500" dirty="0"/>
              <a:t>文件夹</a:t>
            </a:r>
          </a:p>
          <a:p>
            <a:pPr marL="0" indent="0">
              <a:buNone/>
            </a:pPr>
            <a:r>
              <a:rPr lang="zh-CN" altLang="en-US" sz="1500" dirty="0"/>
              <a:t>主题图片回退机制（缺失图片使用默认主题）</a:t>
            </a:r>
          </a:p>
        </p:txBody>
      </p:sp>
      <p:sp>
        <p:nvSpPr>
          <p:cNvPr id="4" name="标题 1">
            <a:extLst>
              <a:ext uri="{FF2B5EF4-FFF2-40B4-BE49-F238E27FC236}">
                <a16:creationId xmlns:a16="http://schemas.microsoft.com/office/drawing/2014/main" id="{C73AB114-BD77-3A9A-2401-41FE4B4C2355}"/>
              </a:ext>
            </a:extLst>
          </p:cNvPr>
          <p:cNvSpPr>
            <a:spLocks noGrp="1"/>
          </p:cNvSpPr>
          <p:nvPr>
            <p:ph type="title"/>
          </p:nvPr>
        </p:nvSpPr>
        <p:spPr>
          <a:xfrm>
            <a:off x="660400" y="128588"/>
            <a:ext cx="10858500" cy="900112"/>
          </a:xfrm>
        </p:spPr>
        <p:txBody>
          <a:bodyPr>
            <a:normAutofit/>
          </a:bodyPr>
          <a:lstStyle/>
          <a:p>
            <a:r>
              <a:rPr lang="zh-CN" altLang="en-US" sz="4400" b="0" dirty="0">
                <a:latin typeface="等线 Light" panose="02010600030101010101" pitchFamily="2" charset="-122"/>
                <a:ea typeface="等线 Light" panose="02010600030101010101" pitchFamily="2" charset="-122"/>
              </a:rPr>
              <a:t>主题选择功能</a:t>
            </a:r>
          </a:p>
        </p:txBody>
      </p:sp>
      <p:pic>
        <p:nvPicPr>
          <p:cNvPr id="5" name="图片 4">
            <a:extLst>
              <a:ext uri="{FF2B5EF4-FFF2-40B4-BE49-F238E27FC236}">
                <a16:creationId xmlns:a16="http://schemas.microsoft.com/office/drawing/2014/main" id="{A9AD9131-E68F-5D86-D6C2-C877265F3570}"/>
              </a:ext>
            </a:extLst>
          </p:cNvPr>
          <p:cNvPicPr>
            <a:picLocks noChangeAspect="1"/>
          </p:cNvPicPr>
          <p:nvPr/>
        </p:nvPicPr>
        <p:blipFill>
          <a:blip r:embed="rId2"/>
          <a:stretch>
            <a:fillRect/>
          </a:stretch>
        </p:blipFill>
        <p:spPr>
          <a:xfrm>
            <a:off x="1038355" y="3704253"/>
            <a:ext cx="2314898" cy="1124107"/>
          </a:xfrm>
          <a:prstGeom prst="rect">
            <a:avLst/>
          </a:prstGeom>
        </p:spPr>
      </p:pic>
      <p:pic>
        <p:nvPicPr>
          <p:cNvPr id="6" name="图片 5">
            <a:extLst>
              <a:ext uri="{FF2B5EF4-FFF2-40B4-BE49-F238E27FC236}">
                <a16:creationId xmlns:a16="http://schemas.microsoft.com/office/drawing/2014/main" id="{F4891DFD-65AE-95F1-3085-F23C78858817}"/>
              </a:ext>
            </a:extLst>
          </p:cNvPr>
          <p:cNvPicPr>
            <a:picLocks noChangeAspect="1"/>
          </p:cNvPicPr>
          <p:nvPr/>
        </p:nvPicPr>
        <p:blipFill>
          <a:blip r:embed="rId3"/>
          <a:stretch>
            <a:fillRect/>
          </a:stretch>
        </p:blipFill>
        <p:spPr>
          <a:xfrm>
            <a:off x="4937702" y="666489"/>
            <a:ext cx="1943371" cy="2333951"/>
          </a:xfrm>
          <a:prstGeom prst="rect">
            <a:avLst/>
          </a:prstGeom>
        </p:spPr>
      </p:pic>
    </p:spTree>
    <p:extLst>
      <p:ext uri="{BB962C8B-B14F-4D97-AF65-F5344CB8AC3E}">
        <p14:creationId xmlns:p14="http://schemas.microsoft.com/office/powerpoint/2010/main" val="4138435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13C965-94DF-4D77-3D34-8568754CBD0A}"/>
              </a:ext>
            </a:extLst>
          </p:cNvPr>
          <p:cNvSpPr>
            <a:spLocks noGrp="1"/>
          </p:cNvSpPr>
          <p:nvPr>
            <p:ph type="title"/>
          </p:nvPr>
        </p:nvSpPr>
        <p:spPr>
          <a:xfrm>
            <a:off x="246472" y="-400810"/>
            <a:ext cx="10858500" cy="900112"/>
          </a:xfrm>
        </p:spPr>
        <p:txBody>
          <a:bodyPr/>
          <a:lstStyle/>
          <a:p>
            <a:r>
              <a:rPr lang="zh-CN" altLang="en-US" dirty="0"/>
              <a:t>使用的设计模式</a:t>
            </a:r>
          </a:p>
        </p:txBody>
      </p:sp>
      <p:sp>
        <p:nvSpPr>
          <p:cNvPr id="3" name="内容占位符 2">
            <a:extLst>
              <a:ext uri="{FF2B5EF4-FFF2-40B4-BE49-F238E27FC236}">
                <a16:creationId xmlns:a16="http://schemas.microsoft.com/office/drawing/2014/main" id="{D791D0E1-D492-B029-BCB2-E56A3BB1B5C8}"/>
              </a:ext>
            </a:extLst>
          </p:cNvPr>
          <p:cNvSpPr>
            <a:spLocks noGrp="1"/>
          </p:cNvSpPr>
          <p:nvPr>
            <p:ph idx="1"/>
          </p:nvPr>
        </p:nvSpPr>
        <p:spPr>
          <a:xfrm>
            <a:off x="264767" y="571499"/>
            <a:ext cx="4088882" cy="325276"/>
          </a:xfrm>
        </p:spPr>
        <p:txBody>
          <a:bodyPr>
            <a:noAutofit/>
          </a:bodyPr>
          <a:lstStyle/>
          <a:p>
            <a:pPr marL="0" indent="0">
              <a:buNone/>
            </a:pPr>
            <a:r>
              <a:rPr lang="en-US" altLang="zh-CN" sz="1500" i="0" dirty="0">
                <a:effectLst/>
                <a:latin typeface="Segoe WPC"/>
              </a:rPr>
              <a:t>1. </a:t>
            </a:r>
            <a:r>
              <a:rPr lang="zh-CN" altLang="en-US" sz="1500" i="0" dirty="0">
                <a:effectLst/>
                <a:latin typeface="Segoe WPC"/>
              </a:rPr>
              <a:t>单例模式</a:t>
            </a:r>
            <a:r>
              <a:rPr lang="zh-CN" altLang="en-US" sz="1500" dirty="0">
                <a:latin typeface="Segoe WPC"/>
              </a:rPr>
              <a:t>：</a:t>
            </a:r>
            <a:r>
              <a:rPr lang="zh-CN" altLang="en-US" sz="1500" i="0" dirty="0">
                <a:effectLst/>
                <a:latin typeface="Segoe WPC"/>
              </a:rPr>
              <a:t>在以下 </a:t>
            </a:r>
            <a:r>
              <a:rPr lang="en-US" altLang="zh-CN" sz="1500" i="0" dirty="0">
                <a:effectLst/>
                <a:latin typeface="Segoe WPC"/>
              </a:rPr>
              <a:t>3 </a:t>
            </a:r>
            <a:r>
              <a:rPr lang="zh-CN" altLang="en-US" sz="1500" i="0" dirty="0">
                <a:effectLst/>
                <a:latin typeface="Segoe WPC"/>
              </a:rPr>
              <a:t>个类中使用：</a:t>
            </a:r>
          </a:p>
          <a:p>
            <a:pPr marL="342900" indent="-342900">
              <a:buAutoNum type="arabicPeriod"/>
            </a:pPr>
            <a:r>
              <a:rPr lang="en-US" altLang="zh-CN" sz="1500" i="0" dirty="0">
                <a:effectLst/>
                <a:latin typeface="Segoe WPC"/>
              </a:rPr>
              <a:t>ThemeManager.java</a:t>
            </a:r>
          </a:p>
          <a:p>
            <a:pPr marL="342900" indent="-342900">
              <a:buAutoNum type="arabicPeriod"/>
            </a:pPr>
            <a:r>
              <a:rPr lang="en-US" altLang="zh-CN" sz="1500" i="0" dirty="0">
                <a:effectLst/>
                <a:latin typeface="Segoe WPC"/>
              </a:rPr>
              <a:t>ImageFlyweightFactory.java</a:t>
            </a:r>
          </a:p>
          <a:p>
            <a:pPr marL="342900" indent="-342900">
              <a:buAutoNum type="arabicPeriod"/>
            </a:pPr>
            <a:r>
              <a:rPr lang="en-US" altLang="zh-CN" sz="1500" i="0" dirty="0">
                <a:effectLst/>
                <a:latin typeface="Segoe WPC"/>
              </a:rPr>
              <a:t>ThemeFactoryProvider.java</a:t>
            </a:r>
          </a:p>
          <a:p>
            <a:pPr marL="342900" indent="-342900">
              <a:buAutoNum type="arabicPeriod"/>
            </a:pPr>
            <a:endParaRPr lang="en-US" altLang="zh-CN" sz="1500" i="0" dirty="0">
              <a:effectLst/>
              <a:latin typeface="Segoe WPC"/>
            </a:endParaRPr>
          </a:p>
        </p:txBody>
      </p:sp>
      <p:sp>
        <p:nvSpPr>
          <p:cNvPr id="4" name="文本框 3">
            <a:extLst>
              <a:ext uri="{FF2B5EF4-FFF2-40B4-BE49-F238E27FC236}">
                <a16:creationId xmlns:a16="http://schemas.microsoft.com/office/drawing/2014/main" id="{849182C5-B5B0-6EE3-1213-4DFA99939F94}"/>
              </a:ext>
            </a:extLst>
          </p:cNvPr>
          <p:cNvSpPr txBox="1"/>
          <p:nvPr/>
        </p:nvSpPr>
        <p:spPr>
          <a:xfrm>
            <a:off x="5906279" y="571499"/>
            <a:ext cx="6130212" cy="323165"/>
          </a:xfrm>
          <a:prstGeom prst="rect">
            <a:avLst/>
          </a:prstGeom>
          <a:noFill/>
        </p:spPr>
        <p:txBody>
          <a:bodyPr wrap="square" rtlCol="0">
            <a:spAutoFit/>
          </a:bodyPr>
          <a:lstStyle/>
          <a:p>
            <a:r>
              <a:rPr lang="en-US" altLang="zh-CN" sz="1500" dirty="0"/>
              <a:t>2. </a:t>
            </a:r>
            <a:r>
              <a:rPr lang="zh-CN" altLang="en-US" sz="1500" dirty="0"/>
              <a:t>模板方法模式：模板方法模式在 </a:t>
            </a:r>
            <a:r>
              <a:rPr lang="en-US" altLang="zh-CN" sz="1500" dirty="0"/>
              <a:t>AbstractThemeFactory.java </a:t>
            </a:r>
            <a:r>
              <a:rPr lang="zh-CN" altLang="en-US" sz="1500" dirty="0"/>
              <a:t>中体现</a:t>
            </a:r>
          </a:p>
        </p:txBody>
      </p:sp>
      <p:pic>
        <p:nvPicPr>
          <p:cNvPr id="5" name="图片 4">
            <a:extLst>
              <a:ext uri="{FF2B5EF4-FFF2-40B4-BE49-F238E27FC236}">
                <a16:creationId xmlns:a16="http://schemas.microsoft.com/office/drawing/2014/main" id="{E7D85FE2-EE30-BAC7-DD3D-DFB84B6A9B30}"/>
              </a:ext>
            </a:extLst>
          </p:cNvPr>
          <p:cNvPicPr>
            <a:picLocks noChangeAspect="1"/>
          </p:cNvPicPr>
          <p:nvPr/>
        </p:nvPicPr>
        <p:blipFill>
          <a:blip r:embed="rId2"/>
          <a:stretch>
            <a:fillRect/>
          </a:stretch>
        </p:blipFill>
        <p:spPr>
          <a:xfrm>
            <a:off x="0" y="2361573"/>
            <a:ext cx="5410955" cy="4496427"/>
          </a:xfrm>
          <a:prstGeom prst="rect">
            <a:avLst/>
          </a:prstGeom>
        </p:spPr>
      </p:pic>
      <p:sp>
        <p:nvSpPr>
          <p:cNvPr id="6" name="文本框 5">
            <a:extLst>
              <a:ext uri="{FF2B5EF4-FFF2-40B4-BE49-F238E27FC236}">
                <a16:creationId xmlns:a16="http://schemas.microsoft.com/office/drawing/2014/main" id="{A23D64C7-5659-5791-CA07-56E64A809433}"/>
              </a:ext>
            </a:extLst>
          </p:cNvPr>
          <p:cNvSpPr txBox="1"/>
          <p:nvPr/>
        </p:nvSpPr>
        <p:spPr>
          <a:xfrm>
            <a:off x="6027576" y="1184988"/>
            <a:ext cx="5523722" cy="323165"/>
          </a:xfrm>
          <a:prstGeom prst="rect">
            <a:avLst/>
          </a:prstGeom>
          <a:noFill/>
        </p:spPr>
        <p:txBody>
          <a:bodyPr wrap="square" rtlCol="0">
            <a:spAutoFit/>
          </a:bodyPr>
          <a:lstStyle/>
          <a:p>
            <a:r>
              <a:rPr lang="en-US" altLang="zh-CN" sz="1500" dirty="0"/>
              <a:t>3. </a:t>
            </a:r>
            <a:r>
              <a:rPr lang="zh-CN" altLang="en-US" sz="1500" dirty="0"/>
              <a:t>抽象工厂模式：创建一系列相关的主题元素</a:t>
            </a:r>
          </a:p>
        </p:txBody>
      </p:sp>
      <p:pic>
        <p:nvPicPr>
          <p:cNvPr id="9" name="图片 8">
            <a:extLst>
              <a:ext uri="{FF2B5EF4-FFF2-40B4-BE49-F238E27FC236}">
                <a16:creationId xmlns:a16="http://schemas.microsoft.com/office/drawing/2014/main" id="{FFB7E373-AF6B-6BC5-B3FF-0E28B6A2D947}"/>
              </a:ext>
            </a:extLst>
          </p:cNvPr>
          <p:cNvPicPr>
            <a:picLocks noChangeAspect="1"/>
          </p:cNvPicPr>
          <p:nvPr/>
        </p:nvPicPr>
        <p:blipFill>
          <a:blip r:embed="rId3"/>
          <a:stretch>
            <a:fillRect/>
          </a:stretch>
        </p:blipFill>
        <p:spPr>
          <a:xfrm>
            <a:off x="5431055" y="1798477"/>
            <a:ext cx="6716764" cy="4885646"/>
          </a:xfrm>
          <a:prstGeom prst="rect">
            <a:avLst/>
          </a:prstGeom>
        </p:spPr>
      </p:pic>
    </p:spTree>
    <p:extLst>
      <p:ext uri="{BB962C8B-B14F-4D97-AF65-F5344CB8AC3E}">
        <p14:creationId xmlns:p14="http://schemas.microsoft.com/office/powerpoint/2010/main" val="3776910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2E95EE5-4797-61F7-EDC8-DEE8B35E0A15}"/>
              </a:ext>
            </a:extLst>
          </p:cNvPr>
          <p:cNvSpPr>
            <a:spLocks noGrp="1"/>
          </p:cNvSpPr>
          <p:nvPr>
            <p:ph idx="1"/>
          </p:nvPr>
        </p:nvSpPr>
        <p:spPr>
          <a:xfrm>
            <a:off x="212530" y="243891"/>
            <a:ext cx="3892939" cy="381259"/>
          </a:xfrm>
        </p:spPr>
        <p:txBody>
          <a:bodyPr>
            <a:noAutofit/>
          </a:bodyPr>
          <a:lstStyle/>
          <a:p>
            <a:pPr marL="0" indent="0">
              <a:buNone/>
            </a:pPr>
            <a:r>
              <a:rPr lang="en-US" altLang="zh-CN" sz="1500" dirty="0"/>
              <a:t>4. </a:t>
            </a:r>
            <a:r>
              <a:rPr lang="zh-CN" altLang="en-US" sz="1500" dirty="0"/>
              <a:t>享元模式：共享图片资源，减少内存占用</a:t>
            </a:r>
          </a:p>
        </p:txBody>
      </p:sp>
      <p:pic>
        <p:nvPicPr>
          <p:cNvPr id="4" name="图片 3">
            <a:extLst>
              <a:ext uri="{FF2B5EF4-FFF2-40B4-BE49-F238E27FC236}">
                <a16:creationId xmlns:a16="http://schemas.microsoft.com/office/drawing/2014/main" id="{0740A7A4-51F3-751E-0769-3E5D43234D41}"/>
              </a:ext>
            </a:extLst>
          </p:cNvPr>
          <p:cNvPicPr>
            <a:picLocks noChangeAspect="1"/>
          </p:cNvPicPr>
          <p:nvPr/>
        </p:nvPicPr>
        <p:blipFill>
          <a:blip r:embed="rId2"/>
          <a:stretch>
            <a:fillRect/>
          </a:stretch>
        </p:blipFill>
        <p:spPr>
          <a:xfrm>
            <a:off x="91232" y="909637"/>
            <a:ext cx="5619750" cy="5038725"/>
          </a:xfrm>
          <a:prstGeom prst="rect">
            <a:avLst/>
          </a:prstGeom>
        </p:spPr>
      </p:pic>
    </p:spTree>
    <p:extLst>
      <p:ext uri="{BB962C8B-B14F-4D97-AF65-F5344CB8AC3E}">
        <p14:creationId xmlns:p14="http://schemas.microsoft.com/office/powerpoint/2010/main" val="9576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4A60B4D-4513-2B27-F4F8-DAF5165F9841}"/>
              </a:ext>
            </a:extLst>
          </p:cNvPr>
          <p:cNvSpPr>
            <a:spLocks noGrp="1"/>
          </p:cNvSpPr>
          <p:nvPr>
            <p:ph idx="1"/>
          </p:nvPr>
        </p:nvSpPr>
        <p:spPr>
          <a:xfrm>
            <a:off x="88252" y="374520"/>
            <a:ext cx="6365423" cy="6184900"/>
          </a:xfrm>
        </p:spPr>
        <p:txBody>
          <a:bodyPr>
            <a:normAutofit lnSpcReduction="10000"/>
          </a:bodyPr>
          <a:lstStyle/>
          <a:p>
            <a:pPr marL="0" indent="0">
              <a:buNone/>
            </a:pPr>
            <a:r>
              <a:rPr lang="en-US" altLang="zh-CN" sz="1500" dirty="0"/>
              <a:t>5. </a:t>
            </a:r>
            <a:r>
              <a:rPr lang="zh-CN" altLang="en-US" sz="1500" dirty="0"/>
              <a:t>建造者模式</a:t>
            </a:r>
            <a:endParaRPr lang="en-US" altLang="zh-CN" sz="1500" dirty="0"/>
          </a:p>
          <a:p>
            <a:pPr marL="0" indent="0">
              <a:buNone/>
            </a:pPr>
            <a:r>
              <a:rPr lang="zh-CN" altLang="en-US" sz="1500" dirty="0"/>
              <a:t>一、什么是建造者模式</a:t>
            </a:r>
            <a:endParaRPr lang="en-US" altLang="zh-CN" sz="1500" dirty="0"/>
          </a:p>
          <a:p>
            <a:pPr marL="0" indent="0">
              <a:buNone/>
            </a:pPr>
            <a:r>
              <a:rPr lang="zh-CN" altLang="en-US" sz="1500" dirty="0"/>
              <a:t>建造者模式是一种创建型设计模式，也叫生成器模式。</a:t>
            </a:r>
            <a:endParaRPr lang="en-US" altLang="zh-CN" sz="1500" dirty="0"/>
          </a:p>
          <a:p>
            <a:pPr marL="0" indent="0">
              <a:buNone/>
            </a:pPr>
            <a:r>
              <a:rPr lang="zh-CN" altLang="en-US" sz="1500" dirty="0"/>
              <a:t>定义：封装一个复杂对象构造过程，并允许按步骤构造。解释：就是将复杂对象的创建过程拆分成多个简单对象的创建过程，并将这些简单对象组合起来构建出复杂对象。</a:t>
            </a:r>
            <a:endParaRPr lang="en-US" altLang="zh-CN" sz="1500" dirty="0"/>
          </a:p>
          <a:p>
            <a:pPr marL="0" indent="0">
              <a:buNone/>
            </a:pPr>
            <a:r>
              <a:rPr lang="zh-CN" altLang="en-US" sz="1500" dirty="0"/>
              <a:t>二、角色组成产品类（</a:t>
            </a:r>
            <a:r>
              <a:rPr lang="en-US" altLang="zh-CN" sz="1500" dirty="0"/>
              <a:t>Product</a:t>
            </a:r>
            <a:r>
              <a:rPr lang="zh-CN" altLang="en-US" sz="1500" dirty="0"/>
              <a:t>）：表示被创建的复杂对象。它通常包含多个部分或者组成，并由具体的建造者逐步构建而成。抽象建造者类（</a:t>
            </a:r>
            <a:r>
              <a:rPr lang="en-US" altLang="zh-CN" sz="1500" dirty="0"/>
              <a:t>Builder</a:t>
            </a:r>
            <a:r>
              <a:rPr lang="zh-CN" altLang="en-US" sz="1500" dirty="0"/>
              <a:t>）：定义了建造复杂对象所需要的各个部分的创建方法。它通常包括多个构建方法和一个返回产品的方法。具体建造者类（</a:t>
            </a:r>
            <a:r>
              <a:rPr lang="en-US" altLang="zh-CN" sz="1500" dirty="0" err="1"/>
              <a:t>ConcreteBuilder</a:t>
            </a:r>
            <a:r>
              <a:rPr lang="zh-CN" altLang="en-US" sz="1500" dirty="0"/>
              <a:t>）：实现</a:t>
            </a:r>
            <a:r>
              <a:rPr lang="en-US" altLang="zh-CN" sz="1500" dirty="0"/>
              <a:t>Builder</a:t>
            </a:r>
            <a:r>
              <a:rPr lang="zh-CN" altLang="en-US" sz="1500" dirty="0"/>
              <a:t>接口，并提供各个部分或者组成的构建方法。指挥者类（</a:t>
            </a:r>
            <a:r>
              <a:rPr lang="en-US" altLang="zh-CN" sz="1500" dirty="0"/>
              <a:t>Director</a:t>
            </a:r>
            <a:r>
              <a:rPr lang="zh-CN" altLang="en-US" sz="1500" dirty="0"/>
              <a:t>）：负责控制建造者的构建顺序，指挥建造者如何构建复杂对象。</a:t>
            </a:r>
            <a:endParaRPr lang="en-US" altLang="zh-CN" sz="1500" dirty="0"/>
          </a:p>
          <a:p>
            <a:pPr marL="0" indent="0">
              <a:buNone/>
            </a:pPr>
            <a:r>
              <a:rPr lang="zh-CN" altLang="en-US" sz="1500" dirty="0"/>
              <a:t>三、优缺点优点：</a:t>
            </a:r>
            <a:endParaRPr lang="en-US" altLang="zh-CN" sz="1500" dirty="0"/>
          </a:p>
          <a:p>
            <a:pPr marL="0" indent="0">
              <a:buNone/>
            </a:pPr>
            <a:r>
              <a:rPr lang="zh-CN" altLang="en-US" sz="1500" dirty="0"/>
              <a:t>灵活：可以分步骤地构建复杂对象，使得构建过程更加灵活。解耦：可以隔离复杂对象的创建和使用，客户端不必关心对象的创建细节。易扩展：增加新的具体建造者很方便，可以扩展构建器功能，符合开闭原则。</a:t>
            </a:r>
            <a:endParaRPr lang="en-US" altLang="zh-CN" sz="1500" dirty="0"/>
          </a:p>
          <a:p>
            <a:pPr marL="0" indent="0">
              <a:buNone/>
            </a:pPr>
            <a:r>
              <a:rPr lang="zh-CN" altLang="en-US" sz="1500" dirty="0"/>
              <a:t>缺点：增加工作量：需要额外的代码来创建和管理具体建造者类，增加了程序员的工作量。效率低：相比于其他创建型模式，在运行时效率较低，特别是对象太复杂时。</a:t>
            </a:r>
          </a:p>
        </p:txBody>
      </p:sp>
      <p:pic>
        <p:nvPicPr>
          <p:cNvPr id="4" name="图片 3">
            <a:extLst>
              <a:ext uri="{FF2B5EF4-FFF2-40B4-BE49-F238E27FC236}">
                <a16:creationId xmlns:a16="http://schemas.microsoft.com/office/drawing/2014/main" id="{41C40D37-5CE5-BA9B-DD16-065817A724CC}"/>
              </a:ext>
            </a:extLst>
          </p:cNvPr>
          <p:cNvPicPr>
            <a:picLocks noChangeAspect="1"/>
          </p:cNvPicPr>
          <p:nvPr/>
        </p:nvPicPr>
        <p:blipFill>
          <a:blip r:embed="rId2"/>
          <a:stretch>
            <a:fillRect/>
          </a:stretch>
        </p:blipFill>
        <p:spPr>
          <a:xfrm>
            <a:off x="6453675" y="0"/>
            <a:ext cx="4812994" cy="6858000"/>
          </a:xfrm>
          <a:prstGeom prst="rect">
            <a:avLst/>
          </a:prstGeom>
        </p:spPr>
      </p:pic>
    </p:spTree>
    <p:extLst>
      <p:ext uri="{BB962C8B-B14F-4D97-AF65-F5344CB8AC3E}">
        <p14:creationId xmlns:p14="http://schemas.microsoft.com/office/powerpoint/2010/main" val="2950435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4FCC-5933-6E59-5552-E329458E4D5C}"/>
              </a:ext>
            </a:extLst>
          </p:cNvPr>
          <p:cNvSpPr>
            <a:spLocks noGrp="1"/>
          </p:cNvSpPr>
          <p:nvPr>
            <p:ph type="title"/>
          </p:nvPr>
        </p:nvSpPr>
        <p:spPr>
          <a:xfrm>
            <a:off x="857170" y="1130300"/>
            <a:ext cx="7253368" cy="1371600"/>
          </a:xfrm>
        </p:spPr>
        <p:txBody>
          <a:bodyPr/>
          <a:lstStyle/>
          <a:p>
            <a:pPr lvl="0"/>
            <a:r>
              <a:rPr lang="zh-CN" altLang="en-US" dirty="0"/>
              <a:t>主要界面</a:t>
            </a:r>
            <a:endParaRPr lang="en-US" dirty="0"/>
          </a:p>
        </p:txBody>
      </p:sp>
      <p:sp>
        <p:nvSpPr>
          <p:cNvPr id="3" name="Text Placeholder 2">
            <a:extLst>
              <a:ext uri="{FF2B5EF4-FFF2-40B4-BE49-F238E27FC236}">
                <a16:creationId xmlns:a16="http://schemas.microsoft.com/office/drawing/2014/main" id="{EF6A9821-1319-56D4-E67C-25330DC8ACB8}"/>
              </a:ext>
            </a:extLst>
          </p:cNvPr>
          <p:cNvSpPr>
            <a:spLocks noGrp="1"/>
          </p:cNvSpPr>
          <p:nvPr>
            <p:ph type="body" idx="1"/>
          </p:nvPr>
        </p:nvSpPr>
        <p:spPr>
          <a:xfrm>
            <a:off x="857170" y="2507405"/>
            <a:ext cx="7253368" cy="1371600"/>
          </a:xfrm>
        </p:spPr>
        <p:txBody>
          <a:bodyPr/>
          <a:lstStyle/>
          <a:p>
            <a:pPr lvl="0"/>
            <a:r>
              <a:rPr lang="en-US"/>
              <a:t>Click to add text</a:t>
            </a:r>
          </a:p>
        </p:txBody>
      </p:sp>
      <p:sp>
        <p:nvSpPr>
          <p:cNvPr id="4" name="Slide Number Placeholder 3">
            <a:extLst>
              <a:ext uri="{FF2B5EF4-FFF2-40B4-BE49-F238E27FC236}">
                <a16:creationId xmlns:a16="http://schemas.microsoft.com/office/drawing/2014/main" id="{FD1D7CBC-F975-8DE9-35EC-139DE50F2B9A}"/>
              </a:ext>
            </a:extLst>
          </p:cNvPr>
          <p:cNvSpPr>
            <a:spLocks noGrp="1"/>
          </p:cNvSpPr>
          <p:nvPr>
            <p:ph type="sldNum" sz="quarter" idx="12"/>
          </p:nvPr>
        </p:nvSpPr>
        <p:spPr>
          <a:xfrm>
            <a:off x="7861300" y="6409690"/>
            <a:ext cx="3657600" cy="274320"/>
          </a:xfrm>
        </p:spPr>
        <p:txBody>
          <a:bodyPr/>
          <a:lstStyle/>
          <a:p>
            <a:fld id="{C8BB1146-E542-4D4E-B8E9-6919A11DDD48}" type="slidenum">
              <a:rPr lang="en-US" smtClean="0"/>
              <a:pPr/>
              <a:t>22</a:t>
            </a:fld>
            <a:endParaRPr lang="en-US"/>
          </a:p>
        </p:txBody>
      </p:sp>
    </p:spTree>
    <p:extLst>
      <p:ext uri="{BB962C8B-B14F-4D97-AF65-F5344CB8AC3E}">
        <p14:creationId xmlns:p14="http://schemas.microsoft.com/office/powerpoint/2010/main" val="3918006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6A25A8-4573-C01E-A498-D53BCF27D2C7}"/>
              </a:ext>
            </a:extLst>
          </p:cNvPr>
          <p:cNvSpPr>
            <a:spLocks noGrp="1"/>
          </p:cNvSpPr>
          <p:nvPr>
            <p:ph type="title"/>
          </p:nvPr>
        </p:nvSpPr>
        <p:spPr/>
        <p:txBody>
          <a:bodyPr/>
          <a:lstStyle/>
          <a:p>
            <a:r>
              <a:rPr lang="zh-CN" altLang="en-US" dirty="0"/>
              <a:t>主要界面</a:t>
            </a:r>
          </a:p>
        </p:txBody>
      </p:sp>
      <p:sp>
        <p:nvSpPr>
          <p:cNvPr id="5" name="文本框 4">
            <a:extLst>
              <a:ext uri="{FF2B5EF4-FFF2-40B4-BE49-F238E27FC236}">
                <a16:creationId xmlns:a16="http://schemas.microsoft.com/office/drawing/2014/main" id="{6360A07D-6122-7D63-CA0F-FCFE0B7D5536}"/>
              </a:ext>
            </a:extLst>
          </p:cNvPr>
          <p:cNvSpPr txBox="1"/>
          <p:nvPr/>
        </p:nvSpPr>
        <p:spPr>
          <a:xfrm>
            <a:off x="357996" y="5578824"/>
            <a:ext cx="1112805" cy="369332"/>
          </a:xfrm>
          <a:prstGeom prst="rect">
            <a:avLst/>
          </a:prstGeom>
          <a:noFill/>
        </p:spPr>
        <p:txBody>
          <a:bodyPr wrap="none" rtlCol="0">
            <a:spAutoFit/>
          </a:bodyPr>
          <a:lstStyle/>
          <a:p>
            <a:r>
              <a:rPr lang="zh-CN" altLang="en-US" dirty="0"/>
              <a:t>开始界面</a:t>
            </a:r>
          </a:p>
        </p:txBody>
      </p:sp>
      <p:pic>
        <p:nvPicPr>
          <p:cNvPr id="8" name="图片 7">
            <a:extLst>
              <a:ext uri="{FF2B5EF4-FFF2-40B4-BE49-F238E27FC236}">
                <a16:creationId xmlns:a16="http://schemas.microsoft.com/office/drawing/2014/main" id="{475251DC-7860-6267-5D12-5A6A3BACBBBC}"/>
              </a:ext>
            </a:extLst>
          </p:cNvPr>
          <p:cNvPicPr>
            <a:picLocks noChangeAspect="1"/>
          </p:cNvPicPr>
          <p:nvPr/>
        </p:nvPicPr>
        <p:blipFill>
          <a:blip r:embed="rId3"/>
          <a:stretch>
            <a:fillRect/>
          </a:stretch>
        </p:blipFill>
        <p:spPr>
          <a:xfrm>
            <a:off x="0" y="2328952"/>
            <a:ext cx="2210420" cy="3153215"/>
          </a:xfrm>
          <a:prstGeom prst="rect">
            <a:avLst/>
          </a:prstGeom>
        </p:spPr>
      </p:pic>
      <p:pic>
        <p:nvPicPr>
          <p:cNvPr id="9" name="图片 8">
            <a:extLst>
              <a:ext uri="{FF2B5EF4-FFF2-40B4-BE49-F238E27FC236}">
                <a16:creationId xmlns:a16="http://schemas.microsoft.com/office/drawing/2014/main" id="{1116C28A-B86E-B95B-5059-AA3629047719}"/>
              </a:ext>
            </a:extLst>
          </p:cNvPr>
          <p:cNvPicPr>
            <a:picLocks noChangeAspect="1"/>
          </p:cNvPicPr>
          <p:nvPr/>
        </p:nvPicPr>
        <p:blipFill>
          <a:blip r:embed="rId4"/>
          <a:stretch>
            <a:fillRect/>
          </a:stretch>
        </p:blipFill>
        <p:spPr>
          <a:xfrm>
            <a:off x="2210420" y="2623127"/>
            <a:ext cx="2851665" cy="2860306"/>
          </a:xfrm>
          <a:prstGeom prst="rect">
            <a:avLst/>
          </a:prstGeom>
        </p:spPr>
      </p:pic>
      <p:sp>
        <p:nvSpPr>
          <p:cNvPr id="10" name="文本框 9">
            <a:extLst>
              <a:ext uri="{FF2B5EF4-FFF2-40B4-BE49-F238E27FC236}">
                <a16:creationId xmlns:a16="http://schemas.microsoft.com/office/drawing/2014/main" id="{EDE38928-859C-8F34-C325-2F40BF511378}"/>
              </a:ext>
            </a:extLst>
          </p:cNvPr>
          <p:cNvSpPr txBox="1"/>
          <p:nvPr/>
        </p:nvSpPr>
        <p:spPr>
          <a:xfrm>
            <a:off x="2780512" y="5661950"/>
            <a:ext cx="1107996" cy="369332"/>
          </a:xfrm>
          <a:prstGeom prst="rect">
            <a:avLst/>
          </a:prstGeom>
          <a:noFill/>
        </p:spPr>
        <p:txBody>
          <a:bodyPr wrap="none" rtlCol="0">
            <a:spAutoFit/>
          </a:bodyPr>
          <a:lstStyle/>
          <a:p>
            <a:r>
              <a:rPr lang="zh-CN" altLang="en-US" dirty="0"/>
              <a:t>游戏界面</a:t>
            </a:r>
          </a:p>
        </p:txBody>
      </p:sp>
      <p:sp>
        <p:nvSpPr>
          <p:cNvPr id="12" name="文本框 11">
            <a:extLst>
              <a:ext uri="{FF2B5EF4-FFF2-40B4-BE49-F238E27FC236}">
                <a16:creationId xmlns:a16="http://schemas.microsoft.com/office/drawing/2014/main" id="{8702486A-33DF-F26B-701D-18FCB0124C42}"/>
              </a:ext>
            </a:extLst>
          </p:cNvPr>
          <p:cNvSpPr txBox="1"/>
          <p:nvPr/>
        </p:nvSpPr>
        <p:spPr>
          <a:xfrm>
            <a:off x="5929193" y="5738684"/>
            <a:ext cx="1107996" cy="369332"/>
          </a:xfrm>
          <a:prstGeom prst="rect">
            <a:avLst/>
          </a:prstGeom>
          <a:noFill/>
        </p:spPr>
        <p:txBody>
          <a:bodyPr wrap="none" rtlCol="0">
            <a:spAutoFit/>
          </a:bodyPr>
          <a:lstStyle/>
          <a:p>
            <a:r>
              <a:rPr lang="zh-CN" altLang="en-US" dirty="0"/>
              <a:t>失败界面</a:t>
            </a:r>
          </a:p>
        </p:txBody>
      </p:sp>
      <p:pic>
        <p:nvPicPr>
          <p:cNvPr id="14" name="图片 13">
            <a:extLst>
              <a:ext uri="{FF2B5EF4-FFF2-40B4-BE49-F238E27FC236}">
                <a16:creationId xmlns:a16="http://schemas.microsoft.com/office/drawing/2014/main" id="{3BCF29C4-FF04-2710-5959-80A829D8D20E}"/>
              </a:ext>
            </a:extLst>
          </p:cNvPr>
          <p:cNvPicPr>
            <a:picLocks noChangeAspect="1"/>
          </p:cNvPicPr>
          <p:nvPr/>
        </p:nvPicPr>
        <p:blipFill>
          <a:blip r:embed="rId5"/>
          <a:stretch>
            <a:fillRect/>
          </a:stretch>
        </p:blipFill>
        <p:spPr>
          <a:xfrm>
            <a:off x="4976291" y="2638109"/>
            <a:ext cx="2818280" cy="2844057"/>
          </a:xfrm>
          <a:prstGeom prst="rect">
            <a:avLst/>
          </a:prstGeom>
        </p:spPr>
      </p:pic>
      <p:sp>
        <p:nvSpPr>
          <p:cNvPr id="18" name="文本框 17">
            <a:extLst>
              <a:ext uri="{FF2B5EF4-FFF2-40B4-BE49-F238E27FC236}">
                <a16:creationId xmlns:a16="http://schemas.microsoft.com/office/drawing/2014/main" id="{3ED560CD-BF28-A872-D378-6F2F77C0ED80}"/>
              </a:ext>
            </a:extLst>
          </p:cNvPr>
          <p:cNvSpPr txBox="1"/>
          <p:nvPr/>
        </p:nvSpPr>
        <p:spPr>
          <a:xfrm>
            <a:off x="9934084" y="5714142"/>
            <a:ext cx="1107996" cy="369332"/>
          </a:xfrm>
          <a:prstGeom prst="rect">
            <a:avLst/>
          </a:prstGeom>
          <a:noFill/>
        </p:spPr>
        <p:txBody>
          <a:bodyPr wrap="none" rtlCol="0">
            <a:spAutoFit/>
          </a:bodyPr>
          <a:lstStyle/>
          <a:p>
            <a:r>
              <a:rPr lang="zh-CN" altLang="en-US" dirty="0"/>
              <a:t>胜利界面</a:t>
            </a:r>
          </a:p>
        </p:txBody>
      </p:sp>
      <p:pic>
        <p:nvPicPr>
          <p:cNvPr id="3" name="图片 2">
            <a:extLst>
              <a:ext uri="{FF2B5EF4-FFF2-40B4-BE49-F238E27FC236}">
                <a16:creationId xmlns:a16="http://schemas.microsoft.com/office/drawing/2014/main" id="{08810751-E62D-223F-03DA-0F6F4916DDA1}"/>
              </a:ext>
            </a:extLst>
          </p:cNvPr>
          <p:cNvPicPr>
            <a:picLocks noChangeAspect="1"/>
          </p:cNvPicPr>
          <p:nvPr/>
        </p:nvPicPr>
        <p:blipFill>
          <a:blip r:embed="rId6"/>
          <a:stretch>
            <a:fillRect/>
          </a:stretch>
        </p:blipFill>
        <p:spPr>
          <a:xfrm>
            <a:off x="7887568" y="1182255"/>
            <a:ext cx="4304432" cy="4479695"/>
          </a:xfrm>
          <a:prstGeom prst="rect">
            <a:avLst/>
          </a:prstGeom>
        </p:spPr>
      </p:pic>
    </p:spTree>
    <p:extLst>
      <p:ext uri="{BB962C8B-B14F-4D97-AF65-F5344CB8AC3E}">
        <p14:creationId xmlns:p14="http://schemas.microsoft.com/office/powerpoint/2010/main" val="591978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4FCC-5933-6E59-5552-E329458E4D5C}"/>
              </a:ext>
            </a:extLst>
          </p:cNvPr>
          <p:cNvSpPr>
            <a:spLocks noGrp="1"/>
          </p:cNvSpPr>
          <p:nvPr>
            <p:ph type="title"/>
          </p:nvPr>
        </p:nvSpPr>
        <p:spPr>
          <a:xfrm>
            <a:off x="857170" y="1130300"/>
            <a:ext cx="7253368" cy="1371600"/>
          </a:xfrm>
        </p:spPr>
        <p:txBody>
          <a:bodyPr/>
          <a:lstStyle/>
          <a:p>
            <a:pPr lvl="0"/>
            <a:r>
              <a:rPr lang="zh-CN" altLang="en-US" dirty="0"/>
              <a:t>代码的主要流程</a:t>
            </a:r>
            <a:endParaRPr lang="en-US" dirty="0"/>
          </a:p>
        </p:txBody>
      </p:sp>
      <p:sp>
        <p:nvSpPr>
          <p:cNvPr id="4" name="Slide Number Placeholder 3">
            <a:extLst>
              <a:ext uri="{FF2B5EF4-FFF2-40B4-BE49-F238E27FC236}">
                <a16:creationId xmlns:a16="http://schemas.microsoft.com/office/drawing/2014/main" id="{FD1D7CBC-F975-8DE9-35EC-139DE50F2B9A}"/>
              </a:ext>
            </a:extLst>
          </p:cNvPr>
          <p:cNvSpPr>
            <a:spLocks noGrp="1"/>
          </p:cNvSpPr>
          <p:nvPr>
            <p:ph type="sldNum" sz="quarter" idx="12"/>
          </p:nvPr>
        </p:nvSpPr>
        <p:spPr>
          <a:xfrm>
            <a:off x="7861300" y="6409690"/>
            <a:ext cx="3657600" cy="27432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BB1146-E542-4D4E-B8E9-6919A11DDD48}" type="slidenum">
              <a:rPr kumimoji="0" lang="en-US" sz="1000" b="0" i="0" u="none" strike="noStrike" kern="1200" cap="none" spc="0" normalizeH="0" baseline="0" noProof="0" smtClean="0">
                <a:ln>
                  <a:noFill/>
                </a:ln>
                <a:solidFill>
                  <a:srgbClr val="FFFFFF">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a:ln>
                <a:noFill/>
              </a:ln>
              <a:solidFill>
                <a:srgbClr val="FFFFFF">
                  <a:tint val="75000"/>
                </a:srgbClr>
              </a:solidFill>
              <a:effectLst/>
              <a:uLnTx/>
              <a:uFillTx/>
              <a:latin typeface="Arial"/>
              <a:ea typeface="微软雅黑"/>
              <a:cs typeface="+mn-cs"/>
            </a:endParaRPr>
          </a:p>
        </p:txBody>
      </p:sp>
    </p:spTree>
    <p:extLst>
      <p:ext uri="{BB962C8B-B14F-4D97-AF65-F5344CB8AC3E}">
        <p14:creationId xmlns:p14="http://schemas.microsoft.com/office/powerpoint/2010/main" val="2090395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9D795-14E2-7575-E795-3CD81ED60636}"/>
              </a:ext>
            </a:extLst>
          </p:cNvPr>
          <p:cNvSpPr>
            <a:spLocks noGrp="1"/>
          </p:cNvSpPr>
          <p:nvPr>
            <p:ph type="title"/>
          </p:nvPr>
        </p:nvSpPr>
        <p:spPr/>
        <p:txBody>
          <a:bodyPr/>
          <a:lstStyle/>
          <a:p>
            <a:r>
              <a:rPr lang="zh-CN" altLang="en-US" dirty="0"/>
              <a:t>主要流程</a:t>
            </a:r>
          </a:p>
        </p:txBody>
      </p:sp>
      <p:sp>
        <p:nvSpPr>
          <p:cNvPr id="8" name="内容占位符 7">
            <a:extLst>
              <a:ext uri="{FF2B5EF4-FFF2-40B4-BE49-F238E27FC236}">
                <a16:creationId xmlns:a16="http://schemas.microsoft.com/office/drawing/2014/main" id="{C843D376-F7D3-7658-7546-BD88D50ED806}"/>
              </a:ext>
            </a:extLst>
          </p:cNvPr>
          <p:cNvSpPr>
            <a:spLocks noGrp="1"/>
          </p:cNvSpPr>
          <p:nvPr>
            <p:ph idx="1"/>
          </p:nvPr>
        </p:nvSpPr>
        <p:spPr/>
        <p:txBody>
          <a:bodyPr>
            <a:normAutofit/>
          </a:bodyPr>
          <a:lstStyle/>
          <a:p>
            <a:pPr marL="0" indent="0">
              <a:buNone/>
            </a:pPr>
            <a:r>
              <a:rPr lang="en-US" altLang="zh-CN" dirty="0"/>
              <a:t>1. </a:t>
            </a:r>
            <a:r>
              <a:rPr lang="zh-CN" altLang="en-US" dirty="0"/>
              <a:t>游戏启动与菜单选择 </a:t>
            </a:r>
            <a:r>
              <a:rPr lang="en-US" altLang="zh-CN" dirty="0"/>
              <a:t>(group)</a:t>
            </a:r>
          </a:p>
          <a:p>
            <a:pPr marL="0" indent="0">
              <a:buNone/>
            </a:pPr>
            <a:r>
              <a:rPr lang="en-US" altLang="zh-CN" dirty="0"/>
              <a:t>	Driver </a:t>
            </a:r>
            <a:r>
              <a:rPr lang="zh-CN" altLang="en-US" dirty="0"/>
              <a:t>创建 </a:t>
            </a:r>
            <a:r>
              <a:rPr lang="en-US" altLang="zh-CN" dirty="0"/>
              <a:t>Menu </a:t>
            </a:r>
            <a:r>
              <a:rPr lang="zh-CN" altLang="en-US" dirty="0"/>
              <a:t>实例，向玩家显示菜单。</a:t>
            </a:r>
          </a:p>
          <a:p>
            <a:pPr marL="0" indent="0">
              <a:buNone/>
            </a:pPr>
            <a:r>
              <a:rPr lang="en-US" altLang="zh-CN" dirty="0"/>
              <a:t>	</a:t>
            </a:r>
            <a:r>
              <a:rPr lang="zh-CN" altLang="en-US" dirty="0"/>
              <a:t>玩家选择难度后，</a:t>
            </a:r>
            <a:r>
              <a:rPr lang="en-US" altLang="zh-CN" dirty="0"/>
              <a:t>Menu </a:t>
            </a:r>
            <a:r>
              <a:rPr lang="zh-CN" altLang="en-US" dirty="0"/>
              <a:t>的 </a:t>
            </a:r>
            <a:r>
              <a:rPr lang="en-US" altLang="zh-CN" dirty="0" err="1"/>
              <a:t>actionPerformed</a:t>
            </a:r>
            <a:r>
              <a:rPr lang="en-US" altLang="zh-CN" dirty="0"/>
              <a:t> </a:t>
            </a:r>
            <a:r>
              <a:rPr lang="zh-CN" altLang="en-US" dirty="0"/>
              <a:t>方法被触发。</a:t>
            </a:r>
          </a:p>
          <a:p>
            <a:pPr marL="0" indent="0">
              <a:buNone/>
            </a:pPr>
            <a:r>
              <a:rPr lang="en-US" altLang="zh-CN" dirty="0"/>
              <a:t>	Menu </a:t>
            </a:r>
            <a:r>
              <a:rPr lang="zh-CN" altLang="en-US" dirty="0"/>
              <a:t>负责创建 </a:t>
            </a:r>
            <a:r>
              <a:rPr lang="en-US" altLang="zh-CN" dirty="0" err="1"/>
              <a:t>GameBoard</a:t>
            </a:r>
            <a:r>
              <a:rPr lang="zh-CN" altLang="en-US" dirty="0"/>
              <a:t>，</a:t>
            </a:r>
            <a:r>
              <a:rPr lang="en-US" altLang="zh-CN" dirty="0" err="1"/>
              <a:t>GameBoard</a:t>
            </a:r>
            <a:r>
              <a:rPr lang="en-US" altLang="zh-CN" dirty="0"/>
              <a:t> </a:t>
            </a:r>
            <a:r>
              <a:rPr lang="zh-CN" altLang="en-US" dirty="0"/>
              <a:t>则循环创建所有的 </a:t>
            </a:r>
            <a:r>
              <a:rPr lang="en-US" altLang="zh-CN" dirty="0" err="1"/>
              <a:t>SmartSquare</a:t>
            </a:r>
            <a:r>
              <a:rPr lang="en-US" altLang="zh-CN" dirty="0"/>
              <a:t> </a:t>
            </a:r>
            <a:r>
              <a:rPr lang="zh-CN" altLang="en-US" dirty="0"/>
              <a:t>方块。</a:t>
            </a:r>
          </a:p>
          <a:p>
            <a:pPr marL="0" indent="0">
              <a:buNone/>
            </a:pPr>
            <a:r>
              <a:rPr lang="en-US" altLang="zh-CN" dirty="0"/>
              <a:t>	</a:t>
            </a:r>
            <a:r>
              <a:rPr lang="zh-CN" altLang="en-US" dirty="0"/>
              <a:t>接着，</a:t>
            </a:r>
            <a:r>
              <a:rPr lang="en-US" altLang="zh-CN" dirty="0"/>
              <a:t>Menu </a:t>
            </a:r>
            <a:r>
              <a:rPr lang="zh-CN" altLang="en-US" dirty="0"/>
              <a:t>创建 </a:t>
            </a:r>
            <a:r>
              <a:rPr lang="en-US" altLang="zh-CN" dirty="0" err="1"/>
              <a:t>ProduceBombs</a:t>
            </a:r>
            <a:r>
              <a:rPr lang="en-US" altLang="zh-CN" dirty="0"/>
              <a:t> </a:t>
            </a:r>
            <a:r>
              <a:rPr lang="zh-CN" altLang="en-US" dirty="0"/>
              <a:t>来在棋盘上布雷。这个过程涉及到随机选择 </a:t>
            </a:r>
            <a:r>
              <a:rPr lang="en-US" altLang="zh-CN" dirty="0" err="1"/>
              <a:t>SmartSquare</a:t>
            </a:r>
            <a:r>
              <a:rPr lang="en-US" altLang="zh-CN" dirty="0"/>
              <a:t> </a:t>
            </a:r>
            <a:r>
              <a:rPr lang="zh-CN" altLang="en-US" dirty="0"/>
              <a:t>并调用其 </a:t>
            </a:r>
            <a:r>
              <a:rPr lang="en-US" altLang="zh-CN" dirty="0" err="1"/>
              <a:t>setBombExist</a:t>
            </a:r>
            <a:r>
              <a:rPr lang="en-US" altLang="zh-CN" dirty="0"/>
              <a:t>(true) </a:t>
            </a:r>
            <a:r>
              <a:rPr lang="zh-CN" altLang="en-US" dirty="0"/>
              <a:t>方法。</a:t>
            </a:r>
          </a:p>
          <a:p>
            <a:pPr marL="0" indent="0">
              <a:buNone/>
            </a:pPr>
            <a:r>
              <a:rPr lang="en-US" altLang="zh-CN" dirty="0"/>
              <a:t>	</a:t>
            </a:r>
            <a:r>
              <a:rPr lang="zh-CN" altLang="en-US" dirty="0"/>
              <a:t>最后，</a:t>
            </a:r>
            <a:r>
              <a:rPr lang="en-US" altLang="zh-CN" dirty="0"/>
              <a:t>Menu </a:t>
            </a:r>
            <a:r>
              <a:rPr lang="zh-CN" altLang="en-US" dirty="0"/>
              <a:t>调用一个方块的 </a:t>
            </a:r>
            <a:r>
              <a:rPr lang="en-US" altLang="zh-CN" dirty="0" err="1"/>
              <a:t>setStartTime</a:t>
            </a:r>
            <a:r>
              <a:rPr lang="en-US" altLang="zh-CN" dirty="0"/>
              <a:t>() </a:t>
            </a:r>
            <a:r>
              <a:rPr lang="zh-CN" altLang="en-US" dirty="0"/>
              <a:t>来记录开始时间，然后关闭自己，游戏棋盘对玩家可见。</a:t>
            </a:r>
          </a:p>
        </p:txBody>
      </p:sp>
    </p:spTree>
    <p:extLst>
      <p:ext uri="{BB962C8B-B14F-4D97-AF65-F5344CB8AC3E}">
        <p14:creationId xmlns:p14="http://schemas.microsoft.com/office/powerpoint/2010/main" val="2250420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310A578-EB2D-EAD5-098B-740547130E89}"/>
              </a:ext>
            </a:extLst>
          </p:cNvPr>
          <p:cNvSpPr>
            <a:spLocks noGrp="1"/>
          </p:cNvSpPr>
          <p:nvPr>
            <p:ph idx="1"/>
          </p:nvPr>
        </p:nvSpPr>
        <p:spPr>
          <a:xfrm>
            <a:off x="3398982" y="406400"/>
            <a:ext cx="7954817" cy="6216073"/>
          </a:xfrm>
        </p:spPr>
        <p:txBody>
          <a:bodyPr>
            <a:normAutofit fontScale="77500" lnSpcReduction="20000"/>
          </a:bodyPr>
          <a:lstStyle/>
          <a:p>
            <a:pPr marL="0" indent="0">
              <a:buNone/>
            </a:pPr>
            <a:r>
              <a:rPr lang="en-US" altLang="zh-CN" dirty="0"/>
              <a:t>2. </a:t>
            </a:r>
            <a:r>
              <a:rPr lang="zh-CN" altLang="en-US" dirty="0"/>
              <a:t>玩家进行游戏</a:t>
            </a:r>
            <a:endParaRPr lang="en-US" altLang="zh-CN" dirty="0"/>
          </a:p>
          <a:p>
            <a:pPr marL="0" indent="0">
              <a:buNone/>
            </a:pPr>
            <a:r>
              <a:rPr lang="en-US" altLang="zh-CN" dirty="0"/>
              <a:t>	</a:t>
            </a:r>
            <a:r>
              <a:rPr lang="zh-CN" altLang="en-US" dirty="0"/>
              <a:t>玩家点击一个 </a:t>
            </a:r>
            <a:r>
              <a:rPr lang="en-US" altLang="zh-CN" dirty="0" err="1"/>
              <a:t>SmartSquare</a:t>
            </a:r>
            <a:r>
              <a:rPr lang="zh-CN" altLang="en-US" dirty="0"/>
              <a:t>（它是一个 </a:t>
            </a:r>
            <a:r>
              <a:rPr lang="en-US" altLang="zh-CN" dirty="0" err="1"/>
              <a:t>JButton</a:t>
            </a:r>
            <a:r>
              <a:rPr lang="zh-CN" altLang="en-US" dirty="0"/>
              <a:t>）。</a:t>
            </a:r>
          </a:p>
          <a:p>
            <a:pPr marL="0" indent="0">
              <a:buNone/>
            </a:pPr>
            <a:r>
              <a:rPr lang="en-US" altLang="zh-CN" dirty="0"/>
              <a:t>	Swing </a:t>
            </a:r>
            <a:r>
              <a:rPr lang="zh-CN" altLang="en-US" dirty="0"/>
              <a:t>的事件处理机制最终会调用到被点击</a:t>
            </a:r>
            <a:r>
              <a:rPr lang="en-US" altLang="zh-CN" dirty="0" err="1"/>
              <a:t>SmartSquare</a:t>
            </a:r>
            <a:r>
              <a:rPr lang="en-US" altLang="zh-CN" dirty="0"/>
              <a:t> </a:t>
            </a:r>
            <a:r>
              <a:rPr lang="zh-CN" altLang="en-US" dirty="0"/>
              <a:t>实例的 </a:t>
            </a:r>
            <a:r>
              <a:rPr lang="en-US" altLang="zh-CN" dirty="0"/>
              <a:t>clicked() </a:t>
            </a:r>
            <a:r>
              <a:rPr lang="zh-CN" altLang="en-US" dirty="0"/>
              <a:t>方法。</a:t>
            </a:r>
          </a:p>
          <a:p>
            <a:pPr marL="0" indent="0">
              <a:buNone/>
            </a:pPr>
            <a:r>
              <a:rPr lang="en-US" altLang="zh-CN" dirty="0"/>
              <a:t>	</a:t>
            </a:r>
            <a:r>
              <a:rPr lang="zh-CN" altLang="en-US" dirty="0"/>
              <a:t>在 </a:t>
            </a:r>
            <a:r>
              <a:rPr lang="en-US" altLang="zh-CN" dirty="0"/>
              <a:t>clicked() </a:t>
            </a:r>
            <a:r>
              <a:rPr lang="zh-CN" altLang="en-US" dirty="0"/>
              <a:t>方法内部：</a:t>
            </a:r>
          </a:p>
          <a:p>
            <a:pPr marL="0" indent="0">
              <a:buNone/>
            </a:pPr>
            <a:r>
              <a:rPr lang="en-US" altLang="zh-CN" dirty="0"/>
              <a:t>	</a:t>
            </a:r>
            <a:r>
              <a:rPr lang="zh-CN" altLang="en-US" b="1" dirty="0"/>
              <a:t>分支</a:t>
            </a:r>
            <a:r>
              <a:rPr lang="en-US" altLang="zh-CN" b="1" dirty="0"/>
              <a:t>1 (alt): </a:t>
            </a:r>
            <a:r>
              <a:rPr lang="zh-CN" altLang="en-US" dirty="0"/>
              <a:t>点击到地雷</a:t>
            </a:r>
            <a:endParaRPr lang="en-US" altLang="zh-CN" dirty="0"/>
          </a:p>
          <a:p>
            <a:pPr marL="0" indent="0">
              <a:buNone/>
            </a:pPr>
            <a:r>
              <a:rPr lang="en-US" altLang="zh-CN" dirty="0"/>
              <a:t>		</a:t>
            </a:r>
            <a:r>
              <a:rPr lang="en-US" altLang="zh-CN" dirty="0" err="1"/>
              <a:t>thisSquareHasBomb</a:t>
            </a:r>
            <a:r>
              <a:rPr lang="zh-CN" altLang="en-US" dirty="0"/>
              <a:t>为 </a:t>
            </a:r>
            <a:r>
              <a:rPr lang="en-US" altLang="zh-CN" dirty="0"/>
              <a:t>true</a:t>
            </a:r>
            <a:r>
              <a:rPr lang="zh-CN" altLang="en-US" dirty="0"/>
              <a:t>。</a:t>
            </a:r>
          </a:p>
          <a:p>
            <a:pPr marL="0" indent="0">
              <a:buNone/>
            </a:pPr>
            <a:r>
              <a:rPr lang="en-US" altLang="zh-CN" dirty="0"/>
              <a:t>		</a:t>
            </a:r>
            <a:r>
              <a:rPr lang="zh-CN" altLang="en-US" dirty="0"/>
              <a:t>程序调用 </a:t>
            </a:r>
            <a:r>
              <a:rPr lang="en-US" altLang="zh-CN" dirty="0"/>
              <a:t>window() </a:t>
            </a:r>
            <a:r>
              <a:rPr lang="zh-CN" altLang="en-US" dirty="0"/>
              <a:t>方法，向玩家显示一个包含</a:t>
            </a:r>
            <a:r>
              <a:rPr lang="en-US" altLang="zh-CN" dirty="0"/>
              <a:t>		</a:t>
            </a:r>
            <a:r>
              <a:rPr lang="zh-CN" altLang="en-US" dirty="0"/>
              <a:t>“游戏结束”信息和重玩选项的对话框。</a:t>
            </a:r>
          </a:p>
          <a:p>
            <a:pPr marL="0" indent="0">
              <a:buNone/>
            </a:pPr>
            <a:r>
              <a:rPr lang="en-US" altLang="zh-CN" dirty="0"/>
              <a:t>	</a:t>
            </a:r>
            <a:r>
              <a:rPr lang="zh-CN" altLang="en-US" b="1" dirty="0"/>
              <a:t>分支</a:t>
            </a:r>
            <a:r>
              <a:rPr lang="en-US" altLang="zh-CN" b="1" dirty="0"/>
              <a:t>2 (alt): </a:t>
            </a:r>
            <a:r>
              <a:rPr lang="zh-CN" altLang="en-US" dirty="0"/>
              <a:t>点击到安全方块</a:t>
            </a:r>
          </a:p>
          <a:p>
            <a:pPr marL="0" indent="0">
              <a:buNone/>
            </a:pPr>
            <a:r>
              <a:rPr lang="en-US" altLang="zh-CN" dirty="0"/>
              <a:t>		</a:t>
            </a:r>
            <a:r>
              <a:rPr lang="zh-CN" altLang="en-US" dirty="0"/>
              <a:t>程序创建一个 </a:t>
            </a:r>
            <a:r>
              <a:rPr lang="en-US" altLang="zh-CN" dirty="0" err="1"/>
              <a:t>CheckSquare</a:t>
            </a:r>
            <a:r>
              <a:rPr lang="en-US" altLang="zh-CN" dirty="0"/>
              <a:t> </a:t>
            </a:r>
            <a:r>
              <a:rPr lang="zh-CN" altLang="en-US" dirty="0"/>
              <a:t>对象来处理逻辑。</a:t>
            </a:r>
          </a:p>
          <a:p>
            <a:pPr marL="0" indent="0">
              <a:buNone/>
            </a:pPr>
            <a:r>
              <a:rPr lang="en-US" altLang="zh-CN" dirty="0"/>
              <a:t>		</a:t>
            </a:r>
            <a:r>
              <a:rPr lang="zh-CN" altLang="en-US" dirty="0"/>
              <a:t>调用 </a:t>
            </a:r>
            <a:r>
              <a:rPr lang="en-US" altLang="zh-CN" dirty="0" err="1"/>
              <a:t>countBomb</a:t>
            </a:r>
            <a:r>
              <a:rPr lang="en-US" altLang="zh-CN" dirty="0"/>
              <a:t>() </a:t>
            </a:r>
            <a:r>
              <a:rPr lang="zh-CN" altLang="en-US" dirty="0"/>
              <a:t>来计算周围地雷数并递归地揭</a:t>
            </a:r>
            <a:r>
              <a:rPr lang="en-US" altLang="zh-CN" dirty="0"/>
              <a:t>		</a:t>
            </a:r>
            <a:r>
              <a:rPr lang="zh-CN" altLang="en-US" dirty="0"/>
              <a:t>开相邻的空白区域。</a:t>
            </a:r>
          </a:p>
          <a:p>
            <a:pPr marL="0" indent="0">
              <a:buNone/>
            </a:pPr>
            <a:r>
              <a:rPr lang="en-US" altLang="zh-CN" dirty="0"/>
              <a:t>		</a:t>
            </a:r>
            <a:r>
              <a:rPr lang="zh-CN" altLang="en-US" dirty="0"/>
              <a:t>之后，调用 </a:t>
            </a:r>
            <a:r>
              <a:rPr lang="en-US" altLang="zh-CN" dirty="0" err="1"/>
              <a:t>isSuccess</a:t>
            </a:r>
            <a:r>
              <a:rPr lang="en-US" altLang="zh-CN" dirty="0"/>
              <a:t>() </a:t>
            </a:r>
            <a:r>
              <a:rPr lang="zh-CN" altLang="en-US" dirty="0"/>
              <a:t>检查是否满足胜利条件（</a:t>
            </a:r>
            <a:r>
              <a:rPr lang="en-US" altLang="zh-CN" dirty="0"/>
              <a:t>		</a:t>
            </a:r>
            <a:r>
              <a:rPr lang="zh-CN" altLang="en-US" dirty="0"/>
              <a:t>所有非雷块都已揭开）。</a:t>
            </a:r>
          </a:p>
          <a:p>
            <a:pPr marL="0" indent="0">
              <a:buNone/>
            </a:pPr>
            <a:r>
              <a:rPr lang="en-US" altLang="zh-CN" dirty="0"/>
              <a:t>		</a:t>
            </a:r>
            <a:r>
              <a:rPr lang="zh-CN" altLang="en-US" dirty="0"/>
              <a:t>如果胜利 </a:t>
            </a:r>
            <a:r>
              <a:rPr lang="en-US" altLang="zh-CN" dirty="0"/>
              <a:t>(alt)</a:t>
            </a:r>
            <a:r>
              <a:rPr lang="zh-CN" altLang="en-US" dirty="0"/>
              <a:t>，调用 </a:t>
            </a:r>
            <a:r>
              <a:rPr lang="en-US" altLang="zh-CN" dirty="0"/>
              <a:t>window() </a:t>
            </a:r>
            <a:r>
              <a:rPr lang="zh-CN" altLang="en-US" dirty="0"/>
              <a:t>显示“恭喜”信息。</a:t>
            </a:r>
          </a:p>
          <a:p>
            <a:pPr marL="0" indent="0">
              <a:buNone/>
            </a:pPr>
            <a:r>
              <a:rPr lang="en-US" altLang="zh-CN" dirty="0"/>
              <a:t>		</a:t>
            </a:r>
            <a:r>
              <a:rPr lang="zh-CN" altLang="en-US" dirty="0"/>
              <a:t>如果游戏未结束 ，更新方块视图（显示数字），</a:t>
            </a:r>
            <a:r>
              <a:rPr lang="en-US" altLang="zh-CN" dirty="0"/>
              <a:t>		</a:t>
            </a:r>
            <a:r>
              <a:rPr lang="zh-CN" altLang="en-US" dirty="0"/>
              <a:t>等待玩家下一次操作。</a:t>
            </a:r>
          </a:p>
        </p:txBody>
      </p:sp>
      <p:pic>
        <p:nvPicPr>
          <p:cNvPr id="6" name="内容占位符 5" descr="图示&#10;&#10;AI 生成的内容可能不正确。">
            <a:extLst>
              <a:ext uri="{FF2B5EF4-FFF2-40B4-BE49-F238E27FC236}">
                <a16:creationId xmlns:a16="http://schemas.microsoft.com/office/drawing/2014/main" id="{A75778AD-2108-FBBB-CBD3-9AAAC07A2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177" y="107661"/>
            <a:ext cx="2879695" cy="6599919"/>
          </a:xfrm>
          <a:prstGeom prst="rect">
            <a:avLst/>
          </a:prstGeom>
        </p:spPr>
      </p:pic>
    </p:spTree>
    <p:extLst>
      <p:ext uri="{BB962C8B-B14F-4D97-AF65-F5344CB8AC3E}">
        <p14:creationId xmlns:p14="http://schemas.microsoft.com/office/powerpoint/2010/main" val="4098639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E43C-6009-55B7-3CD7-F576BE07EA00}"/>
              </a:ext>
            </a:extLst>
          </p:cNvPr>
          <p:cNvSpPr>
            <a:spLocks noGrp="1"/>
          </p:cNvSpPr>
          <p:nvPr>
            <p:ph type="title"/>
          </p:nvPr>
        </p:nvSpPr>
        <p:spPr>
          <a:xfrm>
            <a:off x="660400" y="1130300"/>
            <a:ext cx="6954838" cy="2934811"/>
          </a:xfrm>
        </p:spPr>
        <p:txBody>
          <a:bodyPr/>
          <a:lstStyle/>
          <a:p>
            <a:pPr lvl="0"/>
            <a:r>
              <a:rPr lang="en-US"/>
              <a:t>Thank you</a:t>
            </a:r>
          </a:p>
        </p:txBody>
      </p:sp>
    </p:spTree>
    <p:extLst>
      <p:ext uri="{BB962C8B-B14F-4D97-AF65-F5344CB8AC3E}">
        <p14:creationId xmlns:p14="http://schemas.microsoft.com/office/powerpoint/2010/main" val="4044793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41DFF-1629-C20C-A9C2-083AFD257A66}"/>
              </a:ext>
            </a:extLst>
          </p:cNvPr>
          <p:cNvSpPr>
            <a:spLocks noGrp="1"/>
          </p:cNvSpPr>
          <p:nvPr>
            <p:ph type="title"/>
          </p:nvPr>
        </p:nvSpPr>
        <p:spPr/>
        <p:txBody>
          <a:bodyPr/>
          <a:lstStyle/>
          <a:p>
            <a:r>
              <a:rPr lang="zh-CN" altLang="en-US" dirty="0"/>
              <a:t>代码的主体框架分为三个包九个类</a:t>
            </a:r>
          </a:p>
        </p:txBody>
      </p:sp>
      <p:pic>
        <p:nvPicPr>
          <p:cNvPr id="9" name="内容占位符 8" descr="图示&#10;&#10;AI 生成的内容可能不正确。">
            <a:extLst>
              <a:ext uri="{FF2B5EF4-FFF2-40B4-BE49-F238E27FC236}">
                <a16:creationId xmlns:a16="http://schemas.microsoft.com/office/drawing/2014/main" id="{29878778-ED61-AD55-8FC4-F6D00A797FD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34472" y="1321690"/>
            <a:ext cx="5347855" cy="5541225"/>
          </a:xfrm>
        </p:spPr>
      </p:pic>
    </p:spTree>
    <p:extLst>
      <p:ext uri="{BB962C8B-B14F-4D97-AF65-F5344CB8AC3E}">
        <p14:creationId xmlns:p14="http://schemas.microsoft.com/office/powerpoint/2010/main" val="1075705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144530-05A0-203A-B14F-9A742B34F97B}"/>
              </a:ext>
            </a:extLst>
          </p:cNvPr>
          <p:cNvSpPr>
            <a:spLocks noGrp="1"/>
          </p:cNvSpPr>
          <p:nvPr>
            <p:ph type="title"/>
          </p:nvPr>
        </p:nvSpPr>
        <p:spPr/>
        <p:txBody>
          <a:bodyPr/>
          <a:lstStyle/>
          <a:p>
            <a:r>
              <a:rPr lang="zh-CN" altLang="en-US" dirty="0"/>
              <a:t>三个包的作用</a:t>
            </a:r>
          </a:p>
        </p:txBody>
      </p:sp>
      <p:sp>
        <p:nvSpPr>
          <p:cNvPr id="3" name="内容占位符 2">
            <a:extLst>
              <a:ext uri="{FF2B5EF4-FFF2-40B4-BE49-F238E27FC236}">
                <a16:creationId xmlns:a16="http://schemas.microsoft.com/office/drawing/2014/main" id="{7648B93C-E3D9-6981-49A5-D693ACA6C4D0}"/>
              </a:ext>
            </a:extLst>
          </p:cNvPr>
          <p:cNvSpPr>
            <a:spLocks noGrp="1"/>
          </p:cNvSpPr>
          <p:nvPr>
            <p:ph idx="1"/>
          </p:nvPr>
        </p:nvSpPr>
        <p:spPr/>
        <p:txBody>
          <a:bodyPr>
            <a:normAutofit lnSpcReduction="10000"/>
          </a:bodyPr>
          <a:lstStyle/>
          <a:p>
            <a:r>
              <a:rPr lang="en-US" altLang="zh-CN" dirty="0" err="1"/>
              <a:t>GameDriver</a:t>
            </a:r>
            <a:r>
              <a:rPr lang="en-US" altLang="zh-CN" dirty="0"/>
              <a:t> </a:t>
            </a:r>
            <a:r>
              <a:rPr lang="zh-CN" altLang="en-US" dirty="0"/>
              <a:t>包</a:t>
            </a:r>
            <a:r>
              <a:rPr lang="en-US" altLang="zh-CN" dirty="0"/>
              <a:t>: </a:t>
            </a:r>
            <a:r>
              <a:rPr lang="zh-CN" altLang="en-US" dirty="0"/>
              <a:t>程序启动包。它包含了 </a:t>
            </a:r>
            <a:r>
              <a:rPr lang="en-US" altLang="zh-CN" dirty="0"/>
              <a:t>Driver.java </a:t>
            </a:r>
            <a:r>
              <a:rPr lang="zh-CN" altLang="en-US" dirty="0"/>
              <a:t>文件，其中的 </a:t>
            </a:r>
            <a:r>
              <a:rPr lang="en-US" altLang="zh-CN" dirty="0"/>
              <a:t>main </a:t>
            </a:r>
            <a:r>
              <a:rPr lang="zh-CN" altLang="en-US" dirty="0"/>
              <a:t>方法是整个</a:t>
            </a:r>
            <a:r>
              <a:rPr lang="en-US" altLang="zh-CN" dirty="0"/>
              <a:t>Java</a:t>
            </a:r>
            <a:r>
              <a:rPr lang="zh-CN" altLang="en-US" dirty="0"/>
              <a:t>应用程序的入口点。它的唯一职责就是创建 </a:t>
            </a:r>
            <a:r>
              <a:rPr lang="en-US" altLang="zh-CN" dirty="0"/>
              <a:t>Menu </a:t>
            </a:r>
            <a:r>
              <a:rPr lang="zh-CN" altLang="en-US" dirty="0"/>
              <a:t>对象，从而启动游戏。</a:t>
            </a:r>
            <a:endParaRPr lang="en-US" altLang="zh-CN" dirty="0"/>
          </a:p>
          <a:p>
            <a:r>
              <a:rPr lang="en-US" altLang="zh-CN" dirty="0" err="1"/>
              <a:t>UserInterface</a:t>
            </a:r>
            <a:r>
              <a:rPr lang="en-US" altLang="zh-CN" dirty="0"/>
              <a:t> </a:t>
            </a:r>
            <a:r>
              <a:rPr lang="zh-CN" altLang="en-US" dirty="0"/>
              <a:t>包</a:t>
            </a:r>
            <a:r>
              <a:rPr lang="en-US" altLang="zh-CN" dirty="0"/>
              <a:t>:</a:t>
            </a:r>
            <a:r>
              <a:rPr lang="zh-CN" altLang="en-US" dirty="0"/>
              <a:t>作用</a:t>
            </a:r>
            <a:r>
              <a:rPr lang="en-US" altLang="zh-CN" dirty="0"/>
              <a:t>: </a:t>
            </a:r>
            <a:r>
              <a:rPr lang="zh-CN" altLang="en-US" dirty="0"/>
              <a:t>用户界面与交互包。这是项目的核心部分，包含了所有与图形用户界面相关的类，例如 </a:t>
            </a:r>
            <a:r>
              <a:rPr lang="en-US" altLang="zh-CN" dirty="0"/>
              <a:t>Menu</a:t>
            </a:r>
            <a:r>
              <a:rPr lang="zh-CN" altLang="en-US" dirty="0"/>
              <a:t>、</a:t>
            </a:r>
            <a:r>
              <a:rPr lang="en-US" altLang="zh-CN" dirty="0" err="1"/>
              <a:t>GameBoard</a:t>
            </a:r>
            <a:r>
              <a:rPr lang="zh-CN" altLang="en-US" dirty="0"/>
              <a:t>、</a:t>
            </a:r>
            <a:r>
              <a:rPr lang="en-US" altLang="zh-CN" dirty="0" err="1"/>
              <a:t>SmartSquare</a:t>
            </a:r>
            <a:r>
              <a:rPr lang="zh-CN" altLang="en-US" dirty="0"/>
              <a:t>。同时，它也包含了一些直接服务于界面的逻辑类，如 </a:t>
            </a:r>
            <a:r>
              <a:rPr lang="en-US" altLang="zh-CN" dirty="0" err="1"/>
              <a:t>ProduceBombs</a:t>
            </a:r>
            <a:r>
              <a:rPr lang="zh-CN" altLang="en-US" dirty="0"/>
              <a:t>和 </a:t>
            </a:r>
            <a:r>
              <a:rPr lang="en-US" altLang="zh-CN" dirty="0" err="1"/>
              <a:t>CheckSquare</a:t>
            </a:r>
            <a:r>
              <a:rPr lang="zh-CN" altLang="en-US" dirty="0"/>
              <a:t>这些类紧密地与界面交互。</a:t>
            </a:r>
            <a:endParaRPr lang="en-US" altLang="zh-CN" dirty="0"/>
          </a:p>
          <a:p>
            <a:r>
              <a:rPr lang="en-US" altLang="zh-CN" dirty="0"/>
              <a:t>Library </a:t>
            </a:r>
            <a:r>
              <a:rPr lang="zh-CN" altLang="en-US" dirty="0"/>
              <a:t>包</a:t>
            </a:r>
            <a:r>
              <a:rPr lang="en-US" altLang="zh-CN" dirty="0"/>
              <a:t>: </a:t>
            </a:r>
            <a:r>
              <a:rPr lang="zh-CN" altLang="en-US" dirty="0"/>
              <a:t>通用功能库包。它提供了一些通用的、可被其他包复用的组件或工具。例如，</a:t>
            </a:r>
            <a:r>
              <a:rPr lang="en-US" altLang="zh-CN" dirty="0" err="1"/>
              <a:t>TimeChecker</a:t>
            </a:r>
            <a:r>
              <a:rPr lang="en-US" altLang="zh-CN" dirty="0"/>
              <a:t> </a:t>
            </a:r>
            <a:r>
              <a:rPr lang="zh-CN" altLang="en-US" dirty="0"/>
              <a:t>是一个时间格式化工具，而 </a:t>
            </a:r>
            <a:r>
              <a:rPr lang="en-US" altLang="zh-CN" dirty="0"/>
              <a:t>Bomb </a:t>
            </a:r>
            <a:r>
              <a:rPr lang="zh-CN" altLang="en-US" dirty="0"/>
              <a:t>是一个抽象基类，为地雷的生成提供了一个通用的模板。这个包旨在将一些基础或辅助功能与具体的界面逻辑分离开。</a:t>
            </a:r>
          </a:p>
        </p:txBody>
      </p:sp>
    </p:spTree>
    <p:extLst>
      <p:ext uri="{BB962C8B-B14F-4D97-AF65-F5344CB8AC3E}">
        <p14:creationId xmlns:p14="http://schemas.microsoft.com/office/powerpoint/2010/main" val="192070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C80F1D-9C19-0F17-A2C6-66E47211E381}"/>
              </a:ext>
            </a:extLst>
          </p:cNvPr>
          <p:cNvSpPr>
            <a:spLocks noGrp="1"/>
          </p:cNvSpPr>
          <p:nvPr>
            <p:ph type="title"/>
          </p:nvPr>
        </p:nvSpPr>
        <p:spPr/>
        <p:txBody>
          <a:bodyPr/>
          <a:lstStyle/>
          <a:p>
            <a:r>
              <a:rPr lang="en-US" altLang="zh-CN" dirty="0" err="1"/>
              <a:t>GameDriver</a:t>
            </a:r>
            <a:endParaRPr lang="zh-CN" altLang="en-US" dirty="0"/>
          </a:p>
        </p:txBody>
      </p:sp>
      <p:sp>
        <p:nvSpPr>
          <p:cNvPr id="3" name="内容占位符 2">
            <a:extLst>
              <a:ext uri="{FF2B5EF4-FFF2-40B4-BE49-F238E27FC236}">
                <a16:creationId xmlns:a16="http://schemas.microsoft.com/office/drawing/2014/main" id="{A7AEE359-51F2-6716-C5F5-0CF4784BF4FE}"/>
              </a:ext>
            </a:extLst>
          </p:cNvPr>
          <p:cNvSpPr>
            <a:spLocks noGrp="1"/>
          </p:cNvSpPr>
          <p:nvPr>
            <p:ph idx="1"/>
          </p:nvPr>
        </p:nvSpPr>
        <p:spPr/>
        <p:txBody>
          <a:bodyPr/>
          <a:lstStyle/>
          <a:p>
            <a:r>
              <a:rPr lang="en-US" altLang="zh-CN" dirty="0"/>
              <a:t>Driver.java: </a:t>
            </a:r>
            <a:r>
              <a:rPr lang="zh-CN" altLang="en-US" dirty="0"/>
              <a:t>作用</a:t>
            </a:r>
            <a:r>
              <a:rPr lang="en-US" altLang="zh-CN" dirty="0"/>
              <a:t>: </a:t>
            </a:r>
            <a:r>
              <a:rPr lang="zh-CN" altLang="en-US" dirty="0"/>
              <a:t>程序的入口。它的</a:t>
            </a:r>
            <a:r>
              <a:rPr lang="en-US" altLang="zh-CN" dirty="0"/>
              <a:t>main</a:t>
            </a:r>
            <a:r>
              <a:rPr lang="zh-CN" altLang="en-US" dirty="0"/>
              <a:t>方法通过创建</a:t>
            </a:r>
            <a:r>
              <a:rPr lang="en-US" altLang="zh-CN" dirty="0"/>
              <a:t>Menu</a:t>
            </a:r>
            <a:r>
              <a:rPr lang="zh-CN" altLang="en-US" dirty="0"/>
              <a:t>对象来启动整个游戏</a:t>
            </a:r>
          </a:p>
        </p:txBody>
      </p:sp>
    </p:spTree>
    <p:extLst>
      <p:ext uri="{BB962C8B-B14F-4D97-AF65-F5344CB8AC3E}">
        <p14:creationId xmlns:p14="http://schemas.microsoft.com/office/powerpoint/2010/main" val="1624450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09CCCB-2E08-C360-FAC9-458DFA8D1065}"/>
              </a:ext>
            </a:extLst>
          </p:cNvPr>
          <p:cNvSpPr>
            <a:spLocks noGrp="1"/>
          </p:cNvSpPr>
          <p:nvPr>
            <p:ph type="title"/>
          </p:nvPr>
        </p:nvSpPr>
        <p:spPr/>
        <p:txBody>
          <a:bodyPr/>
          <a:lstStyle/>
          <a:p>
            <a:r>
              <a:rPr lang="en-US" altLang="zh-CN" dirty="0" err="1"/>
              <a:t>UserInterface</a:t>
            </a:r>
            <a:endParaRPr lang="zh-CN" altLang="en-US" dirty="0"/>
          </a:p>
        </p:txBody>
      </p:sp>
      <p:sp>
        <p:nvSpPr>
          <p:cNvPr id="3" name="内容占位符 2">
            <a:extLst>
              <a:ext uri="{FF2B5EF4-FFF2-40B4-BE49-F238E27FC236}">
                <a16:creationId xmlns:a16="http://schemas.microsoft.com/office/drawing/2014/main" id="{DEC19B4A-6F0D-8251-45BB-43100646FBFA}"/>
              </a:ext>
            </a:extLst>
          </p:cNvPr>
          <p:cNvSpPr>
            <a:spLocks noGrp="1"/>
          </p:cNvSpPr>
          <p:nvPr>
            <p:ph idx="1"/>
          </p:nvPr>
        </p:nvSpPr>
        <p:spPr/>
        <p:txBody>
          <a:bodyPr>
            <a:normAutofit/>
          </a:bodyPr>
          <a:lstStyle/>
          <a:p>
            <a:r>
              <a:rPr lang="en-US" altLang="zh-CN" dirty="0"/>
              <a:t>Menu.java: </a:t>
            </a:r>
            <a:r>
              <a:rPr lang="zh-CN" altLang="en-US" dirty="0"/>
              <a:t>游戏开始菜单。它提供一个窗口让玩家选择游戏难度（初级、中级、高级）或自定义棋盘的尺寸和雷数。选择后，它会根据设置创建</a:t>
            </a:r>
            <a:r>
              <a:rPr lang="en-US" altLang="zh-CN" dirty="0" err="1"/>
              <a:t>GameBoard</a:t>
            </a:r>
            <a:r>
              <a:rPr lang="zh-CN" altLang="en-US" dirty="0"/>
              <a:t>对象开始新游戏。</a:t>
            </a:r>
            <a:endParaRPr lang="en-US" altLang="zh-CN" dirty="0"/>
          </a:p>
          <a:p>
            <a:r>
              <a:rPr lang="en-US" altLang="zh-CN" dirty="0"/>
              <a:t>GameBoard.java: </a:t>
            </a:r>
            <a:r>
              <a:rPr lang="zh-CN" altLang="en-US" dirty="0"/>
              <a:t>游戏主棋盘。这是一个</a:t>
            </a:r>
            <a:r>
              <a:rPr lang="en-US" altLang="zh-CN" dirty="0" err="1"/>
              <a:t>JFrame</a:t>
            </a:r>
            <a:r>
              <a:rPr lang="zh-CN" altLang="en-US" dirty="0"/>
              <a:t>窗口，使用</a:t>
            </a:r>
            <a:r>
              <a:rPr lang="en-US" altLang="zh-CN" dirty="0" err="1"/>
              <a:t>GridLayout</a:t>
            </a:r>
            <a:r>
              <a:rPr lang="zh-CN" altLang="en-US" dirty="0"/>
              <a:t>网格布局来容纳所有的</a:t>
            </a:r>
            <a:r>
              <a:rPr lang="en-US" altLang="zh-CN" dirty="0" err="1"/>
              <a:t>GameSquare</a:t>
            </a:r>
            <a:r>
              <a:rPr lang="zh-CN" altLang="en-US" dirty="0"/>
              <a:t>（方块）。它负责创建并管理二维数组的方块</a:t>
            </a:r>
            <a:endParaRPr lang="en-US" altLang="zh-CN" dirty="0"/>
          </a:p>
          <a:p>
            <a:r>
              <a:rPr lang="en-US" altLang="zh-CN" dirty="0"/>
              <a:t>GameSquare.java: </a:t>
            </a:r>
            <a:r>
              <a:rPr lang="zh-CN" altLang="en-US" dirty="0"/>
              <a:t>游戏方块的抽象基类。它继承自</a:t>
            </a:r>
            <a:r>
              <a:rPr lang="en-US" altLang="zh-CN" dirty="0" err="1"/>
              <a:t>JButton</a:t>
            </a:r>
            <a:r>
              <a:rPr lang="zh-CN" altLang="en-US" dirty="0"/>
              <a:t>，定义了所有方块共有的属性（如坐标）和行为（如抽象的</a:t>
            </a:r>
            <a:r>
              <a:rPr lang="en-US" altLang="zh-CN" dirty="0"/>
              <a:t>clicked()</a:t>
            </a:r>
            <a:r>
              <a:rPr lang="zh-CN" altLang="en-US" dirty="0"/>
              <a:t>方法）。</a:t>
            </a:r>
          </a:p>
        </p:txBody>
      </p:sp>
    </p:spTree>
    <p:extLst>
      <p:ext uri="{BB962C8B-B14F-4D97-AF65-F5344CB8AC3E}">
        <p14:creationId xmlns:p14="http://schemas.microsoft.com/office/powerpoint/2010/main" val="2250320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28C39A-3CAC-C1EC-15EE-F3938C946B40}"/>
              </a:ext>
            </a:extLst>
          </p:cNvPr>
          <p:cNvSpPr>
            <a:spLocks noGrp="1"/>
          </p:cNvSpPr>
          <p:nvPr>
            <p:ph type="title"/>
          </p:nvPr>
        </p:nvSpPr>
        <p:spPr/>
        <p:txBody>
          <a:bodyPr/>
          <a:lstStyle/>
          <a:p>
            <a:r>
              <a:rPr lang="en-US" altLang="zh-CN" dirty="0" err="1"/>
              <a:t>UserInterface</a:t>
            </a:r>
            <a:endParaRPr lang="zh-CN" altLang="en-US" dirty="0"/>
          </a:p>
        </p:txBody>
      </p:sp>
      <p:sp>
        <p:nvSpPr>
          <p:cNvPr id="3" name="内容占位符 2">
            <a:extLst>
              <a:ext uri="{FF2B5EF4-FFF2-40B4-BE49-F238E27FC236}">
                <a16:creationId xmlns:a16="http://schemas.microsoft.com/office/drawing/2014/main" id="{5A3941BD-EECC-1AAE-7CE4-1D7CF3139FE9}"/>
              </a:ext>
            </a:extLst>
          </p:cNvPr>
          <p:cNvSpPr>
            <a:spLocks noGrp="1"/>
          </p:cNvSpPr>
          <p:nvPr>
            <p:ph idx="1"/>
          </p:nvPr>
        </p:nvSpPr>
        <p:spPr/>
        <p:txBody>
          <a:bodyPr>
            <a:normAutofit/>
          </a:bodyPr>
          <a:lstStyle/>
          <a:p>
            <a:r>
              <a:rPr lang="en-US" altLang="zh-CN" dirty="0"/>
              <a:t>SmartSquare.java: </a:t>
            </a:r>
            <a:r>
              <a:rPr lang="zh-CN" altLang="en-US" dirty="0"/>
              <a:t>游戏方块的具体实现。它继承自</a:t>
            </a:r>
            <a:r>
              <a:rPr lang="en-US" altLang="zh-CN" dirty="0" err="1"/>
              <a:t>GameSquare</a:t>
            </a:r>
            <a:r>
              <a:rPr lang="zh-CN" altLang="en-US" dirty="0"/>
              <a:t>，并实现了</a:t>
            </a:r>
            <a:r>
              <a:rPr lang="en-US" altLang="zh-CN" dirty="0" err="1"/>
              <a:t>MouseListener</a:t>
            </a:r>
            <a:r>
              <a:rPr lang="zh-CN" altLang="en-US" dirty="0"/>
              <a:t>来处理玩家的点击操作（左键挖开，右键标记）。它包含了方块的核心逻辑，例如：是否是雷、是否被翻开、是否被标记等状态。当被点击时，它会执行相应的游戏逻辑。</a:t>
            </a:r>
            <a:endParaRPr lang="en-US" altLang="zh-CN" dirty="0"/>
          </a:p>
          <a:p>
            <a:r>
              <a:rPr lang="en-US" altLang="zh-CN" dirty="0"/>
              <a:t>ProduceBombs.java: </a:t>
            </a:r>
            <a:r>
              <a:rPr lang="zh-CN" altLang="en-US" dirty="0"/>
              <a:t>地雷的生成器。它继承自</a:t>
            </a:r>
            <a:r>
              <a:rPr lang="en-US" altLang="zh-CN" dirty="0"/>
              <a:t>Bomb</a:t>
            </a:r>
            <a:r>
              <a:rPr lang="zh-CN" altLang="en-US" dirty="0"/>
              <a:t>，负责在</a:t>
            </a:r>
            <a:r>
              <a:rPr lang="en-US" altLang="zh-CN" dirty="0" err="1"/>
              <a:t>GameBoard</a:t>
            </a:r>
            <a:r>
              <a:rPr lang="zh-CN" altLang="en-US" dirty="0"/>
              <a:t>上随机地布置指定数量的地雷。为了避免在同一个位置重复生成地雷，它包含了一个检查机制。</a:t>
            </a:r>
            <a:endParaRPr lang="en-US" altLang="zh-CN" dirty="0"/>
          </a:p>
          <a:p>
            <a:r>
              <a:rPr lang="en-US" altLang="zh-CN" dirty="0"/>
              <a:t>CheckSquare.java: </a:t>
            </a:r>
            <a:r>
              <a:rPr lang="zh-CN" altLang="en-US" dirty="0"/>
              <a:t>游戏逻辑检查器。当玩家点击一个非雷方块时，这个类负责计算其周围的雷数，并递归地翻开相邻的空白方块（如果周围没有雷）。它也负责判断游戏是否胜利。</a:t>
            </a:r>
          </a:p>
          <a:p>
            <a:endParaRPr lang="zh-CN" altLang="en-US" dirty="0"/>
          </a:p>
        </p:txBody>
      </p:sp>
    </p:spTree>
    <p:extLst>
      <p:ext uri="{BB962C8B-B14F-4D97-AF65-F5344CB8AC3E}">
        <p14:creationId xmlns:p14="http://schemas.microsoft.com/office/powerpoint/2010/main" val="2964252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7A5398-88B2-97E2-3F0C-8C8A13774D89}"/>
              </a:ext>
            </a:extLst>
          </p:cNvPr>
          <p:cNvSpPr>
            <a:spLocks noGrp="1"/>
          </p:cNvSpPr>
          <p:nvPr>
            <p:ph type="title"/>
          </p:nvPr>
        </p:nvSpPr>
        <p:spPr/>
        <p:txBody>
          <a:bodyPr/>
          <a:lstStyle/>
          <a:p>
            <a:r>
              <a:rPr lang="en-US" altLang="zh-CN" dirty="0"/>
              <a:t>Library</a:t>
            </a:r>
            <a:endParaRPr lang="zh-CN" altLang="en-US" dirty="0"/>
          </a:p>
        </p:txBody>
      </p:sp>
      <p:sp>
        <p:nvSpPr>
          <p:cNvPr id="3" name="内容占位符 2">
            <a:extLst>
              <a:ext uri="{FF2B5EF4-FFF2-40B4-BE49-F238E27FC236}">
                <a16:creationId xmlns:a16="http://schemas.microsoft.com/office/drawing/2014/main" id="{52EB2B6A-8EE7-0360-1EE9-87248F2DEA3E}"/>
              </a:ext>
            </a:extLst>
          </p:cNvPr>
          <p:cNvSpPr>
            <a:spLocks noGrp="1"/>
          </p:cNvSpPr>
          <p:nvPr>
            <p:ph idx="1"/>
          </p:nvPr>
        </p:nvSpPr>
        <p:spPr/>
        <p:txBody>
          <a:bodyPr/>
          <a:lstStyle/>
          <a:p>
            <a:r>
              <a:rPr lang="en-US" altLang="zh-CN" dirty="0"/>
              <a:t>Bomb.java: </a:t>
            </a:r>
            <a:r>
              <a:rPr lang="zh-CN" altLang="en-US" dirty="0"/>
              <a:t>雷的抽象基类。它定义了生成雷所需要的基本属性（如游戏棋盘</a:t>
            </a:r>
            <a:r>
              <a:rPr lang="en-US" altLang="zh-CN" dirty="0"/>
              <a:t>board</a:t>
            </a:r>
            <a:r>
              <a:rPr lang="zh-CN" altLang="en-US" dirty="0"/>
              <a:t>）和抽象行为（</a:t>
            </a:r>
            <a:r>
              <a:rPr lang="en-US" altLang="zh-CN" dirty="0" err="1"/>
              <a:t>reproduceBomb</a:t>
            </a:r>
            <a:r>
              <a:rPr lang="zh-CN" altLang="en-US" dirty="0"/>
              <a:t>方法），具体的生成逻辑由子类</a:t>
            </a:r>
            <a:r>
              <a:rPr lang="en-US" altLang="zh-CN" dirty="0" err="1"/>
              <a:t>ProduceBombs</a:t>
            </a:r>
            <a:r>
              <a:rPr lang="zh-CN" altLang="en-US" dirty="0"/>
              <a:t>实现。</a:t>
            </a:r>
            <a:endParaRPr lang="en-US" altLang="zh-CN" dirty="0"/>
          </a:p>
          <a:p>
            <a:r>
              <a:rPr lang="en-US" altLang="zh-CN" dirty="0"/>
              <a:t>TimeChecker.java: </a:t>
            </a:r>
            <a:r>
              <a:rPr lang="zh-CN" altLang="en-US" dirty="0"/>
              <a:t>时间计算工具。这是一个接口，提供了一个静态方法</a:t>
            </a:r>
            <a:r>
              <a:rPr lang="en-US" altLang="zh-CN" dirty="0" err="1"/>
              <a:t>calculateTime</a:t>
            </a:r>
            <a:r>
              <a:rPr lang="zh-CN" altLang="en-US" dirty="0"/>
              <a:t>，用于将毫秒数格式化为更易读的“时</a:t>
            </a:r>
            <a:r>
              <a:rPr lang="en-US" altLang="zh-CN" dirty="0"/>
              <a:t>-</a:t>
            </a:r>
            <a:r>
              <a:rPr lang="zh-CN" altLang="en-US" dirty="0"/>
              <a:t>分</a:t>
            </a:r>
            <a:r>
              <a:rPr lang="en-US" altLang="zh-CN" dirty="0"/>
              <a:t>-</a:t>
            </a:r>
            <a:r>
              <a:rPr lang="zh-CN" altLang="en-US" dirty="0"/>
              <a:t>秒</a:t>
            </a:r>
            <a:r>
              <a:rPr lang="en-US" altLang="zh-CN" dirty="0"/>
              <a:t>-</a:t>
            </a:r>
            <a:r>
              <a:rPr lang="zh-CN" altLang="en-US" dirty="0"/>
              <a:t>毫秒”字符串。</a:t>
            </a:r>
          </a:p>
        </p:txBody>
      </p:sp>
    </p:spTree>
    <p:extLst>
      <p:ext uri="{BB962C8B-B14F-4D97-AF65-F5344CB8AC3E}">
        <p14:creationId xmlns:p14="http://schemas.microsoft.com/office/powerpoint/2010/main" val="1985954015"/>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esigned by iSlide">
  <a:themeElements>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3.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5.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8.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9.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0.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1.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2.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3.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4.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5.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6.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7.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8.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19.xml><?xml version="1.0" encoding="utf-8"?>
<a:themeOverride xmlns:a="http://schemas.openxmlformats.org/drawingml/2006/main">
  <a:clrScheme name="iSlid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0.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1.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2.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3.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4.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5.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273</TotalTime>
  <Words>3139</Words>
  <Application>Microsoft Office PowerPoint</Application>
  <PresentationFormat>宽屏</PresentationFormat>
  <Paragraphs>198</Paragraphs>
  <Slides>33</Slides>
  <Notes>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33</vt:i4>
      </vt:variant>
    </vt:vector>
  </HeadingPairs>
  <TitlesOfParts>
    <vt:vector size="39" baseType="lpstr">
      <vt:lpstr>Segoe WPC</vt:lpstr>
      <vt:lpstr>等线</vt:lpstr>
      <vt:lpstr>等线 Light</vt:lpstr>
      <vt:lpstr>Arial</vt:lpstr>
      <vt:lpstr>Office 主题​​</vt:lpstr>
      <vt:lpstr>Designed by iSlide</vt:lpstr>
      <vt:lpstr>扫雷游戏</vt:lpstr>
      <vt:lpstr>Agenda</vt:lpstr>
      <vt:lpstr>修改前后的类图</vt:lpstr>
      <vt:lpstr>PowerPoint 演示文稿</vt:lpstr>
      <vt:lpstr>在原有基础上的修改</vt:lpstr>
      <vt:lpstr>模板方法</vt:lpstr>
      <vt:lpstr>PowerPoint 演示文稿</vt:lpstr>
      <vt:lpstr>PowerPoint 演示文稿</vt:lpstr>
      <vt:lpstr>PowerPoint 演示文稿</vt:lpstr>
      <vt:lpstr>单例模式</vt:lpstr>
      <vt:lpstr>PowerPoint 演示文稿</vt:lpstr>
      <vt:lpstr>一些新增的内容</vt:lpstr>
      <vt:lpstr>音乐播放功能</vt:lpstr>
      <vt:lpstr>使用的设计模式</vt:lpstr>
      <vt:lpstr>记录功能</vt:lpstr>
      <vt:lpstr>PowerPoint 演示文稿</vt:lpstr>
      <vt:lpstr>PowerPoint 演示文稿</vt:lpstr>
      <vt:lpstr>主题选择功能</vt:lpstr>
      <vt:lpstr>使用的设计模式</vt:lpstr>
      <vt:lpstr>PowerPoint 演示文稿</vt:lpstr>
      <vt:lpstr>PowerPoint 演示文稿</vt:lpstr>
      <vt:lpstr>主要界面</vt:lpstr>
      <vt:lpstr>主要界面</vt:lpstr>
      <vt:lpstr>代码的主要流程</vt:lpstr>
      <vt:lpstr>主要流程</vt:lpstr>
      <vt:lpstr>PowerPoint 演示文稿</vt:lpstr>
      <vt:lpstr>Thank you</vt:lpstr>
      <vt:lpstr>代码的主体框架分为三个包九个类</vt:lpstr>
      <vt:lpstr>三个包的作用</vt:lpstr>
      <vt:lpstr>GameDriver</vt:lpstr>
      <vt:lpstr>UserInterface</vt:lpstr>
      <vt:lpstr>UserInterface</vt:lpstr>
      <vt:lpstr>Library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志城 王</dc:creator>
  <cp:lastModifiedBy>志城 王</cp:lastModifiedBy>
  <cp:revision>103</cp:revision>
  <dcterms:created xsi:type="dcterms:W3CDTF">2025-11-02T06:55:21Z</dcterms:created>
  <dcterms:modified xsi:type="dcterms:W3CDTF">2025-11-30T03:06:13Z</dcterms:modified>
</cp:coreProperties>
</file>