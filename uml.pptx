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32"/>
  </p:notesMasterIdLst>
  <p:sldIdLst>
    <p:sldId id="256" r:id="rId3"/>
    <p:sldId id="280" r:id="rId4"/>
    <p:sldId id="274" r:id="rId5"/>
    <p:sldId id="268" r:id="rId6"/>
    <p:sldId id="275" r:id="rId7"/>
    <p:sldId id="266" r:id="rId8"/>
    <p:sldId id="284" r:id="rId9"/>
    <p:sldId id="267" r:id="rId10"/>
    <p:sldId id="285" r:id="rId11"/>
    <p:sldId id="281" r:id="rId12"/>
    <p:sldId id="283" r:id="rId13"/>
    <p:sldId id="276" r:id="rId14"/>
    <p:sldId id="286" r:id="rId15"/>
    <p:sldId id="287" r:id="rId16"/>
    <p:sldId id="290" r:id="rId17"/>
    <p:sldId id="289" r:id="rId18"/>
    <p:sldId id="291" r:id="rId19"/>
    <p:sldId id="277" r:id="rId20"/>
    <p:sldId id="263" r:id="rId21"/>
    <p:sldId id="278" r:id="rId22"/>
    <p:sldId id="264" r:id="rId23"/>
    <p:sldId id="265" r:id="rId24"/>
    <p:sldId id="279" r:id="rId25"/>
    <p:sldId id="262" r:id="rId26"/>
    <p:sldId id="261" r:id="rId27"/>
    <p:sldId id="257" r:id="rId28"/>
    <p:sldId id="258" r:id="rId29"/>
    <p:sldId id="259" r:id="rId30"/>
    <p:sldId id="260" r:id="rId3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11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2025/11/28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6807200" cy="1987549"/>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857170" y="1130300"/>
            <a:ext cx="7253368"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4.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5.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1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13.xml"/><Relationship Id="rId1" Type="http://schemas.openxmlformats.org/officeDocument/2006/relationships/themeOverride" Target="../theme/themeOverride13.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3.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4.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Layout" Target="../slideLayouts/slideLayout2.xml"/><Relationship Id="rId1" Type="http://schemas.openxmlformats.org/officeDocument/2006/relationships/themeOverride" Target="../theme/themeOverride15.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6.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themeOverride" Target="../theme/themeOverride19.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slideLayout" Target="../slideLayouts/slideLayout2.xml"/><Relationship Id="rId1" Type="http://schemas.openxmlformats.org/officeDocument/2006/relationships/themeOverride" Target="../theme/themeOverride20.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4.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63650"/>
            <a:ext cx="6807200" cy="1987549"/>
          </a:xfrm>
        </p:spPr>
        <p:txBody>
          <a:bodyPr/>
          <a:lstStyle/>
          <a:p>
            <a:pPr lvl="0"/>
            <a:r>
              <a:rPr lang="zh-CN" altLang="en-US" dirty="0"/>
              <a:t>扫雷游戏</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3428999"/>
            <a:ext cx="6807200" cy="1035051"/>
          </a:xfrm>
        </p:spPr>
        <p:txBody>
          <a:bodyPr/>
          <a:lstStyle/>
          <a:p>
            <a:pPr lvl="0"/>
            <a:r>
              <a:rPr lang="zh-CN" altLang="en-US" dirty="0"/>
              <a:t>王志城 张鑫</a:t>
            </a:r>
            <a:endParaRPr lang="en-US" dirty="0"/>
          </a:p>
        </p:txBody>
      </p:sp>
    </p:spTree>
    <p:extLst>
      <p:ext uri="{BB962C8B-B14F-4D97-AF65-F5344CB8AC3E}">
        <p14:creationId xmlns:p14="http://schemas.microsoft.com/office/powerpoint/2010/main" val="2993932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24AA1-09D7-EC3A-301E-028F418A25B3}"/>
              </a:ext>
            </a:extLst>
          </p:cNvPr>
          <p:cNvSpPr>
            <a:spLocks noGrp="1"/>
          </p:cNvSpPr>
          <p:nvPr>
            <p:ph type="title"/>
          </p:nvPr>
        </p:nvSpPr>
        <p:spPr>
          <a:xfrm>
            <a:off x="660400" y="1500187"/>
            <a:ext cx="2836562" cy="915667"/>
          </a:xfrm>
        </p:spPr>
        <p:txBody>
          <a:bodyPr/>
          <a:lstStyle/>
          <a:p>
            <a:pPr lvl="0"/>
            <a:r>
              <a:rPr lang="en-US"/>
              <a:t>Agenda</a:t>
            </a:r>
          </a:p>
        </p:txBody>
      </p:sp>
      <p:sp>
        <p:nvSpPr>
          <p:cNvPr id="3" name="Content Placeholder 2">
            <a:extLst>
              <a:ext uri="{FF2B5EF4-FFF2-40B4-BE49-F238E27FC236}">
                <a16:creationId xmlns:a16="http://schemas.microsoft.com/office/drawing/2014/main" id="{94C7ACB6-4040-4F8E-DAE4-CD916FCA3B1A}"/>
              </a:ext>
            </a:extLst>
          </p:cNvPr>
          <p:cNvSpPr>
            <a:spLocks noGrp="1"/>
          </p:cNvSpPr>
          <p:nvPr>
            <p:ph sz="quarter" idx="1"/>
          </p:nvPr>
        </p:nvSpPr>
        <p:spPr>
          <a:xfrm>
            <a:off x="3745078" y="1500188"/>
            <a:ext cx="7773821" cy="4633912"/>
          </a:xfrm>
        </p:spPr>
        <p:txBody>
          <a:bodyPr/>
          <a:lstStyle/>
          <a:p>
            <a:pPr lvl="0"/>
            <a:r>
              <a:rPr lang="zh-CN" altLang="en-US" dirty="0"/>
              <a:t>修改前后的类图</a:t>
            </a:r>
            <a:endParaRPr lang="en-US" dirty="0"/>
          </a:p>
          <a:p>
            <a:pPr lvl="0"/>
            <a:r>
              <a:rPr lang="zh-CN" altLang="en-US" dirty="0"/>
              <a:t>在原有基础上的修改</a:t>
            </a:r>
            <a:endParaRPr lang="en-US" dirty="0"/>
          </a:p>
          <a:p>
            <a:pPr lvl="0"/>
            <a:r>
              <a:rPr lang="zh-CN" altLang="en-US" dirty="0"/>
              <a:t>一些新增的内容</a:t>
            </a:r>
            <a:endParaRPr lang="en-US" altLang="zh-CN" dirty="0"/>
          </a:p>
          <a:p>
            <a:pPr lvl="0"/>
            <a:r>
              <a:rPr lang="zh-CN" altLang="en-US" dirty="0"/>
              <a:t>主要运行界面</a:t>
            </a:r>
            <a:endParaRPr lang="en-US" dirty="0"/>
          </a:p>
        </p:txBody>
      </p:sp>
      <p:sp>
        <p:nvSpPr>
          <p:cNvPr id="4" name="Slide Number Placeholder 3">
            <a:extLst>
              <a:ext uri="{FF2B5EF4-FFF2-40B4-BE49-F238E27FC236}">
                <a16:creationId xmlns:a16="http://schemas.microsoft.com/office/drawing/2014/main" id="{9C40017B-9BDF-5D77-335B-2FE0EAEE92E6}"/>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dirty="0"/>
          </a:p>
        </p:txBody>
      </p:sp>
    </p:spTree>
    <p:extLst>
      <p:ext uri="{BB962C8B-B14F-4D97-AF65-F5344CB8AC3E}">
        <p14:creationId xmlns:p14="http://schemas.microsoft.com/office/powerpoint/2010/main" val="3361711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修改前后的类图</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85026"/>
            <a:ext cx="5157229" cy="6772974"/>
          </a:xfrm>
          <a:prstGeom prst="rect">
            <a:avLst/>
          </a:prstGeom>
        </p:spPr>
      </p:pic>
    </p:spTree>
    <p:extLst>
      <p:ext uri="{BB962C8B-B14F-4D97-AF65-F5344CB8AC3E}">
        <p14:creationId xmlns:p14="http://schemas.microsoft.com/office/powerpoint/2010/main" val="3884975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在原有基础上的修改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653473" y="69561"/>
            <a:ext cx="10515600" cy="1325563"/>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55000" lnSpcReduction="20000"/>
          </a:bodyPr>
          <a:lstStyle/>
          <a:p>
            <a:pPr marL="0" indent="0">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stretch>
            <a:fillRect/>
          </a:stretch>
        </p:blipFill>
        <p:spPr>
          <a:xfrm>
            <a:off x="6575569" y="1672215"/>
            <a:ext cx="5229225" cy="4324350"/>
          </a:xfrm>
          <a:prstGeom prst="rect">
            <a:avLst/>
          </a:prstGeom>
        </p:spPr>
      </p:pic>
    </p:spTree>
    <p:extLst>
      <p:ext uri="{BB962C8B-B14F-4D97-AF65-F5344CB8AC3E}">
        <p14:creationId xmlns:p14="http://schemas.microsoft.com/office/powerpoint/2010/main" val="34355234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138545" y="449791"/>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stretch>
            <a:fillRect/>
          </a:stretch>
        </p:blipFill>
        <p:spPr>
          <a:xfrm>
            <a:off x="240145" y="3266882"/>
            <a:ext cx="4496427" cy="2762636"/>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138545" y="82848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pic>
        <p:nvPicPr>
          <p:cNvPr id="8" name="图片 7">
            <a:extLst>
              <a:ext uri="{FF2B5EF4-FFF2-40B4-BE49-F238E27FC236}">
                <a16:creationId xmlns:a16="http://schemas.microsoft.com/office/drawing/2014/main" id="{8A788526-8175-F39D-3C2F-A1E224622DDC}"/>
              </a:ext>
            </a:extLst>
          </p:cNvPr>
          <p:cNvPicPr>
            <a:picLocks noChangeAspect="1"/>
          </p:cNvPicPr>
          <p:nvPr/>
        </p:nvPicPr>
        <p:blipFill>
          <a:blip r:embed="rId4"/>
          <a:stretch>
            <a:fillRect/>
          </a:stretch>
        </p:blipFill>
        <p:spPr>
          <a:xfrm>
            <a:off x="5175454" y="3106137"/>
            <a:ext cx="6776401" cy="3883869"/>
          </a:xfrm>
          <a:prstGeom prst="rect">
            <a:avLst/>
          </a:prstGeom>
        </p:spPr>
      </p:pic>
      <p:sp>
        <p:nvSpPr>
          <p:cNvPr id="11" name="文本框 10">
            <a:extLst>
              <a:ext uri="{FF2B5EF4-FFF2-40B4-BE49-F238E27FC236}">
                <a16:creationId xmlns:a16="http://schemas.microsoft.com/office/drawing/2014/main" id="{1D6CCF70-08EA-18FC-26A8-DBCA2D119A3E}"/>
              </a:ext>
            </a:extLst>
          </p:cNvPr>
          <p:cNvSpPr txBox="1"/>
          <p:nvPr/>
        </p:nvSpPr>
        <p:spPr>
          <a:xfrm>
            <a:off x="5175453" y="317522"/>
            <a:ext cx="6776401" cy="2585323"/>
          </a:xfrm>
          <a:prstGeom prst="rect">
            <a:avLst/>
          </a:prstGeom>
          <a:noFill/>
        </p:spPr>
        <p:txBody>
          <a:bodyPr wrap="square" rtlCol="0">
            <a:spAutoFit/>
          </a:bodyPr>
          <a:lstStyle/>
          <a:p>
            <a:r>
              <a:rPr lang="zh-CN" altLang="en-US" i="0" dirty="0">
                <a:effectLst/>
                <a:latin typeface="Segoe WPC"/>
              </a:rPr>
              <a:t>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这个方法是“模板流程中的某一个可变步骤”的具体实现：</a:t>
            </a:r>
          </a:p>
          <a:p>
            <a:r>
              <a:rPr lang="zh-CN" altLang="en-US" dirty="0"/>
              <a:t>如何根据是否有雷来更新图片；</a:t>
            </a:r>
          </a:p>
          <a:p>
            <a:r>
              <a:rPr lang="zh-CN" altLang="en-US" dirty="0"/>
              <a:t>如何调用 </a:t>
            </a:r>
            <a:r>
              <a:rPr lang="en-US" altLang="zh-CN" dirty="0" err="1"/>
              <a:t>CheckSquare</a:t>
            </a:r>
            <a:r>
              <a:rPr lang="en-US" altLang="zh-CN" dirty="0"/>
              <a:t> </a:t>
            </a:r>
            <a:r>
              <a:rPr lang="zh-CN" altLang="en-US" dirty="0"/>
              <a:t>统计周围地雷；</a:t>
            </a:r>
          </a:p>
          <a:p>
            <a:r>
              <a:rPr lang="zh-CN" altLang="en-US" dirty="0"/>
              <a:t>如何判断胜负并弹出不同的窗口；</a:t>
            </a:r>
          </a:p>
          <a:p>
            <a:r>
              <a:rPr lang="zh-CN" altLang="en-US" dirty="0"/>
              <a:t>怎样使用 </a:t>
            </a:r>
            <a:r>
              <a:rPr lang="en-US" altLang="zh-CN" dirty="0" err="1"/>
              <a:t>TimeChecker</a:t>
            </a:r>
            <a:r>
              <a:rPr lang="en-US" altLang="zh-CN" dirty="0"/>
              <a:t> </a:t>
            </a:r>
            <a:r>
              <a:rPr lang="zh-CN" altLang="en-US" dirty="0"/>
              <a:t>显示用时。</a:t>
            </a:r>
          </a:p>
          <a:p>
            <a:r>
              <a:rPr lang="zh-CN" altLang="en-US" dirty="0"/>
              <a:t>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 </a:t>
            </a:r>
            <a:r>
              <a:rPr lang="en-US" altLang="zh-CN" dirty="0" err="1"/>
              <a:t>SmartSquare.clicked</a:t>
            </a:r>
            <a:r>
              <a:rPr lang="en-US" altLang="zh-CN" dirty="0"/>
              <a:t>() </a:t>
            </a:r>
            <a:r>
              <a:rPr lang="zh-CN" altLang="en-US" dirty="0"/>
              <a:t>决定。</a:t>
            </a:r>
          </a:p>
        </p:txBody>
      </p:sp>
    </p:spTree>
    <p:extLst>
      <p:ext uri="{BB962C8B-B14F-4D97-AF65-F5344CB8AC3E}">
        <p14:creationId xmlns:p14="http://schemas.microsoft.com/office/powerpoint/2010/main" val="394159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264978" y="83976"/>
            <a:ext cx="7631545" cy="5674209"/>
          </a:xfrm>
        </p:spPr>
        <p:txBody>
          <a:bodyPr>
            <a:noAutofit/>
          </a:bodyPr>
          <a:lstStyle/>
          <a:p>
            <a:pPr marL="0" indent="0">
              <a:buNone/>
            </a:pPr>
            <a:r>
              <a:rPr lang="zh-CN" altLang="en-US" sz="4400" dirty="0"/>
              <a:t>观察者模式 </a:t>
            </a:r>
            <a:endParaRPr lang="en-US" altLang="zh-CN" sz="4400" dirty="0"/>
          </a:p>
          <a:p>
            <a:pPr marL="0" indent="0">
              <a:buNone/>
            </a:pPr>
            <a:r>
              <a:rPr lang="zh-CN" altLang="en-US" sz="1600" b="1" dirty="0"/>
              <a:t>说明</a:t>
            </a:r>
            <a:r>
              <a:rPr lang="en-US" altLang="zh-CN" sz="1600" b="1" dirty="0"/>
              <a:t>: </a:t>
            </a:r>
            <a:r>
              <a:rPr lang="en-US" altLang="zh-CN" sz="1600" dirty="0" err="1"/>
              <a:t>SmartSquare</a:t>
            </a:r>
            <a:r>
              <a:rPr lang="zh-CN" altLang="en-US" sz="1600" dirty="0"/>
              <a:t>（观察者）向事件源（如按钮本身）注册自己。当鼠标点击事件发生时，事件源会通知所有注册的观察者，并调用它们的回调方法（如 </a:t>
            </a:r>
            <a:r>
              <a:rPr lang="en-US" altLang="zh-CN" sz="1600" dirty="0" err="1"/>
              <a:t>mouseClicked</a:t>
            </a:r>
            <a:r>
              <a:rPr lang="en-US" altLang="zh-CN" sz="1600" dirty="0"/>
              <a:t>()</a:t>
            </a:r>
            <a:r>
              <a:rPr lang="zh-CN" altLang="en-US" sz="1600" dirty="0"/>
              <a:t>）。这实现了事件源和事件处理者之间的解耦。</a:t>
            </a:r>
            <a:endParaRPr lang="en-US" altLang="zh-CN" sz="1600" dirty="0"/>
          </a:p>
          <a:p>
            <a:pPr marL="0" indent="0">
              <a:buNone/>
            </a:pPr>
            <a:r>
              <a:rPr lang="zh-CN" altLang="en-US" sz="1600" b="1" dirty="0"/>
              <a:t>优点：</a:t>
            </a:r>
            <a:endParaRPr lang="en-US" altLang="zh-CN" sz="1600" b="1" dirty="0"/>
          </a:p>
          <a:p>
            <a:pPr marL="0" indent="0">
              <a:buNone/>
            </a:pPr>
            <a:r>
              <a:rPr lang="en-US" altLang="zh-CN" sz="1600" b="1" dirty="0"/>
              <a:t> 1. </a:t>
            </a:r>
            <a:r>
              <a:rPr lang="zh-CN" altLang="en-US" sz="1600" b="1" dirty="0"/>
              <a:t>主题与观察者的解耦 </a:t>
            </a:r>
            <a:endParaRPr lang="en-US" altLang="zh-CN" sz="1600" b="1" dirty="0"/>
          </a:p>
          <a:p>
            <a:pPr marL="0" indent="0">
              <a:buNone/>
            </a:pPr>
            <a:r>
              <a:rPr lang="en-US" altLang="zh-CN" sz="1600" dirty="0" err="1"/>
              <a:t>JButton</a:t>
            </a:r>
            <a:r>
              <a:rPr lang="en-US" altLang="zh-CN" sz="1600" dirty="0"/>
              <a:t> </a:t>
            </a:r>
            <a:r>
              <a:rPr lang="zh-CN" altLang="en-US" sz="1600" dirty="0"/>
              <a:t>和 </a:t>
            </a:r>
            <a:r>
              <a:rPr lang="en-US" altLang="zh-CN" sz="1600" dirty="0" err="1"/>
              <a:t>SmartSquare</a:t>
            </a:r>
            <a:r>
              <a:rPr lang="zh-CN" altLang="en-US" sz="1600" dirty="0"/>
              <a:t>之间没有编译时的硬编码依赖。它们通过一个抽象的接口 </a:t>
            </a:r>
            <a:r>
              <a:rPr lang="en-US" altLang="zh-CN" sz="1600" dirty="0"/>
              <a:t>(</a:t>
            </a:r>
            <a:r>
              <a:rPr lang="en-US" altLang="zh-CN" sz="1600" dirty="0" err="1"/>
              <a:t>MouseListener</a:t>
            </a:r>
            <a:r>
              <a:rPr lang="en-US" altLang="zh-CN" sz="1600" dirty="0"/>
              <a:t>) </a:t>
            </a:r>
            <a:r>
              <a:rPr lang="zh-CN" altLang="en-US" sz="1600" dirty="0"/>
              <a:t>进行通信。相较于原有代码，</a:t>
            </a:r>
            <a:r>
              <a:rPr lang="en-US" altLang="zh-CN" sz="1600" dirty="0" err="1"/>
              <a:t>GameBoard</a:t>
            </a:r>
            <a:r>
              <a:rPr lang="zh-CN" altLang="en-US" sz="1600" dirty="0"/>
              <a:t>与 </a:t>
            </a:r>
            <a:r>
              <a:rPr lang="en-US" altLang="zh-CN" sz="1600" dirty="0" err="1"/>
              <a:t>GameSquare</a:t>
            </a:r>
            <a:r>
              <a:rPr lang="zh-CN" altLang="en-US" sz="1600" dirty="0"/>
              <a:t>是紧密耦合的。</a:t>
            </a:r>
            <a:r>
              <a:rPr lang="en-US" altLang="zh-CN" sz="1600" dirty="0" err="1"/>
              <a:t>GameBoard</a:t>
            </a:r>
            <a:r>
              <a:rPr lang="zh-CN" altLang="en-US" sz="1600" dirty="0"/>
              <a:t>的 </a:t>
            </a:r>
            <a:r>
              <a:rPr lang="en-US" altLang="zh-CN" sz="1600" dirty="0" err="1"/>
              <a:t>handleSquareClick</a:t>
            </a:r>
            <a:r>
              <a:rPr lang="en-US" altLang="zh-CN" sz="1600" dirty="0"/>
              <a:t> </a:t>
            </a:r>
            <a:r>
              <a:rPr lang="zh-CN" altLang="en-US" sz="1600" dirty="0"/>
              <a:t>方法必须明确知道 </a:t>
            </a:r>
            <a:r>
              <a:rPr lang="en-US" altLang="zh-CN" sz="1600" dirty="0" err="1"/>
              <a:t>GameSquare</a:t>
            </a:r>
            <a:r>
              <a:rPr lang="zh-CN" altLang="en-US" sz="1600" dirty="0"/>
              <a:t>的内部状态才能工作。如果 </a:t>
            </a:r>
            <a:r>
              <a:rPr lang="en-US" altLang="zh-CN" sz="1600" dirty="0" err="1"/>
              <a:t>GameSquare</a:t>
            </a:r>
            <a:r>
              <a:rPr lang="zh-CN" altLang="en-US" sz="1600" dirty="0"/>
              <a:t>的实现改变，</a:t>
            </a:r>
            <a:r>
              <a:rPr lang="en-US" altLang="zh-CN" sz="1600" dirty="0" err="1"/>
              <a:t>GameBoard</a:t>
            </a:r>
            <a:r>
              <a:rPr lang="zh-CN" altLang="en-US" sz="1600" dirty="0"/>
              <a:t>也必须随之修改。而观察者模式中，</a:t>
            </a:r>
            <a:r>
              <a:rPr lang="en-US" altLang="zh-CN" sz="1600" dirty="0" err="1"/>
              <a:t>SmartSquare</a:t>
            </a:r>
            <a:r>
              <a:rPr lang="zh-CN" altLang="en-US" sz="1600" dirty="0"/>
              <a:t>的内部逻辑无论多复杂，</a:t>
            </a:r>
            <a:r>
              <a:rPr lang="en-US" altLang="zh-CN" sz="1600" dirty="0" err="1"/>
              <a:t>JButton</a:t>
            </a:r>
            <a:r>
              <a:rPr lang="zh-CN" altLang="en-US" sz="1600" dirty="0"/>
              <a:t>的通知机制都无需改变。</a:t>
            </a:r>
            <a:endParaRPr lang="en-US" altLang="zh-CN" sz="1600" dirty="0"/>
          </a:p>
          <a:p>
            <a:pPr marL="0" indent="0">
              <a:buNone/>
            </a:pPr>
            <a:r>
              <a:rPr lang="en-US" altLang="zh-CN" sz="1600" b="1" dirty="0"/>
              <a:t>2. </a:t>
            </a:r>
            <a:r>
              <a:rPr lang="zh-CN" altLang="en-US" sz="1600" b="1" dirty="0"/>
              <a:t>支持广播通信 </a:t>
            </a:r>
            <a:endParaRPr lang="en-US" altLang="zh-CN" sz="1600" b="1" dirty="0"/>
          </a:p>
          <a:p>
            <a:pPr marL="0" indent="0">
              <a:buNone/>
            </a:pPr>
            <a:r>
              <a:rPr lang="zh-CN" altLang="en-US" sz="1600" dirty="0"/>
              <a:t>可以在运行时动态地为一个主题添加或移除观察者，相较于原有代码中的</a:t>
            </a:r>
            <a:r>
              <a:rPr lang="en-US" altLang="zh-CN" sz="1600" dirty="0" err="1"/>
              <a:t>handleSquareClick</a:t>
            </a:r>
            <a:r>
              <a:rPr lang="zh-CN" altLang="en-US" sz="1600" dirty="0"/>
              <a:t>是一种一对一的命令式调用，缺乏灵活性。而在观察者模式下，我们可以轻易地扩展功能。</a:t>
            </a:r>
            <a:endParaRPr lang="en-US" altLang="zh-CN" sz="1600" dirty="0"/>
          </a:p>
          <a:p>
            <a:pPr marL="0" indent="0">
              <a:buNone/>
            </a:pPr>
            <a:r>
              <a:rPr lang="en-US" altLang="zh-CN" sz="1600" b="1" dirty="0"/>
              <a:t>3. </a:t>
            </a:r>
            <a:r>
              <a:rPr lang="zh-CN" altLang="en-US" sz="1600" b="1" dirty="0"/>
              <a:t>抽象了通知机制 </a:t>
            </a:r>
            <a:endParaRPr lang="en-US" altLang="zh-CN" sz="1600" b="1" dirty="0"/>
          </a:p>
          <a:p>
            <a:pPr marL="0" indent="0">
              <a:buNone/>
            </a:pPr>
            <a:r>
              <a:rPr lang="zh-CN" altLang="en-US" sz="1600" dirty="0"/>
              <a:t>事件触发和处理的逻辑被清晰地分开了。</a:t>
            </a:r>
            <a:r>
              <a:rPr lang="en-US" altLang="zh-CN" sz="1600" dirty="0" err="1"/>
              <a:t>SmartSquare</a:t>
            </a:r>
            <a:r>
              <a:rPr lang="zh-CN" altLang="en-US" sz="1600" dirty="0"/>
              <a:t>只需在构造时说一句“我要订阅点击事件” ，之后就只需在</a:t>
            </a:r>
            <a:r>
              <a:rPr lang="en-US" altLang="zh-CN" sz="1600" dirty="0" err="1"/>
              <a:t>mouseClicked</a:t>
            </a:r>
            <a:r>
              <a:rPr lang="zh-CN" altLang="en-US" sz="1600" dirty="0"/>
              <a:t>方法里等待通知即可，它不需要关心事件是如何被底层的</a:t>
            </a:r>
            <a:r>
              <a:rPr lang="en-US" altLang="zh-CN" sz="1600" dirty="0" err="1"/>
              <a:t>JButton</a:t>
            </a:r>
            <a:r>
              <a:rPr lang="zh-CN" altLang="en-US" sz="1600" dirty="0"/>
              <a:t>捕获和分发的。相较于初始版本中没有抽象的通知机制，</a:t>
            </a:r>
            <a:r>
              <a:rPr lang="en-US" altLang="zh-CN" sz="1600" dirty="0" err="1"/>
              <a:t>GameBoard</a:t>
            </a:r>
            <a:r>
              <a:rPr lang="zh-CN" altLang="en-US" sz="1600" dirty="0"/>
              <a:t>必须手动为每个按钮设置监听器。这种集中式的处理方式使得当逻辑变得复杂时，</a:t>
            </a:r>
            <a:r>
              <a:rPr lang="en-US" altLang="zh-CN" sz="1600" dirty="0" err="1"/>
              <a:t>handleSquareClick</a:t>
            </a:r>
            <a:r>
              <a:rPr lang="zh-CN" altLang="en-US" sz="1600" dirty="0"/>
              <a:t>方法会迅速膨胀，变得难以维护。观察者模式则将这种复杂的集中式逻辑分散到了各个独立的观察者内部，使得每个部分都更简单。</a:t>
            </a:r>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8199159" y="0"/>
            <a:ext cx="3589173" cy="6858000"/>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293254" y="907552"/>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stretch>
            <a:fillRect/>
          </a:stretch>
        </p:blipFill>
        <p:spPr>
          <a:xfrm>
            <a:off x="6242073" y="713588"/>
            <a:ext cx="5377273" cy="5569007"/>
          </a:xfrm>
          <a:prstGeom prst="rect">
            <a:avLst/>
          </a:prstGeom>
        </p:spPr>
      </p:pic>
    </p:spTree>
    <p:extLst>
      <p:ext uri="{BB962C8B-B14F-4D97-AF65-F5344CB8AC3E}">
        <p14:creationId xmlns:p14="http://schemas.microsoft.com/office/powerpoint/2010/main" val="28626297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210127" y="-56737"/>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348672" y="83953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453735" y="1451049"/>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77763" y="4870813"/>
            <a:ext cx="11753850" cy="1828800"/>
          </a:xfrm>
          <a:prstGeom prst="rect">
            <a:avLst/>
          </a:prstGeom>
        </p:spPr>
      </p:pic>
    </p:spTree>
    <p:extLst>
      <p:ext uri="{BB962C8B-B14F-4D97-AF65-F5344CB8AC3E}">
        <p14:creationId xmlns:p14="http://schemas.microsoft.com/office/powerpoint/2010/main" val="26124652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356716" y="674178"/>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975927" y="5305749"/>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stretch>
            <a:fillRect/>
          </a:stretch>
        </p:blipFill>
        <p:spPr>
          <a:xfrm>
            <a:off x="5057622" y="5985144"/>
            <a:ext cx="6858957" cy="676369"/>
          </a:xfrm>
          <a:prstGeom prst="rect">
            <a:avLst/>
          </a:prstGeom>
        </p:spPr>
      </p:pic>
    </p:spTree>
    <p:extLst>
      <p:ext uri="{BB962C8B-B14F-4D97-AF65-F5344CB8AC3E}">
        <p14:creationId xmlns:p14="http://schemas.microsoft.com/office/powerpoint/2010/main" val="2852708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一些新增的内容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413121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normAutofit/>
          </a:bodyPr>
          <a:lstStyle/>
          <a:p>
            <a:r>
              <a:rPr lang="zh-CN" altLang="en-US" sz="4400" b="0" dirty="0">
                <a:latin typeface="等线 Light" panose="02010600030101010101" pitchFamily="2" charset="-122"/>
                <a:ea typeface="等线 Light" panose="02010600030101010101" pitchFamily="2" charset="-122"/>
              </a:rPr>
              <a:t>音乐播放功能</a:t>
            </a:r>
          </a:p>
        </p:txBody>
      </p:sp>
      <p:sp>
        <p:nvSpPr>
          <p:cNvPr id="6" name="文本框 5">
            <a:extLst>
              <a:ext uri="{FF2B5EF4-FFF2-40B4-BE49-F238E27FC236}">
                <a16:creationId xmlns:a16="http://schemas.microsoft.com/office/drawing/2014/main" id="{55DD6961-0CC2-0AB7-26E0-9E31F43D6121}"/>
              </a:ext>
            </a:extLst>
          </p:cNvPr>
          <p:cNvSpPr txBox="1"/>
          <p:nvPr/>
        </p:nvSpPr>
        <p:spPr>
          <a:xfrm>
            <a:off x="660400" y="1179373"/>
            <a:ext cx="3403496" cy="369332"/>
          </a:xfrm>
          <a:prstGeom prst="rect">
            <a:avLst/>
          </a:prstGeom>
          <a:noFill/>
        </p:spPr>
        <p:txBody>
          <a:bodyPr wrap="none" rtlCol="0">
            <a:spAutoFit/>
          </a:bodyPr>
          <a:lstStyle/>
          <a:p>
            <a:r>
              <a:rPr lang="zh-CN" altLang="en-US" dirty="0"/>
              <a:t>读取</a:t>
            </a:r>
            <a:r>
              <a:rPr lang="en-US" altLang="zh-CN" dirty="0" err="1"/>
              <a:t>bgm</a:t>
            </a:r>
            <a:r>
              <a:rPr lang="zh-CN" altLang="en-US" dirty="0"/>
              <a:t>文件夹中的音乐并播放</a:t>
            </a:r>
          </a:p>
        </p:txBody>
      </p:sp>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3630529557"/>
              </p:ext>
            </p:extLst>
          </p:nvPr>
        </p:nvGraphicFramePr>
        <p:xfrm>
          <a:off x="261257" y="1699379"/>
          <a:ext cx="7828383" cy="4141410"/>
        </p:xfrm>
        <a:graphic>
          <a:graphicData uri="http://schemas.openxmlformats.org/drawingml/2006/table">
            <a:tbl>
              <a:tblPr firstRow="1" bandRow="1">
                <a:tableStyleId>{5C22544A-7EE6-4342-B048-85BDC9FD1C3A}</a:tableStyleId>
              </a:tblPr>
              <a:tblGrid>
                <a:gridCol w="1383828">
                  <a:extLst>
                    <a:ext uri="{9D8B030D-6E8A-4147-A177-3AD203B41FA5}">
                      <a16:colId xmlns:a16="http://schemas.microsoft.com/office/drawing/2014/main" val="1506973227"/>
                    </a:ext>
                  </a:extLst>
                </a:gridCol>
                <a:gridCol w="1398025">
                  <a:extLst>
                    <a:ext uri="{9D8B030D-6E8A-4147-A177-3AD203B41FA5}">
                      <a16:colId xmlns:a16="http://schemas.microsoft.com/office/drawing/2014/main" val="213374773"/>
                    </a:ext>
                  </a:extLst>
                </a:gridCol>
                <a:gridCol w="2523265">
                  <a:extLst>
                    <a:ext uri="{9D8B030D-6E8A-4147-A177-3AD203B41FA5}">
                      <a16:colId xmlns:a16="http://schemas.microsoft.com/office/drawing/2014/main" val="2321845813"/>
                    </a:ext>
                  </a:extLst>
                </a:gridCol>
                <a:gridCol w="2523265">
                  <a:extLst>
                    <a:ext uri="{9D8B030D-6E8A-4147-A177-3AD203B41FA5}">
                      <a16:colId xmlns:a16="http://schemas.microsoft.com/office/drawing/2014/main" val="3335136129"/>
                    </a:ext>
                  </a:extLst>
                </a:gridCol>
              </a:tblGrid>
              <a:tr h="372050">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370840">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370840">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370840">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370840">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370840">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370840">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370840">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pic>
        <p:nvPicPr>
          <p:cNvPr id="11" name="图片 10">
            <a:extLst>
              <a:ext uri="{FF2B5EF4-FFF2-40B4-BE49-F238E27FC236}">
                <a16:creationId xmlns:a16="http://schemas.microsoft.com/office/drawing/2014/main" id="{E4DDDACD-4578-0486-EEFC-CA67B214A152}"/>
              </a:ext>
            </a:extLst>
          </p:cNvPr>
          <p:cNvPicPr>
            <a:picLocks noChangeAspect="1"/>
          </p:cNvPicPr>
          <p:nvPr/>
        </p:nvPicPr>
        <p:blipFill>
          <a:blip r:embed="rId3"/>
          <a:stretch>
            <a:fillRect/>
          </a:stretch>
        </p:blipFill>
        <p:spPr>
          <a:xfrm>
            <a:off x="6189771" y="121736"/>
            <a:ext cx="5858693" cy="1790950"/>
          </a:xfrm>
          <a:prstGeom prst="rect">
            <a:avLst/>
          </a:prstGeom>
        </p:spPr>
      </p:pic>
      <p:pic>
        <p:nvPicPr>
          <p:cNvPr id="13" name="图片 12">
            <a:extLst>
              <a:ext uri="{FF2B5EF4-FFF2-40B4-BE49-F238E27FC236}">
                <a16:creationId xmlns:a16="http://schemas.microsoft.com/office/drawing/2014/main" id="{36CF509A-3419-A86E-1627-DABFA95A47FA}"/>
              </a:ext>
            </a:extLst>
          </p:cNvPr>
          <p:cNvPicPr>
            <a:picLocks noChangeAspect="1"/>
          </p:cNvPicPr>
          <p:nvPr/>
        </p:nvPicPr>
        <p:blipFill>
          <a:blip r:embed="rId4"/>
          <a:stretch>
            <a:fillRect/>
          </a:stretch>
        </p:blipFill>
        <p:spPr>
          <a:xfrm>
            <a:off x="8640153" y="2443599"/>
            <a:ext cx="2495898" cy="1457528"/>
          </a:xfrm>
          <a:prstGeom prst="rect">
            <a:avLst/>
          </a:prstGeom>
        </p:spPr>
      </p:pic>
      <p:sp>
        <p:nvSpPr>
          <p:cNvPr id="15" name="文本框 14">
            <a:extLst>
              <a:ext uri="{FF2B5EF4-FFF2-40B4-BE49-F238E27FC236}">
                <a16:creationId xmlns:a16="http://schemas.microsoft.com/office/drawing/2014/main" id="{DA95B6B8-57A2-B922-1FC4-D93CA8875F88}"/>
              </a:ext>
            </a:extLst>
          </p:cNvPr>
          <p:cNvSpPr txBox="1"/>
          <p:nvPr/>
        </p:nvSpPr>
        <p:spPr>
          <a:xfrm>
            <a:off x="9119117" y="1977999"/>
            <a:ext cx="1107996" cy="369332"/>
          </a:xfrm>
          <a:prstGeom prst="rect">
            <a:avLst/>
          </a:prstGeom>
          <a:noFill/>
        </p:spPr>
        <p:txBody>
          <a:bodyPr wrap="none" rtlCol="0">
            <a:spAutoFit/>
          </a:bodyPr>
          <a:lstStyle/>
          <a:p>
            <a:r>
              <a:rPr lang="zh-CN" altLang="en-US" dirty="0"/>
              <a:t>选择界面</a:t>
            </a:r>
          </a:p>
        </p:txBody>
      </p:sp>
      <p:pic>
        <p:nvPicPr>
          <p:cNvPr id="16" name="图片 15">
            <a:extLst>
              <a:ext uri="{FF2B5EF4-FFF2-40B4-BE49-F238E27FC236}">
                <a16:creationId xmlns:a16="http://schemas.microsoft.com/office/drawing/2014/main" id="{19E547AE-EABB-719B-ECEF-6943F7FCF3A2}"/>
              </a:ext>
            </a:extLst>
          </p:cNvPr>
          <p:cNvPicPr>
            <a:picLocks noChangeAspect="1"/>
          </p:cNvPicPr>
          <p:nvPr/>
        </p:nvPicPr>
        <p:blipFill>
          <a:blip r:embed="rId5"/>
          <a:stretch>
            <a:fillRect/>
          </a:stretch>
        </p:blipFill>
        <p:spPr>
          <a:xfrm>
            <a:off x="8838093" y="4235938"/>
            <a:ext cx="1924319" cy="2286319"/>
          </a:xfrm>
          <a:prstGeom prst="rect">
            <a:avLst/>
          </a:prstGeom>
        </p:spPr>
      </p:pic>
    </p:spTree>
    <p:extLst>
      <p:ext uri="{BB962C8B-B14F-4D97-AF65-F5344CB8AC3E}">
        <p14:creationId xmlns:p14="http://schemas.microsoft.com/office/powerpoint/2010/main" val="15529059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304B3C-8C40-FB4E-E0D6-DF54A0F64717}"/>
              </a:ext>
            </a:extLst>
          </p:cNvPr>
          <p:cNvSpPr>
            <a:spLocks noGrp="1"/>
          </p:cNvSpPr>
          <p:nvPr>
            <p:ph type="title"/>
          </p:nvPr>
        </p:nvSpPr>
        <p:spPr/>
        <p:txBody>
          <a:bodyPr>
            <a:normAutofit/>
          </a:bodyPr>
          <a:lstStyle/>
          <a:p>
            <a:r>
              <a:rPr lang="zh-CN" altLang="en-US" sz="4400" dirty="0">
                <a:latin typeface="等线 Light" panose="02010600030101010101" pitchFamily="2" charset="-122"/>
                <a:ea typeface="等线 Light" panose="02010600030101010101" pitchFamily="2" charset="-122"/>
              </a:rPr>
              <a:t>使用的设计模式</a:t>
            </a:r>
          </a:p>
        </p:txBody>
      </p:sp>
      <p:sp>
        <p:nvSpPr>
          <p:cNvPr id="3" name="内容占位符 2">
            <a:extLst>
              <a:ext uri="{FF2B5EF4-FFF2-40B4-BE49-F238E27FC236}">
                <a16:creationId xmlns:a16="http://schemas.microsoft.com/office/drawing/2014/main" id="{B761F1BF-3910-942E-BD11-920380B4413A}"/>
              </a:ext>
            </a:extLst>
          </p:cNvPr>
          <p:cNvSpPr>
            <a:spLocks noGrp="1"/>
          </p:cNvSpPr>
          <p:nvPr>
            <p:ph idx="1"/>
          </p:nvPr>
        </p:nvSpPr>
        <p:spPr>
          <a:xfrm>
            <a:off x="581089" y="1028700"/>
            <a:ext cx="3906935" cy="1910444"/>
          </a:xfrm>
        </p:spPr>
        <p:txBody>
          <a:bodyPr>
            <a:normAutofit fontScale="92500" lnSpcReduction="10000"/>
          </a:bodyPr>
          <a:lstStyle/>
          <a:p>
            <a:pPr marL="342900" indent="-342900">
              <a:buAutoNum type="arabicPeriod"/>
            </a:pPr>
            <a:r>
              <a:rPr lang="zh-CN" altLang="en-US" sz="1500" dirty="0"/>
              <a:t>单例模式</a:t>
            </a:r>
            <a:endParaRPr lang="en-US" altLang="zh-CN" sz="1500" dirty="0"/>
          </a:p>
          <a:p>
            <a:pPr marL="0" indent="0">
              <a:buNone/>
            </a:pPr>
            <a:r>
              <a:rPr lang="zh-CN" altLang="en-US" sz="1500" b="0" i="0" dirty="0">
                <a:effectLst/>
                <a:latin typeface="Segoe WPC"/>
              </a:rPr>
              <a:t>确保整个应用程序中只有一个音乐播放器实例</a:t>
            </a:r>
            <a:endParaRPr lang="en-US" altLang="zh-CN" sz="1500" b="0" i="0" dirty="0">
              <a:effectLst/>
              <a:latin typeface="Segoe WPC"/>
            </a:endParaRPr>
          </a:p>
          <a:p>
            <a:pPr marL="0" indent="0">
              <a:buNone/>
            </a:pPr>
            <a:r>
              <a:rPr lang="zh-CN" altLang="en-US" sz="1500" b="0" i="0" dirty="0">
                <a:effectLst/>
                <a:latin typeface="Segoe WPC"/>
              </a:rPr>
              <a:t>所有界面（</a:t>
            </a:r>
            <a:r>
              <a:rPr lang="en-US" altLang="zh-CN" sz="1500" b="0" i="0" dirty="0">
                <a:effectLst/>
                <a:latin typeface="Segoe WPC"/>
              </a:rPr>
              <a:t>Menu</a:t>
            </a:r>
            <a:r>
              <a:rPr lang="zh-CN" altLang="en-US" sz="1500" b="0" i="0" dirty="0">
                <a:effectLst/>
                <a:latin typeface="Segoe WPC"/>
              </a:rPr>
              <a:t>、</a:t>
            </a:r>
            <a:r>
              <a:rPr lang="en-US" altLang="zh-CN" sz="1500" b="0" i="0" dirty="0" err="1">
                <a:effectLst/>
                <a:latin typeface="Segoe WPC"/>
              </a:rPr>
              <a:t>GameBoard</a:t>
            </a:r>
            <a:r>
              <a:rPr lang="zh-CN" altLang="en-US" sz="1500" b="0" i="0" dirty="0">
                <a:effectLst/>
                <a:latin typeface="Segoe WPC"/>
              </a:rPr>
              <a:t>、</a:t>
            </a:r>
            <a:r>
              <a:rPr lang="en-US" altLang="zh-CN" sz="1500" b="0" i="0" dirty="0" err="1">
                <a:effectLst/>
                <a:latin typeface="Segoe WPC"/>
              </a:rPr>
              <a:t>SmartSquare</a:t>
            </a:r>
            <a:r>
              <a:rPr lang="zh-CN" altLang="en-US" sz="1500" b="0" i="0" dirty="0">
                <a:effectLst/>
                <a:latin typeface="Segoe WPC"/>
              </a:rPr>
              <a:t>）都通过 </a:t>
            </a:r>
            <a:r>
              <a:rPr lang="en-US" altLang="zh-CN" sz="1500" dirty="0" err="1">
                <a:latin typeface="Segoe WPC"/>
              </a:rPr>
              <a:t>MusicPlayer.getInstance</a:t>
            </a:r>
            <a:r>
              <a:rPr lang="en-US" altLang="zh-CN" sz="1500" dirty="0">
                <a:latin typeface="Segoe WPC"/>
              </a:rPr>
              <a:t>()</a:t>
            </a:r>
            <a:r>
              <a:rPr lang="zh-CN" altLang="en-US" sz="1500" b="0" i="0" dirty="0">
                <a:effectLst/>
                <a:latin typeface="Segoe WPC"/>
              </a:rPr>
              <a:t>访问同一个播放器</a:t>
            </a:r>
          </a:p>
          <a:p>
            <a:pPr marL="0" indent="0" algn="l">
              <a:buNone/>
            </a:pPr>
            <a:r>
              <a:rPr lang="zh-CN" altLang="en-US" sz="1500" b="0" i="0" dirty="0">
                <a:effectLst/>
                <a:latin typeface="Segoe WPC"/>
              </a:rPr>
              <a:t>避免多个播放器同时播放造成混乱</a:t>
            </a:r>
          </a:p>
          <a:p>
            <a:endParaRPr lang="zh-CN" altLang="en-US" dirty="0"/>
          </a:p>
        </p:txBody>
      </p:sp>
      <p:pic>
        <p:nvPicPr>
          <p:cNvPr id="4" name="图片 3">
            <a:extLst>
              <a:ext uri="{FF2B5EF4-FFF2-40B4-BE49-F238E27FC236}">
                <a16:creationId xmlns:a16="http://schemas.microsoft.com/office/drawing/2014/main" id="{49ABD8C1-A498-43CA-927F-31B2D941F895}"/>
              </a:ext>
            </a:extLst>
          </p:cNvPr>
          <p:cNvPicPr>
            <a:picLocks noChangeAspect="1"/>
          </p:cNvPicPr>
          <p:nvPr/>
        </p:nvPicPr>
        <p:blipFill>
          <a:blip r:embed="rId2"/>
          <a:stretch>
            <a:fillRect/>
          </a:stretch>
        </p:blipFill>
        <p:spPr>
          <a:xfrm>
            <a:off x="244475" y="2939144"/>
            <a:ext cx="5039428" cy="3248478"/>
          </a:xfrm>
          <a:prstGeom prst="rect">
            <a:avLst/>
          </a:prstGeom>
        </p:spPr>
      </p:pic>
      <p:sp>
        <p:nvSpPr>
          <p:cNvPr id="7" name="文本框 6">
            <a:extLst>
              <a:ext uri="{FF2B5EF4-FFF2-40B4-BE49-F238E27FC236}">
                <a16:creationId xmlns:a16="http://schemas.microsoft.com/office/drawing/2014/main" id="{E3EC151D-A1E7-2BF5-2003-73633E4B27B9}"/>
              </a:ext>
            </a:extLst>
          </p:cNvPr>
          <p:cNvSpPr txBox="1"/>
          <p:nvPr/>
        </p:nvSpPr>
        <p:spPr>
          <a:xfrm>
            <a:off x="5374432" y="128587"/>
            <a:ext cx="6817567" cy="1015663"/>
          </a:xfrm>
          <a:prstGeom prst="rect">
            <a:avLst/>
          </a:prstGeom>
          <a:noFill/>
        </p:spPr>
        <p:txBody>
          <a:bodyPr wrap="square" rtlCol="0">
            <a:spAutoFit/>
          </a:bodyPr>
          <a:lstStyle/>
          <a:p>
            <a:r>
              <a:rPr lang="en-US" altLang="zh-CN" sz="1500" dirty="0"/>
              <a:t>2. </a:t>
            </a:r>
            <a:r>
              <a:rPr lang="zh-CN" altLang="en-US" sz="1500" dirty="0"/>
              <a:t>观察者模式</a:t>
            </a:r>
            <a:endParaRPr lang="en-US" altLang="zh-CN" sz="1500" dirty="0"/>
          </a:p>
          <a:p>
            <a:r>
              <a:rPr lang="zh-CN" altLang="en-US" sz="1500" dirty="0"/>
              <a:t>音频播放器 </a:t>
            </a:r>
            <a:r>
              <a:rPr lang="en-US" altLang="zh-CN" sz="1500" dirty="0"/>
              <a:t>Clip </a:t>
            </a:r>
            <a:r>
              <a:rPr lang="zh-CN" altLang="en-US" sz="1500" dirty="0"/>
              <a:t>作为被观察者</a:t>
            </a:r>
          </a:p>
          <a:p>
            <a:r>
              <a:rPr lang="zh-CN" altLang="en-US" sz="1500" dirty="0"/>
              <a:t>通过 </a:t>
            </a:r>
            <a:r>
              <a:rPr lang="en-US" altLang="zh-CN" sz="1500" dirty="0" err="1"/>
              <a:t>LineListener</a:t>
            </a:r>
            <a:r>
              <a:rPr lang="en-US" altLang="zh-CN" sz="1500" dirty="0"/>
              <a:t> </a:t>
            </a:r>
            <a:r>
              <a:rPr lang="zh-CN" altLang="en-US" sz="1500" dirty="0"/>
              <a:t>监听播放状态变化</a:t>
            </a:r>
          </a:p>
          <a:p>
            <a:r>
              <a:rPr lang="zh-CN" altLang="en-US" sz="1500" dirty="0"/>
              <a:t>当音乐播放结束时自动触发 </a:t>
            </a:r>
            <a:r>
              <a:rPr lang="en-US" altLang="zh-CN" sz="1500" dirty="0" err="1"/>
              <a:t>playNext</a:t>
            </a:r>
            <a:r>
              <a:rPr lang="en-US" altLang="zh-CN" sz="1500" dirty="0"/>
              <a:t>() </a:t>
            </a:r>
            <a:r>
              <a:rPr lang="zh-CN" altLang="en-US" sz="15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3"/>
          <a:stretch>
            <a:fillRect/>
          </a:stretch>
        </p:blipFill>
        <p:spPr>
          <a:xfrm>
            <a:off x="6025826" y="1144250"/>
            <a:ext cx="5029902" cy="1267002"/>
          </a:xfrm>
          <a:prstGeom prst="rect">
            <a:avLst/>
          </a:prstGeom>
        </p:spPr>
      </p:pic>
      <p:sp>
        <p:nvSpPr>
          <p:cNvPr id="9" name="文本框 8">
            <a:extLst>
              <a:ext uri="{FF2B5EF4-FFF2-40B4-BE49-F238E27FC236}">
                <a16:creationId xmlns:a16="http://schemas.microsoft.com/office/drawing/2014/main" id="{96B76619-16FD-2DCE-3A7D-7CAB289A3B22}"/>
              </a:ext>
            </a:extLst>
          </p:cNvPr>
          <p:cNvSpPr txBox="1"/>
          <p:nvPr/>
        </p:nvSpPr>
        <p:spPr>
          <a:xfrm>
            <a:off x="5374432" y="2431312"/>
            <a:ext cx="6419462" cy="1015663"/>
          </a:xfrm>
          <a:prstGeom prst="rect">
            <a:avLst/>
          </a:prstGeom>
          <a:noFill/>
        </p:spPr>
        <p:txBody>
          <a:bodyPr wrap="square" rtlCol="0">
            <a:spAutoFit/>
          </a:bodyPr>
          <a:lstStyle/>
          <a:p>
            <a:r>
              <a:rPr lang="en-US" altLang="zh-CN" sz="1500" dirty="0"/>
              <a:t>3. </a:t>
            </a:r>
            <a:r>
              <a:rPr lang="zh-CN" altLang="en-US" sz="1500" dirty="0"/>
              <a:t>外观模式</a:t>
            </a:r>
            <a:endParaRPr lang="en-US" altLang="zh-CN" sz="1500" dirty="0"/>
          </a:p>
          <a:p>
            <a:r>
              <a:rPr lang="en-US" altLang="zh-CN" sz="1500" dirty="0" err="1"/>
              <a:t>MusicPlayer</a:t>
            </a:r>
            <a:r>
              <a:rPr lang="en-US" altLang="zh-CN" sz="1500" dirty="0"/>
              <a:t> </a:t>
            </a:r>
            <a:r>
              <a:rPr lang="zh-CN" altLang="en-US" sz="1500" dirty="0"/>
              <a:t>封装了底层 </a:t>
            </a:r>
            <a:r>
              <a:rPr lang="en-US" altLang="zh-CN" sz="1500" dirty="0" err="1"/>
              <a:t>javax.sound.sampled</a:t>
            </a:r>
            <a:r>
              <a:rPr lang="en-US" altLang="zh-CN" sz="1500" dirty="0"/>
              <a:t> API </a:t>
            </a:r>
            <a:r>
              <a:rPr lang="zh-CN" altLang="en-US" sz="1500" dirty="0"/>
              <a:t>的复杂操作</a:t>
            </a:r>
          </a:p>
          <a:p>
            <a:r>
              <a:rPr lang="zh-CN" altLang="en-US" sz="1500" dirty="0"/>
              <a:t>对外提供简单的接口（</a:t>
            </a:r>
            <a:r>
              <a:rPr lang="en-US" altLang="zh-CN" sz="1500" dirty="0"/>
              <a:t>play</a:t>
            </a:r>
            <a:r>
              <a:rPr lang="zh-CN" altLang="en-US" sz="1500" dirty="0"/>
              <a:t>、</a:t>
            </a:r>
            <a:r>
              <a:rPr lang="en-US" altLang="zh-CN" sz="1500" dirty="0"/>
              <a:t>pause</a:t>
            </a:r>
            <a:r>
              <a:rPr lang="zh-CN" altLang="en-US" sz="1500" dirty="0"/>
              <a:t>、</a:t>
            </a:r>
            <a:r>
              <a:rPr lang="en-US" altLang="zh-CN" sz="1500" dirty="0"/>
              <a:t>stop </a:t>
            </a:r>
            <a:r>
              <a:rPr lang="zh-CN" altLang="en-US" sz="1500" dirty="0"/>
              <a:t>等）</a:t>
            </a:r>
          </a:p>
          <a:p>
            <a:r>
              <a:rPr lang="zh-CN" altLang="en-US" sz="1500" dirty="0"/>
              <a:t>其他类无需了解音频播放的底层细节</a:t>
            </a:r>
          </a:p>
        </p:txBody>
      </p:sp>
      <p:pic>
        <p:nvPicPr>
          <p:cNvPr id="6" name="图片 5">
            <a:extLst>
              <a:ext uri="{FF2B5EF4-FFF2-40B4-BE49-F238E27FC236}">
                <a16:creationId xmlns:a16="http://schemas.microsoft.com/office/drawing/2014/main" id="{8F00D502-A0BB-5818-DBDA-C33E818F81AD}"/>
              </a:ext>
            </a:extLst>
          </p:cNvPr>
          <p:cNvPicPr>
            <a:picLocks noChangeAspect="1"/>
          </p:cNvPicPr>
          <p:nvPr/>
        </p:nvPicPr>
        <p:blipFill>
          <a:blip r:embed="rId4"/>
          <a:stretch>
            <a:fillRect/>
          </a:stretch>
        </p:blipFill>
        <p:spPr>
          <a:xfrm>
            <a:off x="5692254" y="3473220"/>
            <a:ext cx="5201451" cy="3256193"/>
          </a:xfrm>
          <a:prstGeom prst="rect">
            <a:avLst/>
          </a:prstGeom>
        </p:spPr>
      </p:pic>
    </p:spTree>
    <p:extLst>
      <p:ext uri="{BB962C8B-B14F-4D97-AF65-F5344CB8AC3E}">
        <p14:creationId xmlns:p14="http://schemas.microsoft.com/office/powerpoint/2010/main" val="6787533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2CB24C09-4481-607B-19E2-9963532FD0C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记录功能</a:t>
            </a:r>
          </a:p>
        </p:txBody>
      </p:sp>
      <p:pic>
        <p:nvPicPr>
          <p:cNvPr id="7" name="图片 6">
            <a:extLst>
              <a:ext uri="{FF2B5EF4-FFF2-40B4-BE49-F238E27FC236}">
                <a16:creationId xmlns:a16="http://schemas.microsoft.com/office/drawing/2014/main" id="{D8575A29-5665-D6B1-0634-77E1B9F16888}"/>
              </a:ext>
            </a:extLst>
          </p:cNvPr>
          <p:cNvPicPr>
            <a:picLocks noChangeAspect="1"/>
          </p:cNvPicPr>
          <p:nvPr/>
        </p:nvPicPr>
        <p:blipFill>
          <a:blip r:embed="rId2"/>
          <a:stretch>
            <a:fillRect/>
          </a:stretch>
        </p:blipFill>
        <p:spPr>
          <a:xfrm>
            <a:off x="704202" y="1130300"/>
            <a:ext cx="1705213" cy="3791479"/>
          </a:xfrm>
          <a:prstGeom prst="rect">
            <a:avLst/>
          </a:prstGeom>
        </p:spPr>
      </p:pic>
      <p:pic>
        <p:nvPicPr>
          <p:cNvPr id="8" name="图片 7">
            <a:extLst>
              <a:ext uri="{FF2B5EF4-FFF2-40B4-BE49-F238E27FC236}">
                <a16:creationId xmlns:a16="http://schemas.microsoft.com/office/drawing/2014/main" id="{A9AADD7C-68DE-3D5D-5BC8-CA40E21188F0}"/>
              </a:ext>
            </a:extLst>
          </p:cNvPr>
          <p:cNvPicPr>
            <a:picLocks noChangeAspect="1"/>
          </p:cNvPicPr>
          <p:nvPr/>
        </p:nvPicPr>
        <p:blipFill>
          <a:blip r:embed="rId3"/>
          <a:stretch>
            <a:fillRect/>
          </a:stretch>
        </p:blipFill>
        <p:spPr>
          <a:xfrm>
            <a:off x="3284161" y="1149352"/>
            <a:ext cx="1686160" cy="3753374"/>
          </a:xfrm>
          <a:prstGeom prst="rect">
            <a:avLst/>
          </a:prstGeom>
        </p:spPr>
      </p:pic>
    </p:spTree>
    <p:extLst>
      <p:ext uri="{BB962C8B-B14F-4D97-AF65-F5344CB8AC3E}">
        <p14:creationId xmlns:p14="http://schemas.microsoft.com/office/powerpoint/2010/main" val="465874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506857" y="1027771"/>
            <a:ext cx="3099837" cy="437243"/>
          </a:xfrm>
        </p:spPr>
        <p:txBody>
          <a:bodyPr>
            <a:normAutofit/>
          </a:bodyPr>
          <a:lstStyle/>
          <a:p>
            <a:pPr marL="0" indent="0">
              <a:buNone/>
            </a:pPr>
            <a:r>
              <a:rPr lang="zh-CN" altLang="en-US" sz="1500" i="0" dirty="0">
                <a:effectLst/>
                <a:latin typeface="Segoe WPC"/>
              </a:rPr>
              <a:t>单例模式</a:t>
            </a:r>
            <a:endParaRPr lang="en-US" altLang="zh-CN" sz="15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stretch>
            <a:fillRect/>
          </a:stretch>
        </p:blipFill>
        <p:spPr>
          <a:xfrm>
            <a:off x="209379" y="1359700"/>
            <a:ext cx="5114309" cy="2384998"/>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660399" y="3760573"/>
            <a:ext cx="1146468" cy="323165"/>
          </a:xfrm>
          <a:prstGeom prst="rect">
            <a:avLst/>
          </a:prstGeom>
          <a:noFill/>
        </p:spPr>
        <p:txBody>
          <a:bodyPr wrap="none" rtlCol="0">
            <a:spAutoFit/>
          </a:bodyPr>
          <a:lstStyle/>
          <a:p>
            <a:r>
              <a:rPr lang="zh-CN" altLang="en-US" sz="15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stretch>
            <a:fillRect/>
          </a:stretch>
        </p:blipFill>
        <p:spPr>
          <a:xfrm>
            <a:off x="209380" y="4099613"/>
            <a:ext cx="4474588" cy="2762091"/>
          </a:xfrm>
          <a:prstGeom prst="rect">
            <a:avLst/>
          </a:prstGeom>
        </p:spPr>
      </p:pic>
      <p:sp>
        <p:nvSpPr>
          <p:cNvPr id="7" name="文本框 6">
            <a:extLst>
              <a:ext uri="{FF2B5EF4-FFF2-40B4-BE49-F238E27FC236}">
                <a16:creationId xmlns:a16="http://schemas.microsoft.com/office/drawing/2014/main" id="{D2B2EB40-E3E7-2F4E-17C3-42D5BCA1C6E5}"/>
              </a:ext>
            </a:extLst>
          </p:cNvPr>
          <p:cNvSpPr txBox="1"/>
          <p:nvPr/>
        </p:nvSpPr>
        <p:spPr>
          <a:xfrm>
            <a:off x="6876662" y="417060"/>
            <a:ext cx="1338828" cy="323165"/>
          </a:xfrm>
          <a:prstGeom prst="rect">
            <a:avLst/>
          </a:prstGeom>
          <a:noFill/>
        </p:spPr>
        <p:txBody>
          <a:bodyPr wrap="none" rtlCol="0">
            <a:spAutoFit/>
          </a:bodyPr>
          <a:lstStyle/>
          <a:p>
            <a:r>
              <a:rPr lang="zh-CN" altLang="en-US" sz="1500" dirty="0"/>
              <a:t>工厂方法模式</a:t>
            </a:r>
          </a:p>
        </p:txBody>
      </p:sp>
      <p:pic>
        <p:nvPicPr>
          <p:cNvPr id="8" name="图片 7">
            <a:extLst>
              <a:ext uri="{FF2B5EF4-FFF2-40B4-BE49-F238E27FC236}">
                <a16:creationId xmlns:a16="http://schemas.microsoft.com/office/drawing/2014/main" id="{5950CCF9-44B4-CE25-2942-8947A3043D0A}"/>
              </a:ext>
            </a:extLst>
          </p:cNvPr>
          <p:cNvPicPr>
            <a:picLocks noChangeAspect="1"/>
          </p:cNvPicPr>
          <p:nvPr/>
        </p:nvPicPr>
        <p:blipFill>
          <a:blip r:embed="rId4"/>
          <a:stretch>
            <a:fillRect/>
          </a:stretch>
        </p:blipFill>
        <p:spPr>
          <a:xfrm>
            <a:off x="6096000" y="1246392"/>
            <a:ext cx="5210175" cy="5162550"/>
          </a:xfrm>
          <a:prstGeom prst="rect">
            <a:avLst/>
          </a:prstGeom>
        </p:spPr>
      </p:pic>
      <p:sp>
        <p:nvSpPr>
          <p:cNvPr id="9" name="标题 1">
            <a:extLst>
              <a:ext uri="{FF2B5EF4-FFF2-40B4-BE49-F238E27FC236}">
                <a16:creationId xmlns:a16="http://schemas.microsoft.com/office/drawing/2014/main" id="{62B85EE1-F06B-B9E7-8629-6501F1D4705E}"/>
              </a:ext>
            </a:extLst>
          </p:cNvPr>
          <p:cNvSpPr txBox="1">
            <a:spLocks/>
          </p:cNvSpPr>
          <p:nvPr/>
        </p:nvSpPr>
        <p:spPr>
          <a:xfrm>
            <a:off x="447675" y="8247"/>
            <a:ext cx="10858500" cy="900112"/>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4400" dirty="0"/>
              <a:t>使用的设计模式</a:t>
            </a:r>
          </a:p>
        </p:txBody>
      </p:sp>
    </p:spTree>
    <p:extLst>
      <p:ext uri="{BB962C8B-B14F-4D97-AF65-F5344CB8AC3E}">
        <p14:creationId xmlns:p14="http://schemas.microsoft.com/office/powerpoint/2010/main" val="35146394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324497" y="234561"/>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342900" indent="-342900">
              <a:buAutoNum type="arabicPeriod"/>
            </a:pP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stretch>
            <a:fillRect/>
          </a:stretch>
        </p:blipFill>
        <p:spPr>
          <a:xfrm>
            <a:off x="4973629" y="406313"/>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Tree>
    <p:extLst>
      <p:ext uri="{BB962C8B-B14F-4D97-AF65-F5344CB8AC3E}">
        <p14:creationId xmlns:p14="http://schemas.microsoft.com/office/powerpoint/2010/main" val="22599185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主要界面</a:t>
            </a:r>
            <a:endParaRPr lang="en-US" dirty="0"/>
          </a:p>
        </p:txBody>
      </p:sp>
      <p:sp>
        <p:nvSpPr>
          <p:cNvPr id="3" name="Text Placeholder 2">
            <a:extLst>
              <a:ext uri="{FF2B5EF4-FFF2-40B4-BE49-F238E27FC236}">
                <a16:creationId xmlns:a16="http://schemas.microsoft.com/office/drawing/2014/main" id="{EF6A9821-1319-56D4-E67C-25330DC8ACB8}"/>
              </a:ext>
            </a:extLst>
          </p:cNvPr>
          <p:cNvSpPr>
            <a:spLocks noGrp="1"/>
          </p:cNvSpPr>
          <p:nvPr>
            <p:ph type="body" idx="1"/>
          </p:nvPr>
        </p:nvSpPr>
        <p:spPr>
          <a:xfrm>
            <a:off x="857170" y="2507405"/>
            <a:ext cx="7253368" cy="1371600"/>
          </a:xfrm>
        </p:spPr>
        <p:txBody>
          <a:bodyPr/>
          <a:lstStyle/>
          <a:p>
            <a:pPr lvl="0"/>
            <a:r>
              <a:rPr lang="en-US"/>
              <a:t>Click to add text</a:t>
            </a:r>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18</a:t>
            </a:fld>
            <a:endParaRPr lang="en-US"/>
          </a:p>
        </p:txBody>
      </p:sp>
    </p:spTree>
    <p:extLst>
      <p:ext uri="{BB962C8B-B14F-4D97-AF65-F5344CB8AC3E}">
        <p14:creationId xmlns:p14="http://schemas.microsoft.com/office/powerpoint/2010/main" val="39180067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lstStyle/>
          <a:p>
            <a:r>
              <a:rPr lang="zh-CN" altLang="en-US" dirty="0"/>
              <a:t>主要界面</a:t>
            </a:r>
          </a:p>
        </p:txBody>
      </p:sp>
      <p:sp>
        <p:nvSpPr>
          <p:cNvPr id="5" name="文本框 4">
            <a:extLst>
              <a:ext uri="{FF2B5EF4-FFF2-40B4-BE49-F238E27FC236}">
                <a16:creationId xmlns:a16="http://schemas.microsoft.com/office/drawing/2014/main" id="{6360A07D-6122-7D63-CA0F-FCFE0B7D5536}"/>
              </a:ext>
            </a:extLst>
          </p:cNvPr>
          <p:cNvSpPr txBox="1"/>
          <p:nvPr/>
        </p:nvSpPr>
        <p:spPr>
          <a:xfrm>
            <a:off x="357996" y="5578824"/>
            <a:ext cx="1112805" cy="369332"/>
          </a:xfrm>
          <a:prstGeom prst="rect">
            <a:avLst/>
          </a:prstGeom>
          <a:noFill/>
        </p:spPr>
        <p:txBody>
          <a:bodyPr wrap="none" rtlCol="0">
            <a:spAutoFit/>
          </a:bodyPr>
          <a:lstStyle/>
          <a:p>
            <a:r>
              <a:rPr lang="zh-CN" altLang="en-US" dirty="0"/>
              <a:t>开始界面</a:t>
            </a:r>
          </a:p>
        </p:txBody>
      </p:sp>
      <p:pic>
        <p:nvPicPr>
          <p:cNvPr id="8" name="图片 7">
            <a:extLst>
              <a:ext uri="{FF2B5EF4-FFF2-40B4-BE49-F238E27FC236}">
                <a16:creationId xmlns:a16="http://schemas.microsoft.com/office/drawing/2014/main" id="{475251DC-7860-6267-5D12-5A6A3BACBBBC}"/>
              </a:ext>
            </a:extLst>
          </p:cNvPr>
          <p:cNvPicPr>
            <a:picLocks noChangeAspect="1"/>
          </p:cNvPicPr>
          <p:nvPr/>
        </p:nvPicPr>
        <p:blipFill>
          <a:blip r:embed="rId3"/>
          <a:stretch>
            <a:fillRect/>
          </a:stretch>
        </p:blipFill>
        <p:spPr>
          <a:xfrm>
            <a:off x="0" y="2328952"/>
            <a:ext cx="2210420" cy="3153215"/>
          </a:xfrm>
          <a:prstGeom prst="rect">
            <a:avLst/>
          </a:prstGeom>
        </p:spPr>
      </p:pic>
      <p:pic>
        <p:nvPicPr>
          <p:cNvPr id="9" name="图片 8">
            <a:extLst>
              <a:ext uri="{FF2B5EF4-FFF2-40B4-BE49-F238E27FC236}">
                <a16:creationId xmlns:a16="http://schemas.microsoft.com/office/drawing/2014/main" id="{1116C28A-B86E-B95B-5059-AA3629047719}"/>
              </a:ext>
            </a:extLst>
          </p:cNvPr>
          <p:cNvPicPr>
            <a:picLocks noChangeAspect="1"/>
          </p:cNvPicPr>
          <p:nvPr/>
        </p:nvPicPr>
        <p:blipFill>
          <a:blip r:embed="rId4"/>
          <a:stretch>
            <a:fillRect/>
          </a:stretch>
        </p:blipFill>
        <p:spPr>
          <a:xfrm>
            <a:off x="2210420" y="2623127"/>
            <a:ext cx="2851665" cy="2860306"/>
          </a:xfrm>
          <a:prstGeom prst="rect">
            <a:avLst/>
          </a:prstGeom>
        </p:spPr>
      </p:pic>
      <p:sp>
        <p:nvSpPr>
          <p:cNvPr id="10" name="文本框 9">
            <a:extLst>
              <a:ext uri="{FF2B5EF4-FFF2-40B4-BE49-F238E27FC236}">
                <a16:creationId xmlns:a16="http://schemas.microsoft.com/office/drawing/2014/main" id="{EDE38928-859C-8F34-C325-2F40BF511378}"/>
              </a:ext>
            </a:extLst>
          </p:cNvPr>
          <p:cNvSpPr txBox="1"/>
          <p:nvPr/>
        </p:nvSpPr>
        <p:spPr>
          <a:xfrm>
            <a:off x="2780512" y="5661950"/>
            <a:ext cx="1107996" cy="369332"/>
          </a:xfrm>
          <a:prstGeom prst="rect">
            <a:avLst/>
          </a:prstGeom>
          <a:noFill/>
        </p:spPr>
        <p:txBody>
          <a:bodyPr wrap="none" rtlCol="0">
            <a:spAutoFit/>
          </a:bodyPr>
          <a:lstStyle/>
          <a:p>
            <a:r>
              <a:rPr lang="zh-CN" altLang="en-US" dirty="0"/>
              <a:t>游戏界面</a:t>
            </a:r>
          </a:p>
        </p:txBody>
      </p:sp>
      <p:sp>
        <p:nvSpPr>
          <p:cNvPr id="12" name="文本框 11">
            <a:extLst>
              <a:ext uri="{FF2B5EF4-FFF2-40B4-BE49-F238E27FC236}">
                <a16:creationId xmlns:a16="http://schemas.microsoft.com/office/drawing/2014/main" id="{8702486A-33DF-F26B-701D-18FCB0124C42}"/>
              </a:ext>
            </a:extLst>
          </p:cNvPr>
          <p:cNvSpPr txBox="1"/>
          <p:nvPr/>
        </p:nvSpPr>
        <p:spPr>
          <a:xfrm>
            <a:off x="5929193" y="5738684"/>
            <a:ext cx="1107996" cy="369332"/>
          </a:xfrm>
          <a:prstGeom prst="rect">
            <a:avLst/>
          </a:prstGeom>
          <a:noFill/>
        </p:spPr>
        <p:txBody>
          <a:bodyPr wrap="none" rtlCol="0">
            <a:spAutoFit/>
          </a:bodyPr>
          <a:lstStyle/>
          <a:p>
            <a:r>
              <a:rPr lang="zh-CN" altLang="en-US" dirty="0"/>
              <a:t>失败界面</a:t>
            </a:r>
          </a:p>
        </p:txBody>
      </p:sp>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5"/>
          <a:stretch>
            <a:fillRect/>
          </a:stretch>
        </p:blipFill>
        <p:spPr>
          <a:xfrm>
            <a:off x="4976291" y="2638109"/>
            <a:ext cx="2818280" cy="2844057"/>
          </a:xfrm>
          <a:prstGeom prst="rect">
            <a:avLst/>
          </a:prstGeom>
        </p:spPr>
      </p:pic>
      <p:sp>
        <p:nvSpPr>
          <p:cNvPr id="18" name="文本框 17">
            <a:extLst>
              <a:ext uri="{FF2B5EF4-FFF2-40B4-BE49-F238E27FC236}">
                <a16:creationId xmlns:a16="http://schemas.microsoft.com/office/drawing/2014/main" id="{3ED560CD-BF28-A872-D378-6F2F77C0ED80}"/>
              </a:ext>
            </a:extLst>
          </p:cNvPr>
          <p:cNvSpPr txBox="1"/>
          <p:nvPr/>
        </p:nvSpPr>
        <p:spPr>
          <a:xfrm>
            <a:off x="9934084" y="5714142"/>
            <a:ext cx="1107996" cy="369332"/>
          </a:xfrm>
          <a:prstGeom prst="rect">
            <a:avLst/>
          </a:prstGeom>
          <a:noFill/>
        </p:spPr>
        <p:txBody>
          <a:bodyPr wrap="none" rtlCol="0">
            <a:spAutoFit/>
          </a:bodyPr>
          <a:lstStyle/>
          <a:p>
            <a:r>
              <a:rPr lang="zh-CN" altLang="en-US" dirty="0"/>
              <a:t>胜利界面</a:t>
            </a:r>
          </a:p>
        </p:txBody>
      </p:sp>
      <p:pic>
        <p:nvPicPr>
          <p:cNvPr id="3" name="图片 2">
            <a:extLst>
              <a:ext uri="{FF2B5EF4-FFF2-40B4-BE49-F238E27FC236}">
                <a16:creationId xmlns:a16="http://schemas.microsoft.com/office/drawing/2014/main" id="{08810751-E62D-223F-03DA-0F6F4916DDA1}"/>
              </a:ext>
            </a:extLst>
          </p:cNvPr>
          <p:cNvPicPr>
            <a:picLocks noChangeAspect="1"/>
          </p:cNvPicPr>
          <p:nvPr/>
        </p:nvPicPr>
        <p:blipFill>
          <a:blip r:embed="rId6"/>
          <a:stretch>
            <a:fillRect/>
          </a:stretch>
        </p:blipFill>
        <p:spPr>
          <a:xfrm>
            <a:off x="7887568" y="1182255"/>
            <a:ext cx="4304432" cy="4479695"/>
          </a:xfrm>
          <a:prstGeom prst="rect">
            <a:avLst/>
          </a:prstGeom>
        </p:spPr>
      </p:pic>
    </p:spTree>
    <p:extLst>
      <p:ext uri="{BB962C8B-B14F-4D97-AF65-F5344CB8AC3E}">
        <p14:creationId xmlns:p14="http://schemas.microsoft.com/office/powerpoint/2010/main" val="591978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代码的主要流程</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903953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A9D795-14E2-7575-E795-3CD81ED60636}"/>
              </a:ext>
            </a:extLst>
          </p:cNvPr>
          <p:cNvSpPr>
            <a:spLocks noGrp="1"/>
          </p:cNvSpPr>
          <p:nvPr>
            <p:ph type="title"/>
          </p:nvPr>
        </p:nvSpPr>
        <p:spPr/>
        <p:txBody>
          <a:bodyPr/>
          <a:lstStyle/>
          <a:p>
            <a:r>
              <a:rPr lang="zh-CN" altLang="en-US" dirty="0"/>
              <a:t>主要流程</a:t>
            </a:r>
          </a:p>
        </p:txBody>
      </p:sp>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0" indent="0">
              <a:buNone/>
            </a:pPr>
            <a:r>
              <a:rPr lang="en-US" altLang="zh-CN" dirty="0"/>
              <a:t>1. </a:t>
            </a:r>
            <a:r>
              <a:rPr lang="zh-CN" altLang="en-US" dirty="0"/>
              <a:t>游戏启动与菜单选择 </a:t>
            </a:r>
            <a:r>
              <a:rPr lang="en-US" altLang="zh-CN" dirty="0"/>
              <a:t>(group)</a:t>
            </a:r>
          </a:p>
          <a:p>
            <a:pPr marL="0" indent="0">
              <a:buNone/>
            </a:pPr>
            <a:r>
              <a:rPr lang="en-US" altLang="zh-CN" dirty="0"/>
              <a:t>	Driver </a:t>
            </a:r>
            <a:r>
              <a:rPr lang="zh-CN" altLang="en-US" dirty="0"/>
              <a:t>创建 </a:t>
            </a:r>
            <a:r>
              <a:rPr lang="en-US" altLang="zh-CN" dirty="0"/>
              <a:t>Menu </a:t>
            </a:r>
            <a:r>
              <a:rPr lang="zh-CN" altLang="en-US" dirty="0"/>
              <a:t>实例，向玩家显示菜单。</a:t>
            </a:r>
          </a:p>
          <a:p>
            <a:pPr marL="0" indent="0">
              <a:buNone/>
            </a:pPr>
            <a:r>
              <a:rPr lang="en-US" altLang="zh-CN" dirty="0"/>
              <a:t>	</a:t>
            </a:r>
            <a:r>
              <a:rPr lang="zh-CN" altLang="en-US" dirty="0"/>
              <a:t>玩家选择难度后，</a:t>
            </a:r>
            <a:r>
              <a:rPr lang="en-US" altLang="zh-CN" dirty="0"/>
              <a:t>Menu </a:t>
            </a:r>
            <a:r>
              <a:rPr lang="zh-CN" altLang="en-US" dirty="0"/>
              <a:t>的 </a:t>
            </a:r>
            <a:r>
              <a:rPr lang="en-US" altLang="zh-CN" dirty="0" err="1"/>
              <a:t>actionPerformed</a:t>
            </a:r>
            <a:r>
              <a:rPr lang="en-US" altLang="zh-CN" dirty="0"/>
              <a:t> </a:t>
            </a:r>
            <a:r>
              <a:rPr lang="zh-CN" altLang="en-US" dirty="0"/>
              <a:t>方法被触发。</a:t>
            </a:r>
          </a:p>
          <a:p>
            <a:pPr marL="0" indent="0">
              <a:buNone/>
            </a:pPr>
            <a:r>
              <a:rPr lang="en-US" altLang="zh-CN" dirty="0"/>
              <a:t>	Menu </a:t>
            </a:r>
            <a:r>
              <a:rPr lang="zh-CN" altLang="en-US" dirty="0"/>
              <a:t>负责创建 </a:t>
            </a:r>
            <a:r>
              <a:rPr lang="en-US" altLang="zh-CN" dirty="0" err="1"/>
              <a:t>GameBoard</a:t>
            </a:r>
            <a:r>
              <a:rPr lang="zh-CN" altLang="en-US" dirty="0"/>
              <a:t>，</a:t>
            </a:r>
            <a:r>
              <a:rPr lang="en-US" altLang="zh-CN" dirty="0" err="1"/>
              <a:t>GameBoard</a:t>
            </a:r>
            <a:r>
              <a:rPr lang="en-US" altLang="zh-CN" dirty="0"/>
              <a:t> </a:t>
            </a:r>
            <a:r>
              <a:rPr lang="zh-CN" altLang="en-US" dirty="0"/>
              <a:t>则循环创建所有的 </a:t>
            </a:r>
            <a:r>
              <a:rPr lang="en-US" altLang="zh-CN" dirty="0" err="1"/>
              <a:t>SmartSquare</a:t>
            </a:r>
            <a:r>
              <a:rPr lang="en-US" altLang="zh-CN" dirty="0"/>
              <a:t> </a:t>
            </a:r>
            <a:r>
              <a:rPr lang="zh-CN" altLang="en-US" dirty="0"/>
              <a:t>方块。</a:t>
            </a:r>
          </a:p>
          <a:p>
            <a:pPr marL="0" indent="0">
              <a:buNone/>
            </a:pPr>
            <a:r>
              <a:rPr lang="en-US" altLang="zh-CN" dirty="0"/>
              <a:t>	</a:t>
            </a:r>
            <a:r>
              <a:rPr lang="zh-CN" altLang="en-US" dirty="0"/>
              <a:t>接着，</a:t>
            </a:r>
            <a:r>
              <a:rPr lang="en-US" altLang="zh-CN" dirty="0"/>
              <a:t>Menu </a:t>
            </a:r>
            <a:r>
              <a:rPr lang="zh-CN" altLang="en-US" dirty="0"/>
              <a:t>创建 </a:t>
            </a:r>
            <a:r>
              <a:rPr lang="en-US" altLang="zh-CN" dirty="0" err="1"/>
              <a:t>ProduceBombs</a:t>
            </a:r>
            <a:r>
              <a:rPr lang="en-US" altLang="zh-CN" dirty="0"/>
              <a:t> </a:t>
            </a:r>
            <a:r>
              <a:rPr lang="zh-CN" altLang="en-US" dirty="0"/>
              <a:t>来在棋盘上布雷。这个过程涉及到随机选择 </a:t>
            </a:r>
            <a:r>
              <a:rPr lang="en-US" altLang="zh-CN" dirty="0" err="1"/>
              <a:t>SmartSquare</a:t>
            </a:r>
            <a:r>
              <a:rPr lang="en-US" altLang="zh-CN" dirty="0"/>
              <a:t> </a:t>
            </a:r>
            <a:r>
              <a:rPr lang="zh-CN" altLang="en-US" dirty="0"/>
              <a:t>并调用其 </a:t>
            </a:r>
            <a:r>
              <a:rPr lang="en-US" altLang="zh-CN" dirty="0" err="1"/>
              <a:t>setBombExist</a:t>
            </a:r>
            <a:r>
              <a:rPr lang="en-US" altLang="zh-CN" dirty="0"/>
              <a:t>(true) </a:t>
            </a:r>
            <a:r>
              <a:rPr lang="zh-CN" altLang="en-US" dirty="0"/>
              <a:t>方法。</a:t>
            </a:r>
          </a:p>
          <a:p>
            <a:pPr marL="0" indent="0">
              <a:buNone/>
            </a:pPr>
            <a:r>
              <a:rPr lang="en-US" altLang="zh-CN" dirty="0"/>
              <a:t>	</a:t>
            </a:r>
            <a:r>
              <a:rPr lang="zh-CN" altLang="en-US" dirty="0"/>
              <a:t>最后，</a:t>
            </a:r>
            <a:r>
              <a:rPr lang="en-US" altLang="zh-CN" dirty="0"/>
              <a:t>Menu </a:t>
            </a:r>
            <a:r>
              <a:rPr lang="zh-CN" altLang="en-US" dirty="0"/>
              <a:t>调用一个方块的 </a:t>
            </a:r>
            <a:r>
              <a:rPr lang="en-US" altLang="zh-CN" dirty="0" err="1"/>
              <a:t>setStartTime</a:t>
            </a:r>
            <a:r>
              <a:rPr lang="en-US" altLang="zh-CN" dirty="0"/>
              <a:t>() </a:t>
            </a:r>
            <a:r>
              <a:rPr lang="zh-CN" altLang="en-US" dirty="0"/>
              <a:t>来记录开始时间，然后关闭自己，游戏棋盘对玩家可见。</a:t>
            </a:r>
          </a:p>
        </p:txBody>
      </p:sp>
    </p:spTree>
    <p:extLst>
      <p:ext uri="{BB962C8B-B14F-4D97-AF65-F5344CB8AC3E}">
        <p14:creationId xmlns:p14="http://schemas.microsoft.com/office/powerpoint/2010/main" val="22504206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3398982" y="406400"/>
            <a:ext cx="7954817" cy="6216073"/>
          </a:xfrm>
        </p:spPr>
        <p:txBody>
          <a:bodyPr>
            <a:normAutofit fontScale="77500" lnSpcReduction="20000"/>
          </a:bodyPr>
          <a:lstStyle/>
          <a:p>
            <a:pPr marL="0" indent="0">
              <a:buNone/>
            </a:pPr>
            <a:r>
              <a:rPr lang="en-US" altLang="zh-CN" dirty="0"/>
              <a:t>2. </a:t>
            </a:r>
            <a:r>
              <a:rPr lang="zh-CN" altLang="en-US" dirty="0"/>
              <a:t>玩家进行游戏</a:t>
            </a:r>
            <a:endParaRPr lang="en-US" altLang="zh-CN" dirty="0"/>
          </a:p>
          <a:p>
            <a:pPr marL="0" indent="0">
              <a:buNone/>
            </a:pPr>
            <a:r>
              <a:rPr lang="en-US" altLang="zh-CN" dirty="0"/>
              <a:t>	</a:t>
            </a:r>
            <a:r>
              <a:rPr lang="zh-CN" altLang="en-US" dirty="0"/>
              <a:t>玩家点击一个 </a:t>
            </a:r>
            <a:r>
              <a:rPr lang="en-US" altLang="zh-CN" dirty="0" err="1"/>
              <a:t>SmartSquare</a:t>
            </a:r>
            <a:r>
              <a:rPr lang="zh-CN" altLang="en-US" dirty="0"/>
              <a:t>（它是一个 </a:t>
            </a:r>
            <a:r>
              <a:rPr lang="en-US" altLang="zh-CN" dirty="0" err="1"/>
              <a:t>JButton</a:t>
            </a:r>
            <a:r>
              <a:rPr lang="zh-CN" altLang="en-US" dirty="0"/>
              <a:t>）。</a:t>
            </a:r>
          </a:p>
          <a:p>
            <a:pPr marL="0" indent="0">
              <a:buNone/>
            </a:pPr>
            <a:r>
              <a:rPr lang="en-US" altLang="zh-CN" dirty="0"/>
              <a:t>	Swing </a:t>
            </a:r>
            <a:r>
              <a:rPr lang="zh-CN" altLang="en-US" dirty="0"/>
              <a:t>的事件处理机制最终会调用到被点击</a:t>
            </a:r>
            <a:r>
              <a:rPr lang="en-US" altLang="zh-CN" dirty="0" err="1"/>
              <a:t>SmartSquare</a:t>
            </a:r>
            <a:r>
              <a:rPr lang="en-US" altLang="zh-CN" dirty="0"/>
              <a:t> </a:t>
            </a:r>
            <a:r>
              <a:rPr lang="zh-CN" altLang="en-US" dirty="0"/>
              <a:t>实例的 </a:t>
            </a:r>
            <a:r>
              <a:rPr lang="en-US" altLang="zh-CN" dirty="0"/>
              <a:t>clicked() </a:t>
            </a:r>
            <a:r>
              <a:rPr lang="zh-CN" altLang="en-US" dirty="0"/>
              <a:t>方法。</a:t>
            </a:r>
          </a:p>
          <a:p>
            <a:pPr marL="0" indent="0">
              <a:buNone/>
            </a:pPr>
            <a:r>
              <a:rPr lang="en-US" altLang="zh-CN" dirty="0"/>
              <a:t>	</a:t>
            </a:r>
            <a:r>
              <a:rPr lang="zh-CN" altLang="en-US" dirty="0"/>
              <a:t>在 </a:t>
            </a:r>
            <a:r>
              <a:rPr lang="en-US" altLang="zh-CN" dirty="0"/>
              <a:t>clicked() </a:t>
            </a:r>
            <a:r>
              <a:rPr lang="zh-CN" altLang="en-US" dirty="0"/>
              <a:t>方法内部：</a:t>
            </a:r>
          </a:p>
          <a:p>
            <a:pPr marL="0" indent="0">
              <a:buNone/>
            </a:pPr>
            <a:r>
              <a:rPr lang="en-US" altLang="zh-CN" dirty="0"/>
              <a:t>	</a:t>
            </a:r>
            <a:r>
              <a:rPr lang="zh-CN" altLang="en-US" b="1" dirty="0"/>
              <a:t>分支</a:t>
            </a:r>
            <a:r>
              <a:rPr lang="en-US" altLang="zh-CN" b="1" dirty="0"/>
              <a:t>1 (alt): </a:t>
            </a:r>
            <a:r>
              <a:rPr lang="zh-CN" altLang="en-US" dirty="0"/>
              <a:t>点击到地雷</a:t>
            </a:r>
            <a:endParaRPr lang="en-US" altLang="zh-CN" dirty="0"/>
          </a:p>
          <a:p>
            <a:pPr marL="0" indent="0">
              <a:buNone/>
            </a:pPr>
            <a:r>
              <a:rPr lang="en-US" altLang="zh-CN" dirty="0"/>
              <a:t>		</a:t>
            </a:r>
            <a:r>
              <a:rPr lang="en-US" altLang="zh-CN" dirty="0" err="1"/>
              <a:t>thisSquareHasBomb</a:t>
            </a:r>
            <a:r>
              <a:rPr lang="zh-CN" altLang="en-US" dirty="0"/>
              <a:t>为 </a:t>
            </a:r>
            <a:r>
              <a:rPr lang="en-US" altLang="zh-CN" dirty="0"/>
              <a:t>true</a:t>
            </a:r>
            <a:r>
              <a:rPr lang="zh-CN" altLang="en-US" dirty="0"/>
              <a:t>。</a:t>
            </a:r>
          </a:p>
          <a:p>
            <a:pPr marL="0" indent="0">
              <a:buNone/>
            </a:pPr>
            <a:r>
              <a:rPr lang="en-US" altLang="zh-CN" dirty="0"/>
              <a:t>		</a:t>
            </a:r>
            <a:r>
              <a:rPr lang="zh-CN" altLang="en-US" dirty="0"/>
              <a:t>程序调用 </a:t>
            </a:r>
            <a:r>
              <a:rPr lang="en-US" altLang="zh-CN" dirty="0"/>
              <a:t>window() </a:t>
            </a:r>
            <a:r>
              <a:rPr lang="zh-CN" altLang="en-US" dirty="0"/>
              <a:t>方法，向玩家显示一个包含</a:t>
            </a:r>
            <a:r>
              <a:rPr lang="en-US" altLang="zh-CN" dirty="0"/>
              <a:t>		</a:t>
            </a:r>
            <a:r>
              <a:rPr lang="zh-CN" altLang="en-US" dirty="0"/>
              <a:t>“游戏结束”信息和重玩选项的对话框。</a:t>
            </a:r>
          </a:p>
          <a:p>
            <a:pPr marL="0" indent="0">
              <a:buNone/>
            </a:pPr>
            <a:r>
              <a:rPr lang="en-US" altLang="zh-CN" dirty="0"/>
              <a:t>	</a:t>
            </a:r>
            <a:r>
              <a:rPr lang="zh-CN" altLang="en-US" b="1" dirty="0"/>
              <a:t>分支</a:t>
            </a:r>
            <a:r>
              <a:rPr lang="en-US" altLang="zh-CN" b="1" dirty="0"/>
              <a:t>2 (alt): </a:t>
            </a:r>
            <a:r>
              <a:rPr lang="zh-CN" altLang="en-US" dirty="0"/>
              <a:t>点击到安全方块</a:t>
            </a:r>
          </a:p>
          <a:p>
            <a:pPr marL="0" indent="0">
              <a:buNone/>
            </a:pPr>
            <a:r>
              <a:rPr lang="en-US" altLang="zh-CN" dirty="0"/>
              <a:t>		</a:t>
            </a:r>
            <a:r>
              <a:rPr lang="zh-CN" altLang="en-US" dirty="0"/>
              <a:t>程序创建一个 </a:t>
            </a:r>
            <a:r>
              <a:rPr lang="en-US" altLang="zh-CN" dirty="0" err="1"/>
              <a:t>CheckSquare</a:t>
            </a:r>
            <a:r>
              <a:rPr lang="en-US" altLang="zh-CN" dirty="0"/>
              <a:t> </a:t>
            </a:r>
            <a:r>
              <a:rPr lang="zh-CN" altLang="en-US" dirty="0"/>
              <a:t>对象来处理逻辑。</a:t>
            </a:r>
          </a:p>
          <a:p>
            <a:pPr marL="0" indent="0">
              <a:buNone/>
            </a:pPr>
            <a:r>
              <a:rPr lang="en-US" altLang="zh-CN" dirty="0"/>
              <a:t>		</a:t>
            </a:r>
            <a:r>
              <a:rPr lang="zh-CN" altLang="en-US" dirty="0"/>
              <a:t>调用 </a:t>
            </a:r>
            <a:r>
              <a:rPr lang="en-US" altLang="zh-CN" dirty="0" err="1"/>
              <a:t>countBomb</a:t>
            </a:r>
            <a:r>
              <a:rPr lang="en-US" altLang="zh-CN" dirty="0"/>
              <a:t>() </a:t>
            </a:r>
            <a:r>
              <a:rPr lang="zh-CN" altLang="en-US" dirty="0"/>
              <a:t>来计算周围地雷数并递归地揭</a:t>
            </a:r>
            <a:r>
              <a:rPr lang="en-US" altLang="zh-CN" dirty="0"/>
              <a:t>		</a:t>
            </a:r>
            <a:r>
              <a:rPr lang="zh-CN" altLang="en-US" dirty="0"/>
              <a:t>开相邻的空白区域。</a:t>
            </a:r>
          </a:p>
          <a:p>
            <a:pPr marL="0" indent="0">
              <a:buNone/>
            </a:pPr>
            <a:r>
              <a:rPr lang="en-US" altLang="zh-CN" dirty="0"/>
              <a:t>		</a:t>
            </a:r>
            <a:r>
              <a:rPr lang="zh-CN" altLang="en-US" dirty="0"/>
              <a:t>之后，调用 </a:t>
            </a:r>
            <a:r>
              <a:rPr lang="en-US" altLang="zh-CN" dirty="0" err="1"/>
              <a:t>isSuccess</a:t>
            </a:r>
            <a:r>
              <a:rPr lang="en-US" altLang="zh-CN" dirty="0"/>
              <a:t>() </a:t>
            </a:r>
            <a:r>
              <a:rPr lang="zh-CN" altLang="en-US" dirty="0"/>
              <a:t>检查是否满足胜利条件（</a:t>
            </a:r>
            <a:r>
              <a:rPr lang="en-US" altLang="zh-CN" dirty="0"/>
              <a:t>		</a:t>
            </a:r>
            <a:r>
              <a:rPr lang="zh-CN" altLang="en-US" dirty="0"/>
              <a:t>所有非雷块都已揭开）。</a:t>
            </a:r>
          </a:p>
          <a:p>
            <a:pPr marL="0" indent="0">
              <a:buNone/>
            </a:pPr>
            <a:r>
              <a:rPr lang="en-US" altLang="zh-CN" dirty="0"/>
              <a:t>		</a:t>
            </a:r>
            <a:r>
              <a:rPr lang="zh-CN" altLang="en-US" dirty="0"/>
              <a:t>如果胜利 </a:t>
            </a:r>
            <a:r>
              <a:rPr lang="en-US" altLang="zh-CN" dirty="0"/>
              <a:t>(alt)</a:t>
            </a:r>
            <a:r>
              <a:rPr lang="zh-CN" altLang="en-US" dirty="0"/>
              <a:t>，调用 </a:t>
            </a:r>
            <a:r>
              <a:rPr lang="en-US" altLang="zh-CN" dirty="0"/>
              <a:t>window() </a:t>
            </a:r>
            <a:r>
              <a:rPr lang="zh-CN" altLang="en-US" dirty="0"/>
              <a:t>显示“恭喜”信息。</a:t>
            </a:r>
          </a:p>
          <a:p>
            <a:pPr marL="0" indent="0">
              <a:buNone/>
            </a:pPr>
            <a:r>
              <a:rPr lang="en-US" altLang="zh-CN" dirty="0"/>
              <a:t>		</a:t>
            </a:r>
            <a:r>
              <a:rPr lang="zh-CN" altLang="en-US" dirty="0"/>
              <a:t>如果游戏未结束 ，更新方块视图（显示数字），</a:t>
            </a:r>
            <a:r>
              <a:rPr lang="en-US" altLang="zh-CN" dirty="0"/>
              <a:t>		</a:t>
            </a:r>
            <a:r>
              <a:rPr lang="zh-CN" altLang="en-US" dirty="0"/>
              <a:t>等待玩家下一次操作。</a:t>
            </a:r>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77" y="107661"/>
            <a:ext cx="2879695" cy="6599919"/>
          </a:xfrm>
          <a:prstGeom prst="rect">
            <a:avLst/>
          </a:prstGeom>
        </p:spPr>
      </p:pic>
    </p:spTree>
    <p:extLst>
      <p:ext uri="{BB962C8B-B14F-4D97-AF65-F5344CB8AC3E}">
        <p14:creationId xmlns:p14="http://schemas.microsoft.com/office/powerpoint/2010/main" val="4098639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FE43C-6009-55B7-3CD7-F576BE07EA00}"/>
              </a:ext>
            </a:extLst>
          </p:cNvPr>
          <p:cNvSpPr>
            <a:spLocks noGrp="1"/>
          </p:cNvSpPr>
          <p:nvPr>
            <p:ph type="title"/>
          </p:nvPr>
        </p:nvSpPr>
        <p:spPr>
          <a:xfrm>
            <a:off x="660400" y="1130300"/>
            <a:ext cx="6954838" cy="2934811"/>
          </a:xfrm>
        </p:spPr>
        <p:txBody>
          <a:bodyPr/>
          <a:lstStyle/>
          <a:p>
            <a:pPr lvl="0"/>
            <a:r>
              <a:rPr lang="en-US"/>
              <a:t>Thank you</a:t>
            </a:r>
          </a:p>
        </p:txBody>
      </p:sp>
    </p:spTree>
    <p:extLst>
      <p:ext uri="{BB962C8B-B14F-4D97-AF65-F5344CB8AC3E}">
        <p14:creationId xmlns:p14="http://schemas.microsoft.com/office/powerpoint/2010/main" val="40447939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D41DFF-1629-C20C-A9C2-083AFD257A66}"/>
              </a:ext>
            </a:extLst>
          </p:cNvPr>
          <p:cNvSpPr>
            <a:spLocks noGrp="1"/>
          </p:cNvSpPr>
          <p:nvPr>
            <p:ph type="title"/>
          </p:nvPr>
        </p:nvSpPr>
        <p:spPr/>
        <p:txBody>
          <a:bodyPr/>
          <a:lstStyle/>
          <a:p>
            <a:r>
              <a:rPr lang="zh-CN" altLang="en-US" dirty="0"/>
              <a:t>代码的主体框架分为三个包九个类</a:t>
            </a:r>
          </a:p>
        </p:txBody>
      </p:sp>
      <p:pic>
        <p:nvPicPr>
          <p:cNvPr id="9" name="内容占位符 8" descr="图示&#10;&#10;AI 生成的内容可能不正确。">
            <a:extLst>
              <a:ext uri="{FF2B5EF4-FFF2-40B4-BE49-F238E27FC236}">
                <a16:creationId xmlns:a16="http://schemas.microsoft.com/office/drawing/2014/main" id="{29878778-ED61-AD55-8FC4-F6D00A797FD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34472" y="1321690"/>
            <a:ext cx="5347855" cy="5541225"/>
          </a:xfrm>
        </p:spPr>
      </p:pic>
    </p:spTree>
    <p:extLst>
      <p:ext uri="{BB962C8B-B14F-4D97-AF65-F5344CB8AC3E}">
        <p14:creationId xmlns:p14="http://schemas.microsoft.com/office/powerpoint/2010/main" val="10757050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144530-05A0-203A-B14F-9A742B34F97B}"/>
              </a:ext>
            </a:extLst>
          </p:cNvPr>
          <p:cNvSpPr>
            <a:spLocks noGrp="1"/>
          </p:cNvSpPr>
          <p:nvPr>
            <p:ph type="title"/>
          </p:nvPr>
        </p:nvSpPr>
        <p:spPr/>
        <p:txBody>
          <a:bodyPr/>
          <a:lstStyle/>
          <a:p>
            <a:r>
              <a:rPr lang="zh-CN" altLang="en-US" dirty="0"/>
              <a:t>三个包的作用</a:t>
            </a:r>
          </a:p>
        </p:txBody>
      </p:sp>
      <p:sp>
        <p:nvSpPr>
          <p:cNvPr id="3" name="内容占位符 2">
            <a:extLst>
              <a:ext uri="{FF2B5EF4-FFF2-40B4-BE49-F238E27FC236}">
                <a16:creationId xmlns:a16="http://schemas.microsoft.com/office/drawing/2014/main" id="{7648B93C-E3D9-6981-49A5-D693ACA6C4D0}"/>
              </a:ext>
            </a:extLst>
          </p:cNvPr>
          <p:cNvSpPr>
            <a:spLocks noGrp="1"/>
          </p:cNvSpPr>
          <p:nvPr>
            <p:ph idx="1"/>
          </p:nvPr>
        </p:nvSpPr>
        <p:spPr/>
        <p:txBody>
          <a:bodyPr>
            <a:normAutofit lnSpcReduction="10000"/>
          </a:bodyPr>
          <a:lstStyle/>
          <a:p>
            <a:r>
              <a:rPr lang="en-US" altLang="zh-CN" dirty="0" err="1"/>
              <a:t>GameDriver</a:t>
            </a:r>
            <a:r>
              <a:rPr lang="en-US" altLang="zh-CN" dirty="0"/>
              <a:t> </a:t>
            </a:r>
            <a:r>
              <a:rPr lang="zh-CN" altLang="en-US" dirty="0"/>
              <a:t>包</a:t>
            </a:r>
            <a:r>
              <a:rPr lang="en-US" altLang="zh-CN" dirty="0"/>
              <a:t>: </a:t>
            </a:r>
            <a:r>
              <a:rPr lang="zh-CN" altLang="en-US" dirty="0"/>
              <a:t>程序启动包。它包含了 </a:t>
            </a:r>
            <a:r>
              <a:rPr lang="en-US" altLang="zh-CN" dirty="0"/>
              <a:t>Driver.java </a:t>
            </a:r>
            <a:r>
              <a:rPr lang="zh-CN" altLang="en-US" dirty="0"/>
              <a:t>文件，其中的 </a:t>
            </a:r>
            <a:r>
              <a:rPr lang="en-US" altLang="zh-CN" dirty="0"/>
              <a:t>main </a:t>
            </a:r>
            <a:r>
              <a:rPr lang="zh-CN" altLang="en-US" dirty="0"/>
              <a:t>方法是整个</a:t>
            </a:r>
            <a:r>
              <a:rPr lang="en-US" altLang="zh-CN" dirty="0"/>
              <a:t>Java</a:t>
            </a:r>
            <a:r>
              <a:rPr lang="zh-CN" altLang="en-US" dirty="0"/>
              <a:t>应用程序的入口点。它的唯一职责就是创建 </a:t>
            </a:r>
            <a:r>
              <a:rPr lang="en-US" altLang="zh-CN" dirty="0"/>
              <a:t>Menu </a:t>
            </a:r>
            <a:r>
              <a:rPr lang="zh-CN" altLang="en-US" dirty="0"/>
              <a:t>对象，从而启动游戏。</a:t>
            </a:r>
            <a:endParaRPr lang="en-US" altLang="zh-CN" dirty="0"/>
          </a:p>
          <a:p>
            <a:r>
              <a:rPr lang="en-US" altLang="zh-CN" dirty="0" err="1"/>
              <a:t>UserInterface</a:t>
            </a:r>
            <a:r>
              <a:rPr lang="en-US" altLang="zh-CN" dirty="0"/>
              <a:t> </a:t>
            </a:r>
            <a:r>
              <a:rPr lang="zh-CN" altLang="en-US" dirty="0"/>
              <a:t>包</a:t>
            </a:r>
            <a:r>
              <a:rPr lang="en-US" altLang="zh-CN" dirty="0"/>
              <a:t>:</a:t>
            </a:r>
            <a:r>
              <a:rPr lang="zh-CN" altLang="en-US" dirty="0"/>
              <a:t>作用</a:t>
            </a:r>
            <a:r>
              <a:rPr lang="en-US" altLang="zh-CN" dirty="0"/>
              <a:t>: </a:t>
            </a:r>
            <a:r>
              <a:rPr lang="zh-CN" altLang="en-US" dirty="0"/>
              <a:t>用户界面与交互包。这是项目的核心部分，包含了所有与图形用户界面相关的类，例如 </a:t>
            </a:r>
            <a:r>
              <a:rPr lang="en-US" altLang="zh-CN" dirty="0"/>
              <a:t>Menu</a:t>
            </a:r>
            <a:r>
              <a:rPr lang="zh-CN" altLang="en-US" dirty="0"/>
              <a:t>、</a:t>
            </a:r>
            <a:r>
              <a:rPr lang="en-US" altLang="zh-CN" dirty="0" err="1"/>
              <a:t>GameBoard</a:t>
            </a:r>
            <a:r>
              <a:rPr lang="zh-CN" altLang="en-US" dirty="0"/>
              <a:t>、</a:t>
            </a:r>
            <a:r>
              <a:rPr lang="en-US" altLang="zh-CN" dirty="0" err="1"/>
              <a:t>SmartSquare</a:t>
            </a:r>
            <a:r>
              <a:rPr lang="zh-CN" altLang="en-US" dirty="0"/>
              <a:t>。同时，它也包含了一些直接服务于界面的逻辑类，如 </a:t>
            </a:r>
            <a:r>
              <a:rPr lang="en-US" altLang="zh-CN" dirty="0" err="1"/>
              <a:t>ProduceBombs</a:t>
            </a:r>
            <a:r>
              <a:rPr lang="zh-CN" altLang="en-US" dirty="0"/>
              <a:t>和 </a:t>
            </a:r>
            <a:r>
              <a:rPr lang="en-US" altLang="zh-CN" dirty="0" err="1"/>
              <a:t>CheckSquare</a:t>
            </a:r>
            <a:r>
              <a:rPr lang="zh-CN" altLang="en-US" dirty="0"/>
              <a:t>这些类紧密地与界面交互。</a:t>
            </a:r>
            <a:endParaRPr lang="en-US" altLang="zh-CN" dirty="0"/>
          </a:p>
          <a:p>
            <a:r>
              <a:rPr lang="en-US" altLang="zh-CN" dirty="0"/>
              <a:t>Library </a:t>
            </a:r>
            <a:r>
              <a:rPr lang="zh-CN" altLang="en-US" dirty="0"/>
              <a:t>包</a:t>
            </a:r>
            <a:r>
              <a:rPr lang="en-US" altLang="zh-CN" dirty="0"/>
              <a:t>: </a:t>
            </a:r>
            <a:r>
              <a:rPr lang="zh-CN" altLang="en-US" dirty="0"/>
              <a:t>通用功能库包。它提供了一些通用的、可被其他包复用的组件或工具。例如，</a:t>
            </a:r>
            <a:r>
              <a:rPr lang="en-US" altLang="zh-CN" dirty="0" err="1"/>
              <a:t>TimeChecker</a:t>
            </a:r>
            <a:r>
              <a:rPr lang="en-US" altLang="zh-CN" dirty="0"/>
              <a:t> </a:t>
            </a:r>
            <a:r>
              <a:rPr lang="zh-CN" altLang="en-US" dirty="0"/>
              <a:t>是一个时间格式化工具，而 </a:t>
            </a:r>
            <a:r>
              <a:rPr lang="en-US" altLang="zh-CN" dirty="0"/>
              <a:t>Bomb </a:t>
            </a:r>
            <a:r>
              <a:rPr lang="zh-CN" altLang="en-US" dirty="0"/>
              <a:t>是一个抽象基类，为地雷的生成提供了一个通用的模板。这个包旨在将一些基础或辅助功能与具体的界面逻辑分离开。</a:t>
            </a:r>
          </a:p>
        </p:txBody>
      </p:sp>
    </p:spTree>
    <p:extLst>
      <p:ext uri="{BB962C8B-B14F-4D97-AF65-F5344CB8AC3E}">
        <p14:creationId xmlns:p14="http://schemas.microsoft.com/office/powerpoint/2010/main" val="1920709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C80F1D-9C19-0F17-A2C6-66E47211E381}"/>
              </a:ext>
            </a:extLst>
          </p:cNvPr>
          <p:cNvSpPr>
            <a:spLocks noGrp="1"/>
          </p:cNvSpPr>
          <p:nvPr>
            <p:ph type="title"/>
          </p:nvPr>
        </p:nvSpPr>
        <p:spPr/>
        <p:txBody>
          <a:bodyPr/>
          <a:lstStyle/>
          <a:p>
            <a:r>
              <a:rPr lang="en-US" altLang="zh-CN" dirty="0" err="1"/>
              <a:t>GameDriver</a:t>
            </a:r>
            <a:endParaRPr lang="zh-CN" altLang="en-US" dirty="0"/>
          </a:p>
        </p:txBody>
      </p:sp>
      <p:sp>
        <p:nvSpPr>
          <p:cNvPr id="3" name="内容占位符 2">
            <a:extLst>
              <a:ext uri="{FF2B5EF4-FFF2-40B4-BE49-F238E27FC236}">
                <a16:creationId xmlns:a16="http://schemas.microsoft.com/office/drawing/2014/main" id="{A7AEE359-51F2-6716-C5F5-0CF4784BF4FE}"/>
              </a:ext>
            </a:extLst>
          </p:cNvPr>
          <p:cNvSpPr>
            <a:spLocks noGrp="1"/>
          </p:cNvSpPr>
          <p:nvPr>
            <p:ph idx="1"/>
          </p:nvPr>
        </p:nvSpPr>
        <p:spPr/>
        <p:txBody>
          <a:bodyPr/>
          <a:lstStyle/>
          <a:p>
            <a:r>
              <a:rPr lang="en-US" altLang="zh-CN" dirty="0"/>
              <a:t>Driver.java: </a:t>
            </a:r>
            <a:r>
              <a:rPr lang="zh-CN" altLang="en-US" dirty="0"/>
              <a:t>作用</a:t>
            </a:r>
            <a:r>
              <a:rPr lang="en-US" altLang="zh-CN" dirty="0"/>
              <a:t>: </a:t>
            </a:r>
            <a:r>
              <a:rPr lang="zh-CN" altLang="en-US" dirty="0"/>
              <a:t>程序的入口。它的</a:t>
            </a:r>
            <a:r>
              <a:rPr lang="en-US" altLang="zh-CN" dirty="0"/>
              <a:t>main</a:t>
            </a:r>
            <a:r>
              <a:rPr lang="zh-CN" altLang="en-US" dirty="0"/>
              <a:t>方法通过创建</a:t>
            </a:r>
            <a:r>
              <a:rPr lang="en-US" altLang="zh-CN" dirty="0"/>
              <a:t>Menu</a:t>
            </a:r>
            <a:r>
              <a:rPr lang="zh-CN" altLang="en-US" dirty="0"/>
              <a:t>对象来启动整个游戏</a:t>
            </a:r>
          </a:p>
        </p:txBody>
      </p:sp>
    </p:spTree>
    <p:extLst>
      <p:ext uri="{BB962C8B-B14F-4D97-AF65-F5344CB8AC3E}">
        <p14:creationId xmlns:p14="http://schemas.microsoft.com/office/powerpoint/2010/main" val="16244508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09CCCB-2E08-C360-FAC9-458DFA8D1065}"/>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DEC19B4A-6F0D-8251-45BB-43100646FBFA}"/>
              </a:ext>
            </a:extLst>
          </p:cNvPr>
          <p:cNvSpPr>
            <a:spLocks noGrp="1"/>
          </p:cNvSpPr>
          <p:nvPr>
            <p:ph idx="1"/>
          </p:nvPr>
        </p:nvSpPr>
        <p:spPr/>
        <p:txBody>
          <a:bodyPr>
            <a:normAutofit/>
          </a:bodyPr>
          <a:lstStyle/>
          <a:p>
            <a:r>
              <a:rPr lang="en-US" altLang="zh-CN" dirty="0"/>
              <a:t>Menu.java: </a:t>
            </a:r>
            <a:r>
              <a:rPr lang="zh-CN" altLang="en-US" dirty="0"/>
              <a:t>游戏开始菜单。它提供一个窗口让玩家选择游戏难度（初级、中级、高级）或自定义棋盘的尺寸和雷数。选择后，它会根据设置创建</a:t>
            </a:r>
            <a:r>
              <a:rPr lang="en-US" altLang="zh-CN" dirty="0" err="1"/>
              <a:t>GameBoard</a:t>
            </a:r>
            <a:r>
              <a:rPr lang="zh-CN" altLang="en-US" dirty="0"/>
              <a:t>对象开始新游戏。</a:t>
            </a:r>
            <a:endParaRPr lang="en-US" altLang="zh-CN" dirty="0"/>
          </a:p>
          <a:p>
            <a:r>
              <a:rPr lang="en-US" altLang="zh-CN" dirty="0"/>
              <a:t>GameBoard.java: </a:t>
            </a:r>
            <a:r>
              <a:rPr lang="zh-CN" altLang="en-US" dirty="0"/>
              <a:t>游戏主棋盘。这是一个</a:t>
            </a:r>
            <a:r>
              <a:rPr lang="en-US" altLang="zh-CN" dirty="0" err="1"/>
              <a:t>JFrame</a:t>
            </a:r>
            <a:r>
              <a:rPr lang="zh-CN" altLang="en-US" dirty="0"/>
              <a:t>窗口，使用</a:t>
            </a:r>
            <a:r>
              <a:rPr lang="en-US" altLang="zh-CN" dirty="0" err="1"/>
              <a:t>GridLayout</a:t>
            </a:r>
            <a:r>
              <a:rPr lang="zh-CN" altLang="en-US" dirty="0"/>
              <a:t>网格布局来容纳所有的</a:t>
            </a:r>
            <a:r>
              <a:rPr lang="en-US" altLang="zh-CN" dirty="0" err="1"/>
              <a:t>GameSquare</a:t>
            </a:r>
            <a:r>
              <a:rPr lang="zh-CN" altLang="en-US" dirty="0"/>
              <a:t>（方块）。它负责创建并管理二维数组的方块</a:t>
            </a:r>
            <a:endParaRPr lang="en-US" altLang="zh-CN" dirty="0"/>
          </a:p>
          <a:p>
            <a:r>
              <a:rPr lang="en-US" altLang="zh-CN" dirty="0"/>
              <a:t>GameSquare.java: </a:t>
            </a:r>
            <a:r>
              <a:rPr lang="zh-CN" altLang="en-US" dirty="0"/>
              <a:t>游戏方块的抽象基类。它继承自</a:t>
            </a:r>
            <a:r>
              <a:rPr lang="en-US" altLang="zh-CN" dirty="0" err="1"/>
              <a:t>JButton</a:t>
            </a:r>
            <a:r>
              <a:rPr lang="zh-CN" altLang="en-US" dirty="0"/>
              <a:t>，定义了所有方块共有的属性（如坐标）和行为（如抽象的</a:t>
            </a:r>
            <a:r>
              <a:rPr lang="en-US" altLang="zh-CN" dirty="0"/>
              <a:t>clicked()</a:t>
            </a:r>
            <a:r>
              <a:rPr lang="zh-CN" altLang="en-US" dirty="0"/>
              <a:t>方法）。</a:t>
            </a:r>
          </a:p>
        </p:txBody>
      </p:sp>
    </p:spTree>
    <p:extLst>
      <p:ext uri="{BB962C8B-B14F-4D97-AF65-F5344CB8AC3E}">
        <p14:creationId xmlns:p14="http://schemas.microsoft.com/office/powerpoint/2010/main" val="22503208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28C39A-3CAC-C1EC-15EE-F3938C946B40}"/>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5A3941BD-EECC-1AAE-7CE4-1D7CF3139FE9}"/>
              </a:ext>
            </a:extLst>
          </p:cNvPr>
          <p:cNvSpPr>
            <a:spLocks noGrp="1"/>
          </p:cNvSpPr>
          <p:nvPr>
            <p:ph idx="1"/>
          </p:nvPr>
        </p:nvSpPr>
        <p:spPr/>
        <p:txBody>
          <a:bodyPr>
            <a:normAutofit/>
          </a:bodyPr>
          <a:lstStyle/>
          <a:p>
            <a:r>
              <a:rPr lang="en-US" altLang="zh-CN" dirty="0"/>
              <a:t>SmartSquare.java: </a:t>
            </a:r>
            <a:r>
              <a:rPr lang="zh-CN" altLang="en-US" dirty="0"/>
              <a:t>游戏方块的具体实现。它继承自</a:t>
            </a:r>
            <a:r>
              <a:rPr lang="en-US" altLang="zh-CN" dirty="0" err="1"/>
              <a:t>GameSquare</a:t>
            </a:r>
            <a:r>
              <a:rPr lang="zh-CN" altLang="en-US" dirty="0"/>
              <a:t>，并实现了</a:t>
            </a:r>
            <a:r>
              <a:rPr lang="en-US" altLang="zh-CN" dirty="0" err="1"/>
              <a:t>MouseListener</a:t>
            </a:r>
            <a:r>
              <a:rPr lang="zh-CN" altLang="en-US" dirty="0"/>
              <a:t>来处理玩家的点击操作（左键挖开，右键标记）。它包含了方块的核心逻辑，例如：是否是雷、是否被翻开、是否被标记等状态。当被点击时，它会执行相应的游戏逻辑。</a:t>
            </a:r>
            <a:endParaRPr lang="en-US" altLang="zh-CN" dirty="0"/>
          </a:p>
          <a:p>
            <a:r>
              <a:rPr lang="en-US" altLang="zh-CN" dirty="0"/>
              <a:t>ProduceBombs.java: </a:t>
            </a:r>
            <a:r>
              <a:rPr lang="zh-CN" altLang="en-US" dirty="0"/>
              <a:t>地雷的生成器。它继承自</a:t>
            </a:r>
            <a:r>
              <a:rPr lang="en-US" altLang="zh-CN" dirty="0"/>
              <a:t>Bomb</a:t>
            </a:r>
            <a:r>
              <a:rPr lang="zh-CN" altLang="en-US" dirty="0"/>
              <a:t>，负责在</a:t>
            </a:r>
            <a:r>
              <a:rPr lang="en-US" altLang="zh-CN" dirty="0" err="1"/>
              <a:t>GameBoard</a:t>
            </a:r>
            <a:r>
              <a:rPr lang="zh-CN" altLang="en-US" dirty="0"/>
              <a:t>上随机地布置指定数量的地雷。为了避免在同一个位置重复生成地雷，它包含了一个检查机制。</a:t>
            </a:r>
            <a:endParaRPr lang="en-US" altLang="zh-CN" dirty="0"/>
          </a:p>
          <a:p>
            <a:r>
              <a:rPr lang="en-US" altLang="zh-CN" dirty="0"/>
              <a:t>CheckSquare.java: </a:t>
            </a:r>
            <a:r>
              <a:rPr lang="zh-CN" altLang="en-US" dirty="0"/>
              <a:t>游戏逻辑检查器。当玩家点击一个非雷方块时，这个类负责计算其周围的雷数，并递归地翻开相邻的空白方块（如果周围没有雷）。它也负责判断游戏是否胜利。</a:t>
            </a:r>
          </a:p>
          <a:p>
            <a:endParaRPr lang="zh-CN" altLang="en-US" dirty="0"/>
          </a:p>
        </p:txBody>
      </p:sp>
    </p:spTree>
    <p:extLst>
      <p:ext uri="{BB962C8B-B14F-4D97-AF65-F5344CB8AC3E}">
        <p14:creationId xmlns:p14="http://schemas.microsoft.com/office/powerpoint/2010/main" val="29642522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7A5398-88B2-97E2-3F0C-8C8A13774D89}"/>
              </a:ext>
            </a:extLst>
          </p:cNvPr>
          <p:cNvSpPr>
            <a:spLocks noGrp="1"/>
          </p:cNvSpPr>
          <p:nvPr>
            <p:ph type="title"/>
          </p:nvPr>
        </p:nvSpPr>
        <p:spPr/>
        <p:txBody>
          <a:bodyPr/>
          <a:lstStyle/>
          <a:p>
            <a:r>
              <a:rPr lang="en-US" altLang="zh-CN" dirty="0"/>
              <a:t>Library</a:t>
            </a:r>
            <a:endParaRPr lang="zh-CN" altLang="en-US" dirty="0"/>
          </a:p>
        </p:txBody>
      </p:sp>
      <p:sp>
        <p:nvSpPr>
          <p:cNvPr id="3" name="内容占位符 2">
            <a:extLst>
              <a:ext uri="{FF2B5EF4-FFF2-40B4-BE49-F238E27FC236}">
                <a16:creationId xmlns:a16="http://schemas.microsoft.com/office/drawing/2014/main" id="{52EB2B6A-8EE7-0360-1EE9-87248F2DEA3E}"/>
              </a:ext>
            </a:extLst>
          </p:cNvPr>
          <p:cNvSpPr>
            <a:spLocks noGrp="1"/>
          </p:cNvSpPr>
          <p:nvPr>
            <p:ph idx="1"/>
          </p:nvPr>
        </p:nvSpPr>
        <p:spPr/>
        <p:txBody>
          <a:bodyPr/>
          <a:lstStyle/>
          <a:p>
            <a:r>
              <a:rPr lang="en-US" altLang="zh-CN" dirty="0"/>
              <a:t>Bomb.java: </a:t>
            </a:r>
            <a:r>
              <a:rPr lang="zh-CN" altLang="en-US" dirty="0"/>
              <a:t>雷的抽象基类。它定义了生成雷所需要的基本属性（如游戏棋盘</a:t>
            </a:r>
            <a:r>
              <a:rPr lang="en-US" altLang="zh-CN" dirty="0"/>
              <a:t>board</a:t>
            </a:r>
            <a:r>
              <a:rPr lang="zh-CN" altLang="en-US" dirty="0"/>
              <a:t>）和抽象行为（</a:t>
            </a:r>
            <a:r>
              <a:rPr lang="en-US" altLang="zh-CN" dirty="0" err="1"/>
              <a:t>reproduceBomb</a:t>
            </a:r>
            <a:r>
              <a:rPr lang="zh-CN" altLang="en-US" dirty="0"/>
              <a:t>方法），具体的生成逻辑由子类</a:t>
            </a:r>
            <a:r>
              <a:rPr lang="en-US" altLang="zh-CN" dirty="0" err="1"/>
              <a:t>ProduceBombs</a:t>
            </a:r>
            <a:r>
              <a:rPr lang="zh-CN" altLang="en-US" dirty="0"/>
              <a:t>实现。</a:t>
            </a:r>
            <a:endParaRPr lang="en-US" altLang="zh-CN" dirty="0"/>
          </a:p>
          <a:p>
            <a:r>
              <a:rPr lang="en-US" altLang="zh-CN" dirty="0"/>
              <a:t>TimeChecker.java: </a:t>
            </a:r>
            <a:r>
              <a:rPr lang="zh-CN" altLang="en-US" dirty="0"/>
              <a:t>时间计算工具。这是一个接口，提供了一个静态方法</a:t>
            </a:r>
            <a:r>
              <a:rPr lang="en-US" altLang="zh-CN" dirty="0" err="1"/>
              <a:t>calculateTime</a:t>
            </a:r>
            <a:r>
              <a:rPr lang="zh-CN" altLang="en-US" dirty="0"/>
              <a:t>，用于将毫秒数格式化为更易读的“时</a:t>
            </a:r>
            <a:r>
              <a:rPr lang="en-US" altLang="zh-CN" dirty="0"/>
              <a:t>-</a:t>
            </a:r>
            <a:r>
              <a:rPr lang="zh-CN" altLang="en-US" dirty="0"/>
              <a:t>分</a:t>
            </a:r>
            <a:r>
              <a:rPr lang="en-US" altLang="zh-CN" dirty="0"/>
              <a:t>-</a:t>
            </a:r>
            <a:r>
              <a:rPr lang="zh-CN" altLang="en-US" dirty="0"/>
              <a:t>秒</a:t>
            </a:r>
            <a:r>
              <a:rPr lang="en-US" altLang="zh-CN" dirty="0"/>
              <a:t>-</a:t>
            </a:r>
            <a:r>
              <a:rPr lang="zh-CN" altLang="en-US" dirty="0"/>
              <a:t>毫秒”字符串。</a:t>
            </a:r>
          </a:p>
        </p:txBody>
      </p:sp>
    </p:spTree>
    <p:extLst>
      <p:ext uri="{BB962C8B-B14F-4D97-AF65-F5344CB8AC3E}">
        <p14:creationId xmlns:p14="http://schemas.microsoft.com/office/powerpoint/2010/main" val="1985954015"/>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6.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9.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2.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3.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243</TotalTime>
  <Words>2727</Words>
  <Application>Microsoft Office PowerPoint</Application>
  <PresentationFormat>宽屏</PresentationFormat>
  <Paragraphs>175</Paragraphs>
  <Slides>29</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29</vt:i4>
      </vt:variant>
    </vt:vector>
  </HeadingPairs>
  <TitlesOfParts>
    <vt:vector size="35" baseType="lpstr">
      <vt:lpstr>Segoe WPC</vt:lpstr>
      <vt:lpstr>等线</vt:lpstr>
      <vt:lpstr>等线 Light</vt:lpstr>
      <vt:lpstr>Arial</vt:lpstr>
      <vt:lpstr>Office 主题​​</vt:lpstr>
      <vt:lpstr>Designed by iSlide</vt:lpstr>
      <vt:lpstr>扫雷游戏</vt:lpstr>
      <vt:lpstr>Agenda</vt:lpstr>
      <vt:lpstr>修改前后的类图</vt:lpstr>
      <vt:lpstr>PowerPoint 演示文稿</vt:lpstr>
      <vt:lpstr>在原有基础上的修改</vt:lpstr>
      <vt:lpstr>模板方法</vt:lpstr>
      <vt:lpstr>PowerPoint 演示文稿</vt:lpstr>
      <vt:lpstr>PowerPoint 演示文稿</vt:lpstr>
      <vt:lpstr>PowerPoint 演示文稿</vt:lpstr>
      <vt:lpstr>单例模式</vt:lpstr>
      <vt:lpstr>PowerPoint 演示文稿</vt:lpstr>
      <vt:lpstr>一些新增的内容</vt:lpstr>
      <vt:lpstr>音乐播放功能</vt:lpstr>
      <vt:lpstr>使用的设计模式</vt:lpstr>
      <vt:lpstr>记录功能</vt:lpstr>
      <vt:lpstr>PowerPoint 演示文稿</vt:lpstr>
      <vt:lpstr>PowerPoint 演示文稿</vt:lpstr>
      <vt:lpstr>主要界面</vt:lpstr>
      <vt:lpstr>主要界面</vt:lpstr>
      <vt:lpstr>代码的主要流程</vt:lpstr>
      <vt:lpstr>主要流程</vt:lpstr>
      <vt:lpstr>PowerPoint 演示文稿</vt:lpstr>
      <vt:lpstr>Thank you</vt:lpstr>
      <vt:lpstr>代码的主体框架分为三个包九个类</vt:lpstr>
      <vt:lpstr>三个包的作用</vt:lpstr>
      <vt:lpstr>GameDriver</vt:lpstr>
      <vt:lpstr>UserInterface</vt:lpstr>
      <vt:lpstr>UserInterface</vt:lpstr>
      <vt:lpstr>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92</cp:revision>
  <dcterms:created xsi:type="dcterms:W3CDTF">2025-11-02T06:55:21Z</dcterms:created>
  <dcterms:modified xsi:type="dcterms:W3CDTF">2025-11-28T09:08:07Z</dcterms:modified>
</cp:coreProperties>
</file>