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7"/>
  </p:notesMasterIdLst>
  <p:sldIdLst>
    <p:sldId id="256" r:id="rId3"/>
    <p:sldId id="280" r:id="rId4"/>
    <p:sldId id="274" r:id="rId5"/>
    <p:sldId id="268" r:id="rId6"/>
    <p:sldId id="300" r:id="rId7"/>
    <p:sldId id="275" r:id="rId8"/>
    <p:sldId id="266" r:id="rId9"/>
    <p:sldId id="284" r:id="rId10"/>
    <p:sldId id="267" r:id="rId11"/>
    <p:sldId id="285" r:id="rId12"/>
    <p:sldId id="281" r:id="rId13"/>
    <p:sldId id="283" r:id="rId14"/>
    <p:sldId id="276" r:id="rId15"/>
    <p:sldId id="286" r:id="rId16"/>
    <p:sldId id="301" r:id="rId17"/>
    <p:sldId id="287" r:id="rId18"/>
    <p:sldId id="290" r:id="rId19"/>
    <p:sldId id="303" r:id="rId20"/>
    <p:sldId id="289" r:id="rId21"/>
    <p:sldId id="291" r:id="rId22"/>
    <p:sldId id="292" r:id="rId23"/>
    <p:sldId id="302" r:id="rId24"/>
    <p:sldId id="293" r:id="rId25"/>
    <p:sldId id="294" r:id="rId26"/>
    <p:sldId id="295" r:id="rId27"/>
    <p:sldId id="277" r:id="rId28"/>
    <p:sldId id="263" r:id="rId29"/>
    <p:sldId id="296" r:id="rId30"/>
    <p:sldId id="278" r:id="rId31"/>
    <p:sldId id="264" r:id="rId32"/>
    <p:sldId id="265" r:id="rId33"/>
    <p:sldId id="297" r:id="rId34"/>
    <p:sldId id="299" r:id="rId35"/>
    <p:sldId id="279" r:id="rId3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11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4.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13.xml"/><Relationship Id="rId1" Type="http://schemas.openxmlformats.org/officeDocument/2006/relationships/themeOverride" Target="../theme/themeOverride13.xml"/><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3.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3.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4.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slideLayout" Target="../slideLayouts/slideLayout2.xml"/><Relationship Id="rId1" Type="http://schemas.openxmlformats.org/officeDocument/2006/relationships/themeOverride" Target="../theme/themeOverride15.xml"/><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6.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9.xml"/></Relationships>
</file>

<file path=ppt/slides/_rels/slide33.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themeOverride" Target="../theme/themeOverr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zh-CN" altLang="en-US" dirty="0"/>
              <a:t>修改前后的类图</a:t>
            </a:r>
            <a:endParaRPr lang="en-US" dirty="0"/>
          </a:p>
          <a:p>
            <a:pPr lvl="0"/>
            <a:r>
              <a:rPr lang="zh-CN" altLang="en-US" dirty="0"/>
              <a:t>在原有基础上的修改</a:t>
            </a:r>
            <a:endParaRPr lang="en-US" dirty="0"/>
          </a:p>
          <a:p>
            <a:pPr lvl="0"/>
            <a:r>
              <a:rPr lang="zh-CN" altLang="en-US" dirty="0"/>
              <a:t>一些新增的内容</a:t>
            </a:r>
            <a:endParaRPr lang="en-US" altLang="zh-CN" dirty="0"/>
          </a:p>
          <a:p>
            <a:pPr lvl="0"/>
            <a:r>
              <a:rPr lang="zh-CN" altLang="en-US" dirty="0"/>
              <a:t>主要运行界面</a:t>
            </a:r>
            <a:endParaRPr lang="en-US" dirty="0"/>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修改前后的类图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
        <p:nvSpPr>
          <p:cNvPr id="2" name="文本框 1">
            <a:extLst>
              <a:ext uri="{FF2B5EF4-FFF2-40B4-BE49-F238E27FC236}">
                <a16:creationId xmlns:a16="http://schemas.microsoft.com/office/drawing/2014/main" id="{0745A0CA-5D0C-C704-BB51-36338D121505}"/>
              </a:ext>
            </a:extLst>
          </p:cNvPr>
          <p:cNvSpPr txBox="1"/>
          <p:nvPr/>
        </p:nvSpPr>
        <p:spPr>
          <a:xfrm>
            <a:off x="5411756" y="378358"/>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5CB169CD-CAD1-7E86-25D7-39C7B8AB509C}"/>
              </a:ext>
            </a:extLst>
          </p:cNvPr>
          <p:cNvPicPr>
            <a:picLocks noChangeAspect="1"/>
          </p:cNvPicPr>
          <p:nvPr/>
        </p:nvPicPr>
        <p:blipFill>
          <a:blip r:embed="rId2"/>
          <a:stretch>
            <a:fillRect/>
          </a:stretch>
        </p:blipFill>
        <p:spPr>
          <a:xfrm>
            <a:off x="0" y="0"/>
            <a:ext cx="2641951" cy="6858000"/>
          </a:xfrm>
          <a:prstGeom prst="rect">
            <a:avLst/>
          </a:prstGeom>
        </p:spPr>
      </p:pic>
      <p:pic>
        <p:nvPicPr>
          <p:cNvPr id="6" name="图片 5" descr="图示, 工程绘图">
            <a:extLst>
              <a:ext uri="{FF2B5EF4-FFF2-40B4-BE49-F238E27FC236}">
                <a16:creationId xmlns:a16="http://schemas.microsoft.com/office/drawing/2014/main" id="{E618F3C6-FEA1-33FA-B392-64C8266B1C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64672" y="0"/>
            <a:ext cx="6462656" cy="6858000"/>
          </a:xfrm>
          <a:prstGeom prst="rect">
            <a:avLst/>
          </a:prstGeom>
        </p:spPr>
      </p:pic>
    </p:spTree>
    <p:extLst>
      <p:ext uri="{BB962C8B-B14F-4D97-AF65-F5344CB8AC3E}">
        <p14:creationId xmlns:p14="http://schemas.microsoft.com/office/powerpoint/2010/main" val="620807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4"/>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normAutofit/>
          </a:bodyPr>
          <a:lstStyle/>
          <a:p>
            <a:r>
              <a:rPr lang="zh-CN" altLang="en-US" sz="4400" b="0" dirty="0">
                <a:latin typeface="等线 Light" panose="02010600030101010101" pitchFamily="2" charset="-122"/>
                <a:ea typeface="等线 Light" panose="02010600030101010101" pitchFamily="2" charset="-122"/>
              </a:rPr>
              <a:t>音乐播放功能</a:t>
            </a:r>
          </a:p>
        </p:txBody>
      </p:sp>
      <p:sp>
        <p:nvSpPr>
          <p:cNvPr id="6" name="文本框 5">
            <a:extLst>
              <a:ext uri="{FF2B5EF4-FFF2-40B4-BE49-F238E27FC236}">
                <a16:creationId xmlns:a16="http://schemas.microsoft.com/office/drawing/2014/main" id="{55DD6961-0CC2-0AB7-26E0-9E31F43D6121}"/>
              </a:ext>
            </a:extLst>
          </p:cNvPr>
          <p:cNvSpPr txBox="1"/>
          <p:nvPr/>
        </p:nvSpPr>
        <p:spPr>
          <a:xfrm>
            <a:off x="660400" y="1179373"/>
            <a:ext cx="3403496" cy="369332"/>
          </a:xfrm>
          <a:prstGeom prst="rect">
            <a:avLst/>
          </a:prstGeom>
          <a:noFill/>
        </p:spPr>
        <p:txBody>
          <a:bodyPr wrap="none" rtlCol="0">
            <a:spAutoFit/>
          </a:bodyPr>
          <a:lstStyle/>
          <a:p>
            <a:r>
              <a:rPr lang="zh-CN" altLang="en-US" dirty="0"/>
              <a:t>读取</a:t>
            </a:r>
            <a:r>
              <a:rPr lang="en-US" altLang="zh-CN" dirty="0" err="1"/>
              <a:t>bgm</a:t>
            </a:r>
            <a:r>
              <a:rPr lang="zh-CN" altLang="en-US" dirty="0"/>
              <a:t>文件夹中的音乐并播放</a:t>
            </a:r>
          </a:p>
        </p:txBody>
      </p:sp>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3630529557"/>
              </p:ext>
            </p:extLst>
          </p:nvPr>
        </p:nvGraphicFramePr>
        <p:xfrm>
          <a:off x="261257" y="1699379"/>
          <a:ext cx="7828383" cy="4141410"/>
        </p:xfrm>
        <a:graphic>
          <a:graphicData uri="http://schemas.openxmlformats.org/drawingml/2006/table">
            <a:tbl>
              <a:tblPr firstRow="1" bandRow="1">
                <a:tableStyleId>{5C22544A-7EE6-4342-B048-85BDC9FD1C3A}</a:tableStyleId>
              </a:tblPr>
              <a:tblGrid>
                <a:gridCol w="1383828">
                  <a:extLst>
                    <a:ext uri="{9D8B030D-6E8A-4147-A177-3AD203B41FA5}">
                      <a16:colId xmlns:a16="http://schemas.microsoft.com/office/drawing/2014/main" val="1506973227"/>
                    </a:ext>
                  </a:extLst>
                </a:gridCol>
                <a:gridCol w="1398025">
                  <a:extLst>
                    <a:ext uri="{9D8B030D-6E8A-4147-A177-3AD203B41FA5}">
                      <a16:colId xmlns:a16="http://schemas.microsoft.com/office/drawing/2014/main" val="213374773"/>
                    </a:ext>
                  </a:extLst>
                </a:gridCol>
                <a:gridCol w="2523265">
                  <a:extLst>
                    <a:ext uri="{9D8B030D-6E8A-4147-A177-3AD203B41FA5}">
                      <a16:colId xmlns:a16="http://schemas.microsoft.com/office/drawing/2014/main" val="2321845813"/>
                    </a:ext>
                  </a:extLst>
                </a:gridCol>
                <a:gridCol w="2523265">
                  <a:extLst>
                    <a:ext uri="{9D8B030D-6E8A-4147-A177-3AD203B41FA5}">
                      <a16:colId xmlns:a16="http://schemas.microsoft.com/office/drawing/2014/main" val="3335136129"/>
                    </a:ext>
                  </a:extLst>
                </a:gridCol>
              </a:tblGrid>
              <a:tr h="372050">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370840">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370840">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370840">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370840">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370840">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370840">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370840">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pic>
        <p:nvPicPr>
          <p:cNvPr id="11" name="图片 10">
            <a:extLst>
              <a:ext uri="{FF2B5EF4-FFF2-40B4-BE49-F238E27FC236}">
                <a16:creationId xmlns:a16="http://schemas.microsoft.com/office/drawing/2014/main" id="{E4DDDACD-4578-0486-EEFC-CA67B214A152}"/>
              </a:ext>
            </a:extLst>
          </p:cNvPr>
          <p:cNvPicPr>
            <a:picLocks noChangeAspect="1"/>
          </p:cNvPicPr>
          <p:nvPr/>
        </p:nvPicPr>
        <p:blipFill>
          <a:blip r:embed="rId3"/>
          <a:stretch>
            <a:fillRect/>
          </a:stretch>
        </p:blipFill>
        <p:spPr>
          <a:xfrm>
            <a:off x="6189771" y="121736"/>
            <a:ext cx="5858693" cy="1790950"/>
          </a:xfrm>
          <a:prstGeom prst="rect">
            <a:avLst/>
          </a:prstGeom>
        </p:spPr>
      </p:pic>
      <p:pic>
        <p:nvPicPr>
          <p:cNvPr id="13" name="图片 12">
            <a:extLst>
              <a:ext uri="{FF2B5EF4-FFF2-40B4-BE49-F238E27FC236}">
                <a16:creationId xmlns:a16="http://schemas.microsoft.com/office/drawing/2014/main" id="{36CF509A-3419-A86E-1627-DABFA95A47FA}"/>
              </a:ext>
            </a:extLst>
          </p:cNvPr>
          <p:cNvPicPr>
            <a:picLocks noChangeAspect="1"/>
          </p:cNvPicPr>
          <p:nvPr/>
        </p:nvPicPr>
        <p:blipFill>
          <a:blip r:embed="rId4"/>
          <a:stretch>
            <a:fillRect/>
          </a:stretch>
        </p:blipFill>
        <p:spPr>
          <a:xfrm>
            <a:off x="8640153" y="2443599"/>
            <a:ext cx="2495898" cy="1457528"/>
          </a:xfrm>
          <a:prstGeom prst="rect">
            <a:avLst/>
          </a:prstGeom>
        </p:spPr>
      </p:pic>
      <p:sp>
        <p:nvSpPr>
          <p:cNvPr id="15" name="文本框 14">
            <a:extLst>
              <a:ext uri="{FF2B5EF4-FFF2-40B4-BE49-F238E27FC236}">
                <a16:creationId xmlns:a16="http://schemas.microsoft.com/office/drawing/2014/main" id="{DA95B6B8-57A2-B922-1FC4-D93CA8875F88}"/>
              </a:ext>
            </a:extLst>
          </p:cNvPr>
          <p:cNvSpPr txBox="1"/>
          <p:nvPr/>
        </p:nvSpPr>
        <p:spPr>
          <a:xfrm>
            <a:off x="9119117" y="1977999"/>
            <a:ext cx="1107996" cy="369332"/>
          </a:xfrm>
          <a:prstGeom prst="rect">
            <a:avLst/>
          </a:prstGeom>
          <a:noFill/>
        </p:spPr>
        <p:txBody>
          <a:bodyPr wrap="none" rtlCol="0">
            <a:spAutoFit/>
          </a:bodyPr>
          <a:lstStyle/>
          <a:p>
            <a:r>
              <a:rPr lang="zh-CN" altLang="en-US" dirty="0"/>
              <a:t>选择界面</a:t>
            </a:r>
          </a:p>
        </p:txBody>
      </p:sp>
      <p:pic>
        <p:nvPicPr>
          <p:cNvPr id="16" name="图片 15">
            <a:extLst>
              <a:ext uri="{FF2B5EF4-FFF2-40B4-BE49-F238E27FC236}">
                <a16:creationId xmlns:a16="http://schemas.microsoft.com/office/drawing/2014/main" id="{19E547AE-EABB-719B-ECEF-6943F7FCF3A2}"/>
              </a:ext>
            </a:extLst>
          </p:cNvPr>
          <p:cNvPicPr>
            <a:picLocks noChangeAspect="1"/>
          </p:cNvPicPr>
          <p:nvPr/>
        </p:nvPicPr>
        <p:blipFill>
          <a:blip r:embed="rId5"/>
          <a:stretch>
            <a:fillRect/>
          </a:stretch>
        </p:blipFill>
        <p:spPr>
          <a:xfrm>
            <a:off x="8838093" y="4235938"/>
            <a:ext cx="1924319" cy="2286319"/>
          </a:xfrm>
          <a:prstGeom prst="rect">
            <a:avLst/>
          </a:prstGeom>
        </p:spPr>
      </p:pic>
    </p:spTree>
    <p:extLst>
      <p:ext uri="{BB962C8B-B14F-4D97-AF65-F5344CB8AC3E}">
        <p14:creationId xmlns:p14="http://schemas.microsoft.com/office/powerpoint/2010/main" val="1552905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27370E-8CD8-1B71-8D3D-0FC7D7C59172}"/>
              </a:ext>
            </a:extLst>
          </p:cNvPr>
          <p:cNvSpPr>
            <a:spLocks noGrp="1"/>
          </p:cNvSpPr>
          <p:nvPr>
            <p:ph type="title"/>
          </p:nvPr>
        </p:nvSpPr>
        <p:spPr/>
        <p:txBody>
          <a:bodyPr/>
          <a:lstStyle/>
          <a:p>
            <a:endParaRPr lang="zh-CN" altLang="en-US"/>
          </a:p>
        </p:txBody>
      </p:sp>
      <p:pic>
        <p:nvPicPr>
          <p:cNvPr id="4" name="内容占位符 3">
            <a:extLst>
              <a:ext uri="{FF2B5EF4-FFF2-40B4-BE49-F238E27FC236}">
                <a16:creationId xmlns:a16="http://schemas.microsoft.com/office/drawing/2014/main" id="{505FE8B9-FB2E-7AFB-2723-D0A6567190CF}"/>
              </a:ext>
            </a:extLst>
          </p:cNvPr>
          <p:cNvPicPr>
            <a:picLocks noGrp="1" noChangeAspect="1"/>
          </p:cNvPicPr>
          <p:nvPr>
            <p:ph idx="1"/>
          </p:nvPr>
        </p:nvPicPr>
        <p:blipFill>
          <a:blip r:embed="rId2"/>
          <a:stretch>
            <a:fillRect/>
          </a:stretch>
        </p:blipFill>
        <p:spPr>
          <a:xfrm>
            <a:off x="5060950" y="1131887"/>
            <a:ext cx="2057400" cy="5000625"/>
          </a:xfrm>
          <a:prstGeom prst="rect">
            <a:avLst/>
          </a:prstGeom>
        </p:spPr>
      </p:pic>
    </p:spTree>
    <p:extLst>
      <p:ext uri="{BB962C8B-B14F-4D97-AF65-F5344CB8AC3E}">
        <p14:creationId xmlns:p14="http://schemas.microsoft.com/office/powerpoint/2010/main" val="9722041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304B3C-8C40-FB4E-E0D6-DF54A0F64717}"/>
              </a:ext>
            </a:extLst>
          </p:cNvPr>
          <p:cNvSpPr>
            <a:spLocks noGrp="1"/>
          </p:cNvSpPr>
          <p:nvPr>
            <p:ph type="title"/>
          </p:nvPr>
        </p:nvSpPr>
        <p:spPr/>
        <p:txBody>
          <a:bodyPr>
            <a:normAutofit/>
          </a:bodyPr>
          <a:lstStyle/>
          <a:p>
            <a:r>
              <a:rPr lang="zh-CN" altLang="en-US" sz="4400" dirty="0">
                <a:latin typeface="等线 Light" panose="02010600030101010101" pitchFamily="2" charset="-122"/>
                <a:ea typeface="等线 Light" panose="02010600030101010101" pitchFamily="2" charset="-122"/>
              </a:rPr>
              <a:t>使用的设计模式</a:t>
            </a:r>
          </a:p>
        </p:txBody>
      </p:sp>
      <p:sp>
        <p:nvSpPr>
          <p:cNvPr id="3" name="内容占位符 2">
            <a:extLst>
              <a:ext uri="{FF2B5EF4-FFF2-40B4-BE49-F238E27FC236}">
                <a16:creationId xmlns:a16="http://schemas.microsoft.com/office/drawing/2014/main" id="{B761F1BF-3910-942E-BD11-920380B4413A}"/>
              </a:ext>
            </a:extLst>
          </p:cNvPr>
          <p:cNvSpPr>
            <a:spLocks noGrp="1"/>
          </p:cNvSpPr>
          <p:nvPr>
            <p:ph idx="1"/>
          </p:nvPr>
        </p:nvSpPr>
        <p:spPr>
          <a:xfrm>
            <a:off x="581089" y="1028700"/>
            <a:ext cx="3906935" cy="1910444"/>
          </a:xfrm>
        </p:spPr>
        <p:txBody>
          <a:bodyPr>
            <a:normAutofit fontScale="92500" lnSpcReduction="10000"/>
          </a:bodyPr>
          <a:lstStyle/>
          <a:p>
            <a:pPr marL="342900" indent="-342900">
              <a:buAutoNum type="arabicPeriod"/>
            </a:pPr>
            <a:r>
              <a:rPr lang="zh-CN" altLang="en-US" sz="1500" dirty="0"/>
              <a:t>单例模式</a:t>
            </a:r>
            <a:endParaRPr lang="en-US" altLang="zh-CN" sz="1500" dirty="0"/>
          </a:p>
          <a:p>
            <a:pPr marL="0" indent="0">
              <a:buNone/>
            </a:pPr>
            <a:r>
              <a:rPr lang="zh-CN" altLang="en-US" sz="1500" b="0" i="0" dirty="0">
                <a:effectLst/>
                <a:latin typeface="Segoe WPC"/>
              </a:rPr>
              <a:t>确保整个应用程序中只有一个音乐播放器实例</a:t>
            </a:r>
            <a:endParaRPr lang="en-US" altLang="zh-CN" sz="1500" b="0" i="0" dirty="0">
              <a:effectLst/>
              <a:latin typeface="Segoe WPC"/>
            </a:endParaRPr>
          </a:p>
          <a:p>
            <a:pPr marL="0" indent="0">
              <a:buNone/>
            </a:pPr>
            <a:r>
              <a:rPr lang="zh-CN" altLang="en-US" sz="1500" b="0" i="0" dirty="0">
                <a:effectLst/>
                <a:latin typeface="Segoe WPC"/>
              </a:rPr>
              <a:t>所有界面（</a:t>
            </a:r>
            <a:r>
              <a:rPr lang="en-US" altLang="zh-CN" sz="1500" b="0" i="0" dirty="0">
                <a:effectLst/>
                <a:latin typeface="Segoe WPC"/>
              </a:rPr>
              <a:t>Menu</a:t>
            </a:r>
            <a:r>
              <a:rPr lang="zh-CN" altLang="en-US" sz="1500" b="0" i="0" dirty="0">
                <a:effectLst/>
                <a:latin typeface="Segoe WPC"/>
              </a:rPr>
              <a:t>、</a:t>
            </a:r>
            <a:r>
              <a:rPr lang="en-US" altLang="zh-CN" sz="1500" b="0" i="0" dirty="0" err="1">
                <a:effectLst/>
                <a:latin typeface="Segoe WPC"/>
              </a:rPr>
              <a:t>GameBoard</a:t>
            </a:r>
            <a:r>
              <a:rPr lang="zh-CN" altLang="en-US" sz="1500" b="0" i="0" dirty="0">
                <a:effectLst/>
                <a:latin typeface="Segoe WPC"/>
              </a:rPr>
              <a:t>、</a:t>
            </a:r>
            <a:r>
              <a:rPr lang="en-US" altLang="zh-CN" sz="1500" b="0" i="0" dirty="0" err="1">
                <a:effectLst/>
                <a:latin typeface="Segoe WPC"/>
              </a:rPr>
              <a:t>SmartSquare</a:t>
            </a:r>
            <a:r>
              <a:rPr lang="zh-CN" altLang="en-US" sz="1500" b="0" i="0" dirty="0">
                <a:effectLst/>
                <a:latin typeface="Segoe WPC"/>
              </a:rPr>
              <a:t>）都通过 </a:t>
            </a:r>
            <a:r>
              <a:rPr lang="en-US" altLang="zh-CN" sz="1500" dirty="0" err="1">
                <a:latin typeface="Segoe WPC"/>
              </a:rPr>
              <a:t>MusicPlayer.getInstance</a:t>
            </a:r>
            <a:r>
              <a:rPr lang="en-US" altLang="zh-CN" sz="1500" dirty="0">
                <a:latin typeface="Segoe WPC"/>
              </a:rPr>
              <a:t>()</a:t>
            </a:r>
            <a:r>
              <a:rPr lang="zh-CN" altLang="en-US" sz="1500" b="0" i="0" dirty="0">
                <a:effectLst/>
                <a:latin typeface="Segoe WPC"/>
              </a:rPr>
              <a:t>访问同一个播放器</a:t>
            </a:r>
          </a:p>
          <a:p>
            <a:pPr marL="0" indent="0" algn="l">
              <a:buNone/>
            </a:pPr>
            <a:r>
              <a:rPr lang="zh-CN" altLang="en-US" sz="1500" b="0" i="0" dirty="0">
                <a:effectLst/>
                <a:latin typeface="Segoe WPC"/>
              </a:rPr>
              <a:t>避免多个播放器同时播放造成混乱</a:t>
            </a:r>
          </a:p>
          <a:p>
            <a:endParaRPr lang="zh-CN" altLang="en-US" dirty="0"/>
          </a:p>
        </p:txBody>
      </p:sp>
      <p:pic>
        <p:nvPicPr>
          <p:cNvPr id="4" name="图片 3">
            <a:extLst>
              <a:ext uri="{FF2B5EF4-FFF2-40B4-BE49-F238E27FC236}">
                <a16:creationId xmlns:a16="http://schemas.microsoft.com/office/drawing/2014/main" id="{49ABD8C1-A498-43CA-927F-31B2D941F895}"/>
              </a:ext>
            </a:extLst>
          </p:cNvPr>
          <p:cNvPicPr>
            <a:picLocks noChangeAspect="1"/>
          </p:cNvPicPr>
          <p:nvPr/>
        </p:nvPicPr>
        <p:blipFill>
          <a:blip r:embed="rId2"/>
          <a:stretch>
            <a:fillRect/>
          </a:stretch>
        </p:blipFill>
        <p:spPr>
          <a:xfrm>
            <a:off x="244475" y="2939144"/>
            <a:ext cx="5039428" cy="3248478"/>
          </a:xfrm>
          <a:prstGeom prst="rect">
            <a:avLst/>
          </a:prstGeom>
        </p:spPr>
      </p:pic>
      <p:sp>
        <p:nvSpPr>
          <p:cNvPr id="7" name="文本框 6">
            <a:extLst>
              <a:ext uri="{FF2B5EF4-FFF2-40B4-BE49-F238E27FC236}">
                <a16:creationId xmlns:a16="http://schemas.microsoft.com/office/drawing/2014/main" id="{E3EC151D-A1E7-2BF5-2003-73633E4B27B9}"/>
              </a:ext>
            </a:extLst>
          </p:cNvPr>
          <p:cNvSpPr txBox="1"/>
          <p:nvPr/>
        </p:nvSpPr>
        <p:spPr>
          <a:xfrm>
            <a:off x="5374432" y="128587"/>
            <a:ext cx="6817567" cy="1015663"/>
          </a:xfrm>
          <a:prstGeom prst="rect">
            <a:avLst/>
          </a:prstGeom>
          <a:noFill/>
        </p:spPr>
        <p:txBody>
          <a:bodyPr wrap="square" rtlCol="0">
            <a:spAutoFit/>
          </a:bodyPr>
          <a:lstStyle/>
          <a:p>
            <a:r>
              <a:rPr lang="en-US" altLang="zh-CN" sz="1500" dirty="0"/>
              <a:t>2. </a:t>
            </a:r>
            <a:r>
              <a:rPr lang="zh-CN" altLang="en-US" sz="1500" dirty="0"/>
              <a:t>观察者模式</a:t>
            </a:r>
            <a:endParaRPr lang="en-US" altLang="zh-CN" sz="1500" dirty="0"/>
          </a:p>
          <a:p>
            <a:r>
              <a:rPr lang="zh-CN" altLang="en-US" sz="1500" dirty="0"/>
              <a:t>音频播放器 </a:t>
            </a:r>
            <a:r>
              <a:rPr lang="en-US" altLang="zh-CN" sz="1500" dirty="0"/>
              <a:t>Clip </a:t>
            </a:r>
            <a:r>
              <a:rPr lang="zh-CN" altLang="en-US" sz="1500" dirty="0"/>
              <a:t>作为被观察者</a:t>
            </a:r>
          </a:p>
          <a:p>
            <a:r>
              <a:rPr lang="zh-CN" altLang="en-US" sz="1500" dirty="0"/>
              <a:t>通过 </a:t>
            </a:r>
            <a:r>
              <a:rPr lang="en-US" altLang="zh-CN" sz="1500" dirty="0" err="1"/>
              <a:t>LineListener</a:t>
            </a:r>
            <a:r>
              <a:rPr lang="en-US" altLang="zh-CN" sz="1500" dirty="0"/>
              <a:t> </a:t>
            </a:r>
            <a:r>
              <a:rPr lang="zh-CN" altLang="en-US" sz="1500" dirty="0"/>
              <a:t>监听播放状态变化</a:t>
            </a:r>
          </a:p>
          <a:p>
            <a:r>
              <a:rPr lang="zh-CN" altLang="en-US" sz="1500" dirty="0"/>
              <a:t>当音乐播放结束时自动触发 </a:t>
            </a:r>
            <a:r>
              <a:rPr lang="en-US" altLang="zh-CN" sz="1500" dirty="0" err="1"/>
              <a:t>playNext</a:t>
            </a:r>
            <a:r>
              <a:rPr lang="en-US" altLang="zh-CN" sz="1500" dirty="0"/>
              <a:t>() </a:t>
            </a:r>
            <a:r>
              <a:rPr lang="zh-CN" altLang="en-US" sz="15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3"/>
          <a:stretch>
            <a:fillRect/>
          </a:stretch>
        </p:blipFill>
        <p:spPr>
          <a:xfrm>
            <a:off x="6025826" y="1144250"/>
            <a:ext cx="5029902" cy="1267002"/>
          </a:xfrm>
          <a:prstGeom prst="rect">
            <a:avLst/>
          </a:prstGeom>
        </p:spPr>
      </p:pic>
      <p:sp>
        <p:nvSpPr>
          <p:cNvPr id="9" name="文本框 8">
            <a:extLst>
              <a:ext uri="{FF2B5EF4-FFF2-40B4-BE49-F238E27FC236}">
                <a16:creationId xmlns:a16="http://schemas.microsoft.com/office/drawing/2014/main" id="{96B76619-16FD-2DCE-3A7D-7CAB289A3B22}"/>
              </a:ext>
            </a:extLst>
          </p:cNvPr>
          <p:cNvSpPr txBox="1"/>
          <p:nvPr/>
        </p:nvSpPr>
        <p:spPr>
          <a:xfrm>
            <a:off x="5374432" y="2431312"/>
            <a:ext cx="6419462" cy="1015663"/>
          </a:xfrm>
          <a:prstGeom prst="rect">
            <a:avLst/>
          </a:prstGeom>
          <a:noFill/>
        </p:spPr>
        <p:txBody>
          <a:bodyPr wrap="square" rtlCol="0">
            <a:spAutoFit/>
          </a:bodyPr>
          <a:lstStyle/>
          <a:p>
            <a:r>
              <a:rPr lang="en-US" altLang="zh-CN" sz="1500" dirty="0"/>
              <a:t>3. </a:t>
            </a:r>
            <a:r>
              <a:rPr lang="zh-CN" altLang="en-US" sz="1500" dirty="0"/>
              <a:t>外观模式</a:t>
            </a:r>
            <a:endParaRPr lang="en-US" altLang="zh-CN" sz="1500" dirty="0"/>
          </a:p>
          <a:p>
            <a:r>
              <a:rPr lang="en-US" altLang="zh-CN" sz="1500" dirty="0" err="1"/>
              <a:t>MusicPlayer</a:t>
            </a:r>
            <a:r>
              <a:rPr lang="en-US" altLang="zh-CN" sz="1500" dirty="0"/>
              <a:t> </a:t>
            </a:r>
            <a:r>
              <a:rPr lang="zh-CN" altLang="en-US" sz="1500" dirty="0"/>
              <a:t>封装了底层 </a:t>
            </a:r>
            <a:r>
              <a:rPr lang="en-US" altLang="zh-CN" sz="1500" dirty="0" err="1"/>
              <a:t>javax.sound.sampled</a:t>
            </a:r>
            <a:r>
              <a:rPr lang="en-US" altLang="zh-CN" sz="1500" dirty="0"/>
              <a:t> API </a:t>
            </a:r>
            <a:r>
              <a:rPr lang="zh-CN" altLang="en-US" sz="1500" dirty="0"/>
              <a:t>的复杂操作</a:t>
            </a:r>
          </a:p>
          <a:p>
            <a:r>
              <a:rPr lang="zh-CN" altLang="en-US" sz="1500" dirty="0"/>
              <a:t>对外提供简单的接口（</a:t>
            </a:r>
            <a:r>
              <a:rPr lang="en-US" altLang="zh-CN" sz="1500" dirty="0"/>
              <a:t>play</a:t>
            </a:r>
            <a:r>
              <a:rPr lang="zh-CN" altLang="en-US" sz="1500" dirty="0"/>
              <a:t>、</a:t>
            </a:r>
            <a:r>
              <a:rPr lang="en-US" altLang="zh-CN" sz="1500" dirty="0"/>
              <a:t>pause</a:t>
            </a:r>
            <a:r>
              <a:rPr lang="zh-CN" altLang="en-US" sz="1500" dirty="0"/>
              <a:t>、</a:t>
            </a:r>
            <a:r>
              <a:rPr lang="en-US" altLang="zh-CN" sz="1500" dirty="0"/>
              <a:t>stop </a:t>
            </a:r>
            <a:r>
              <a:rPr lang="zh-CN" altLang="en-US" sz="1500" dirty="0"/>
              <a:t>等）</a:t>
            </a:r>
          </a:p>
          <a:p>
            <a:r>
              <a:rPr lang="zh-CN" altLang="en-US" sz="1500" dirty="0"/>
              <a:t>其他类无需了解音频播放的底层细节</a:t>
            </a:r>
          </a:p>
        </p:txBody>
      </p:sp>
      <p:pic>
        <p:nvPicPr>
          <p:cNvPr id="6" name="图片 5">
            <a:extLst>
              <a:ext uri="{FF2B5EF4-FFF2-40B4-BE49-F238E27FC236}">
                <a16:creationId xmlns:a16="http://schemas.microsoft.com/office/drawing/2014/main" id="{8F00D502-A0BB-5818-DBDA-C33E818F81AD}"/>
              </a:ext>
            </a:extLst>
          </p:cNvPr>
          <p:cNvPicPr>
            <a:picLocks noChangeAspect="1"/>
          </p:cNvPicPr>
          <p:nvPr/>
        </p:nvPicPr>
        <p:blipFill>
          <a:blip r:embed="rId4"/>
          <a:stretch>
            <a:fillRect/>
          </a:stretch>
        </p:blipFill>
        <p:spPr>
          <a:xfrm>
            <a:off x="5692254" y="3473220"/>
            <a:ext cx="5201451" cy="3256193"/>
          </a:xfrm>
          <a:prstGeom prst="rect">
            <a:avLst/>
          </a:prstGeom>
        </p:spPr>
      </p:pic>
    </p:spTree>
    <p:extLst>
      <p:ext uri="{BB962C8B-B14F-4D97-AF65-F5344CB8AC3E}">
        <p14:creationId xmlns:p14="http://schemas.microsoft.com/office/powerpoint/2010/main" val="6787533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2CB24C09-4481-607B-19E2-9963532FD0C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记录功能</a:t>
            </a:r>
          </a:p>
        </p:txBody>
      </p:sp>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2"/>
          <a:stretch>
            <a:fillRect/>
          </a:stretch>
        </p:blipFill>
        <p:spPr>
          <a:xfrm>
            <a:off x="5202878" y="1342017"/>
            <a:ext cx="4286848" cy="4658375"/>
          </a:xfrm>
          <a:prstGeom prst="rect">
            <a:avLst/>
          </a:prstGeom>
        </p:spPr>
      </p:pic>
      <p:sp>
        <p:nvSpPr>
          <p:cNvPr id="4" name="文本框 3">
            <a:extLst>
              <a:ext uri="{FF2B5EF4-FFF2-40B4-BE49-F238E27FC236}">
                <a16:creationId xmlns:a16="http://schemas.microsoft.com/office/drawing/2014/main" id="{BF1604F8-B818-9F7D-5D1F-FF9470D61500}"/>
              </a:ext>
            </a:extLst>
          </p:cNvPr>
          <p:cNvSpPr txBox="1"/>
          <p:nvPr/>
        </p:nvSpPr>
        <p:spPr>
          <a:xfrm>
            <a:off x="9741159" y="1342017"/>
            <a:ext cx="2262158" cy="923330"/>
          </a:xfrm>
          <a:prstGeom prst="rect">
            <a:avLst/>
          </a:prstGeom>
          <a:noFill/>
        </p:spPr>
        <p:txBody>
          <a:bodyPr wrap="none" rtlCol="0">
            <a:spAutoFit/>
          </a:bodyPr>
          <a:lstStyle/>
          <a:p>
            <a:r>
              <a:rPr lang="zh-CN" altLang="en-US" dirty="0"/>
              <a:t>记录每个模式前十的</a:t>
            </a:r>
            <a:endParaRPr lang="en-US" altLang="zh-CN" dirty="0"/>
          </a:p>
          <a:p>
            <a:r>
              <a:rPr lang="zh-CN" altLang="en-US" dirty="0"/>
              <a:t>成绩，成绩记录在</a:t>
            </a:r>
            <a:endParaRPr lang="en-US" altLang="zh-CN" dirty="0"/>
          </a:p>
          <a:p>
            <a:r>
              <a:rPr lang="en-US" altLang="zh-CN" dirty="0"/>
              <a:t>Records.dat</a:t>
            </a:r>
            <a:r>
              <a:rPr lang="zh-CN" altLang="en-US" dirty="0"/>
              <a:t>文件中</a:t>
            </a:r>
          </a:p>
        </p:txBody>
      </p:sp>
      <p:pic>
        <p:nvPicPr>
          <p:cNvPr id="5" name="图片 4">
            <a:extLst>
              <a:ext uri="{FF2B5EF4-FFF2-40B4-BE49-F238E27FC236}">
                <a16:creationId xmlns:a16="http://schemas.microsoft.com/office/drawing/2014/main" id="{549CBDEC-59C8-A416-18F8-6BB4CB2F3B78}"/>
              </a:ext>
            </a:extLst>
          </p:cNvPr>
          <p:cNvPicPr>
            <a:picLocks noChangeAspect="1"/>
          </p:cNvPicPr>
          <p:nvPr/>
        </p:nvPicPr>
        <p:blipFill>
          <a:blip r:embed="rId3"/>
          <a:stretch>
            <a:fillRect/>
          </a:stretch>
        </p:blipFill>
        <p:spPr>
          <a:xfrm>
            <a:off x="733156" y="1342017"/>
            <a:ext cx="4344006" cy="4696480"/>
          </a:xfrm>
          <a:prstGeom prst="rect">
            <a:avLst/>
          </a:prstGeom>
        </p:spPr>
      </p:pic>
    </p:spTree>
    <p:extLst>
      <p:ext uri="{BB962C8B-B14F-4D97-AF65-F5344CB8AC3E}">
        <p14:creationId xmlns:p14="http://schemas.microsoft.com/office/powerpoint/2010/main" val="46587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5E64C2-E3ED-0AF8-A0A8-94AD4F3B4CA8}"/>
              </a:ext>
            </a:extLst>
          </p:cNvPr>
          <p:cNvSpPr>
            <a:spLocks noGrp="1"/>
          </p:cNvSpPr>
          <p:nvPr>
            <p:ph type="title"/>
          </p:nvPr>
        </p:nvSpPr>
        <p:spPr/>
        <p:txBody>
          <a:bodyPr/>
          <a:lstStyle/>
          <a:p>
            <a:endParaRPr lang="zh-CN" altLang="en-US"/>
          </a:p>
        </p:txBody>
      </p:sp>
      <p:pic>
        <p:nvPicPr>
          <p:cNvPr id="4" name="内容占位符 3">
            <a:extLst>
              <a:ext uri="{FF2B5EF4-FFF2-40B4-BE49-F238E27FC236}">
                <a16:creationId xmlns:a16="http://schemas.microsoft.com/office/drawing/2014/main" id="{9EE65C16-E33B-B5F4-D31D-F5AD1454B36E}"/>
              </a:ext>
            </a:extLst>
          </p:cNvPr>
          <p:cNvPicPr>
            <a:picLocks noGrp="1" noChangeAspect="1"/>
          </p:cNvPicPr>
          <p:nvPr>
            <p:ph idx="1"/>
          </p:nvPr>
        </p:nvPicPr>
        <p:blipFill>
          <a:blip r:embed="rId2"/>
          <a:stretch>
            <a:fillRect/>
          </a:stretch>
        </p:blipFill>
        <p:spPr>
          <a:xfrm>
            <a:off x="4284662" y="1303337"/>
            <a:ext cx="3609975" cy="4657725"/>
          </a:xfrm>
          <a:prstGeom prst="rect">
            <a:avLst/>
          </a:prstGeom>
        </p:spPr>
      </p:pic>
    </p:spTree>
    <p:extLst>
      <p:ext uri="{BB962C8B-B14F-4D97-AF65-F5344CB8AC3E}">
        <p14:creationId xmlns:p14="http://schemas.microsoft.com/office/powerpoint/2010/main" val="31375879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506857" y="1027771"/>
            <a:ext cx="3099837" cy="437243"/>
          </a:xfrm>
        </p:spPr>
        <p:txBody>
          <a:bodyPr>
            <a:normAutofit/>
          </a:bodyPr>
          <a:lstStyle/>
          <a:p>
            <a:pPr marL="0" indent="0">
              <a:buNone/>
            </a:pPr>
            <a:r>
              <a:rPr lang="zh-CN" altLang="en-US" sz="1500" i="0" dirty="0">
                <a:effectLst/>
                <a:latin typeface="Segoe WPC"/>
              </a:rPr>
              <a:t>单例模式</a:t>
            </a:r>
            <a:endParaRPr lang="en-US" altLang="zh-CN" sz="15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stretch>
            <a:fillRect/>
          </a:stretch>
        </p:blipFill>
        <p:spPr>
          <a:xfrm>
            <a:off x="209379" y="1359700"/>
            <a:ext cx="5114309" cy="2384998"/>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660399" y="3760573"/>
            <a:ext cx="1146468" cy="323165"/>
          </a:xfrm>
          <a:prstGeom prst="rect">
            <a:avLst/>
          </a:prstGeom>
          <a:noFill/>
        </p:spPr>
        <p:txBody>
          <a:bodyPr wrap="none" rtlCol="0">
            <a:spAutoFit/>
          </a:bodyPr>
          <a:lstStyle/>
          <a:p>
            <a:r>
              <a:rPr lang="zh-CN" altLang="en-US" sz="15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stretch>
            <a:fillRect/>
          </a:stretch>
        </p:blipFill>
        <p:spPr>
          <a:xfrm>
            <a:off x="209380" y="4099613"/>
            <a:ext cx="4474588" cy="2762091"/>
          </a:xfrm>
          <a:prstGeom prst="rect">
            <a:avLst/>
          </a:prstGeom>
        </p:spPr>
      </p:pic>
      <p:sp>
        <p:nvSpPr>
          <p:cNvPr id="7" name="文本框 6">
            <a:extLst>
              <a:ext uri="{FF2B5EF4-FFF2-40B4-BE49-F238E27FC236}">
                <a16:creationId xmlns:a16="http://schemas.microsoft.com/office/drawing/2014/main" id="{D2B2EB40-E3E7-2F4E-17C3-42D5BCA1C6E5}"/>
              </a:ext>
            </a:extLst>
          </p:cNvPr>
          <p:cNvSpPr txBox="1"/>
          <p:nvPr/>
        </p:nvSpPr>
        <p:spPr>
          <a:xfrm>
            <a:off x="6876662" y="417060"/>
            <a:ext cx="1338828" cy="323165"/>
          </a:xfrm>
          <a:prstGeom prst="rect">
            <a:avLst/>
          </a:prstGeom>
          <a:noFill/>
        </p:spPr>
        <p:txBody>
          <a:bodyPr wrap="none" rtlCol="0">
            <a:spAutoFit/>
          </a:bodyPr>
          <a:lstStyle/>
          <a:p>
            <a:r>
              <a:rPr lang="zh-CN" altLang="en-US" sz="1500" dirty="0"/>
              <a:t>工厂方法模式</a:t>
            </a:r>
          </a:p>
        </p:txBody>
      </p:sp>
      <p:pic>
        <p:nvPicPr>
          <p:cNvPr id="8" name="图片 7">
            <a:extLst>
              <a:ext uri="{FF2B5EF4-FFF2-40B4-BE49-F238E27FC236}">
                <a16:creationId xmlns:a16="http://schemas.microsoft.com/office/drawing/2014/main" id="{5950CCF9-44B4-CE25-2942-8947A3043D0A}"/>
              </a:ext>
            </a:extLst>
          </p:cNvPr>
          <p:cNvPicPr>
            <a:picLocks noChangeAspect="1"/>
          </p:cNvPicPr>
          <p:nvPr/>
        </p:nvPicPr>
        <p:blipFill>
          <a:blip r:embed="rId4"/>
          <a:stretch>
            <a:fillRect/>
          </a:stretch>
        </p:blipFill>
        <p:spPr>
          <a:xfrm>
            <a:off x="6096000" y="1246392"/>
            <a:ext cx="5210175" cy="5162550"/>
          </a:xfrm>
          <a:prstGeom prst="rect">
            <a:avLst/>
          </a:prstGeom>
        </p:spPr>
      </p:pic>
      <p:sp>
        <p:nvSpPr>
          <p:cNvPr id="9" name="标题 1">
            <a:extLst>
              <a:ext uri="{FF2B5EF4-FFF2-40B4-BE49-F238E27FC236}">
                <a16:creationId xmlns:a16="http://schemas.microsoft.com/office/drawing/2014/main" id="{62B85EE1-F06B-B9E7-8629-6501F1D4705E}"/>
              </a:ext>
            </a:extLst>
          </p:cNvPr>
          <p:cNvSpPr txBox="1">
            <a:spLocks/>
          </p:cNvSpPr>
          <p:nvPr/>
        </p:nvSpPr>
        <p:spPr>
          <a:xfrm>
            <a:off x="447675" y="8247"/>
            <a:ext cx="10858500" cy="900112"/>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4400" dirty="0"/>
              <a:t>使用的设计模式</a:t>
            </a:r>
          </a:p>
        </p:txBody>
      </p:sp>
    </p:spTree>
    <p:extLst>
      <p:ext uri="{BB962C8B-B14F-4D97-AF65-F5344CB8AC3E}">
        <p14:creationId xmlns:p14="http://schemas.microsoft.com/office/powerpoint/2010/main" val="35146394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324497" y="234561"/>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stretch>
            <a:fillRect/>
          </a:stretch>
        </p:blipFill>
        <p:spPr>
          <a:xfrm>
            <a:off x="4973629" y="406313"/>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Tree>
    <p:extLst>
      <p:ext uri="{BB962C8B-B14F-4D97-AF65-F5344CB8AC3E}">
        <p14:creationId xmlns:p14="http://schemas.microsoft.com/office/powerpoint/2010/main" val="22599185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660400" y="1130300"/>
            <a:ext cx="4350139" cy="2573953"/>
          </a:xfrm>
        </p:spPr>
        <p:txBody>
          <a:bodyPr>
            <a:normAutofit/>
          </a:bodyPr>
          <a:lstStyle/>
          <a:p>
            <a:pPr marL="0" indent="0">
              <a:buNone/>
            </a:pPr>
            <a:r>
              <a:rPr lang="zh-CN" altLang="en-US" sz="1500" dirty="0"/>
              <a:t>多主题皮肤系统</a:t>
            </a:r>
          </a:p>
          <a:p>
            <a:pPr marL="0" indent="0">
              <a:buNone/>
            </a:pPr>
            <a:r>
              <a:rPr lang="en-US" altLang="zh-CN" sz="1500" dirty="0" err="1"/>
              <a:t>ThemeManager</a:t>
            </a:r>
            <a:r>
              <a:rPr lang="en-US" altLang="zh-CN" sz="1500" dirty="0"/>
              <a:t> - </a:t>
            </a:r>
            <a:r>
              <a:rPr lang="zh-CN" altLang="en-US" sz="1500" dirty="0"/>
              <a:t>主题管理器</a:t>
            </a:r>
          </a:p>
          <a:p>
            <a:pPr marL="0" indent="0">
              <a:buNone/>
            </a:pPr>
            <a:r>
              <a:rPr lang="en-US" altLang="zh-CN" sz="1500" dirty="0" err="1"/>
              <a:t>ThemeGenerator</a:t>
            </a:r>
            <a:r>
              <a:rPr lang="en-US" altLang="zh-CN" sz="1500" dirty="0"/>
              <a:t> - </a:t>
            </a:r>
            <a:r>
              <a:rPr lang="zh-CN" altLang="en-US" sz="1500" dirty="0"/>
              <a:t>主题图片生成器</a:t>
            </a:r>
          </a:p>
          <a:p>
            <a:pPr marL="0" indent="0">
              <a:buNone/>
            </a:pPr>
            <a:r>
              <a:rPr lang="zh-CN" altLang="en-US" sz="1500" dirty="0"/>
              <a:t>支持 </a:t>
            </a:r>
            <a:r>
              <a:rPr lang="en-US" altLang="zh-CN" sz="1500" dirty="0"/>
              <a:t>5 </a:t>
            </a:r>
            <a:r>
              <a:rPr lang="zh-CN" altLang="en-US" sz="1500" dirty="0"/>
              <a:t>种主题：经典、暗黑、海洋、森林、像素</a:t>
            </a:r>
          </a:p>
          <a:p>
            <a:pPr marL="0" indent="0">
              <a:buNone/>
            </a:pPr>
            <a:r>
              <a:rPr lang="zh-CN" altLang="en-US" sz="1500" dirty="0"/>
              <a:t>自动扫描 </a:t>
            </a:r>
            <a:r>
              <a:rPr lang="en-US" altLang="zh-CN" sz="1500" dirty="0"/>
              <a:t>themes </a:t>
            </a:r>
            <a:r>
              <a:rPr lang="zh-CN" altLang="en-US" sz="1500" dirty="0"/>
              <a:t>文件夹</a:t>
            </a:r>
          </a:p>
          <a:p>
            <a:pPr marL="0" indent="0">
              <a:buNone/>
            </a:pPr>
            <a:r>
              <a:rPr lang="zh-CN" altLang="en-US" sz="1500" dirty="0"/>
              <a:t>主题图片回退机制（缺失图片使用默认主题）</a:t>
            </a:r>
          </a:p>
        </p:txBody>
      </p:sp>
      <p:sp>
        <p:nvSpPr>
          <p:cNvPr id="4" name="标题 1">
            <a:extLst>
              <a:ext uri="{FF2B5EF4-FFF2-40B4-BE49-F238E27FC236}">
                <a16:creationId xmlns:a16="http://schemas.microsoft.com/office/drawing/2014/main" id="{C73AB114-BD77-3A9A-2401-41FE4B4C235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主题选择功能</a:t>
            </a:r>
          </a:p>
        </p:txBody>
      </p:sp>
      <p:pic>
        <p:nvPicPr>
          <p:cNvPr id="5" name="图片 4">
            <a:extLst>
              <a:ext uri="{FF2B5EF4-FFF2-40B4-BE49-F238E27FC236}">
                <a16:creationId xmlns:a16="http://schemas.microsoft.com/office/drawing/2014/main" id="{A9AD9131-E68F-5D86-D6C2-C877265F3570}"/>
              </a:ext>
            </a:extLst>
          </p:cNvPr>
          <p:cNvPicPr>
            <a:picLocks noChangeAspect="1"/>
          </p:cNvPicPr>
          <p:nvPr/>
        </p:nvPicPr>
        <p:blipFill>
          <a:blip r:embed="rId2"/>
          <a:stretch>
            <a:fillRect/>
          </a:stretch>
        </p:blipFill>
        <p:spPr>
          <a:xfrm>
            <a:off x="1038355" y="3704253"/>
            <a:ext cx="2314898" cy="1124107"/>
          </a:xfrm>
          <a:prstGeom prst="rect">
            <a:avLst/>
          </a:prstGeom>
        </p:spPr>
      </p:pic>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3"/>
          <a:stretch>
            <a:fillRect/>
          </a:stretch>
        </p:blipFill>
        <p:spPr>
          <a:xfrm>
            <a:off x="9575529" y="410332"/>
            <a:ext cx="1943371" cy="2333951"/>
          </a:xfrm>
          <a:prstGeom prst="rect">
            <a:avLst/>
          </a:prstGeom>
        </p:spPr>
      </p:pic>
      <p:pic>
        <p:nvPicPr>
          <p:cNvPr id="2" name="图片 1">
            <a:extLst>
              <a:ext uri="{FF2B5EF4-FFF2-40B4-BE49-F238E27FC236}">
                <a16:creationId xmlns:a16="http://schemas.microsoft.com/office/drawing/2014/main" id="{9B6F2E1E-BCF2-B840-74A8-012AC13C6822}"/>
              </a:ext>
            </a:extLst>
          </p:cNvPr>
          <p:cNvPicPr>
            <a:picLocks noChangeAspect="1"/>
          </p:cNvPicPr>
          <p:nvPr/>
        </p:nvPicPr>
        <p:blipFill>
          <a:blip r:embed="rId4"/>
          <a:stretch>
            <a:fillRect/>
          </a:stretch>
        </p:blipFill>
        <p:spPr>
          <a:xfrm>
            <a:off x="4863449" y="428542"/>
            <a:ext cx="1905266" cy="2324424"/>
          </a:xfrm>
          <a:prstGeom prst="rect">
            <a:avLst/>
          </a:prstGeom>
        </p:spPr>
      </p:pic>
      <p:sp>
        <p:nvSpPr>
          <p:cNvPr id="7" name="文本框 6">
            <a:extLst>
              <a:ext uri="{FF2B5EF4-FFF2-40B4-BE49-F238E27FC236}">
                <a16:creationId xmlns:a16="http://schemas.microsoft.com/office/drawing/2014/main" id="{A6D4A2F3-28F8-234E-970E-D02F24439484}"/>
              </a:ext>
            </a:extLst>
          </p:cNvPr>
          <p:cNvSpPr txBox="1"/>
          <p:nvPr/>
        </p:nvSpPr>
        <p:spPr>
          <a:xfrm>
            <a:off x="5159829" y="2905444"/>
            <a:ext cx="569387" cy="323165"/>
          </a:xfrm>
          <a:prstGeom prst="rect">
            <a:avLst/>
          </a:prstGeom>
          <a:noFill/>
        </p:spPr>
        <p:txBody>
          <a:bodyPr wrap="none" rtlCol="0">
            <a:spAutoFit/>
          </a:bodyPr>
          <a:lstStyle/>
          <a:p>
            <a:r>
              <a:rPr lang="zh-CN" altLang="en-US" sz="1500" dirty="0"/>
              <a:t>经典</a:t>
            </a:r>
          </a:p>
        </p:txBody>
      </p:sp>
      <p:sp>
        <p:nvSpPr>
          <p:cNvPr id="8" name="文本框 7">
            <a:extLst>
              <a:ext uri="{FF2B5EF4-FFF2-40B4-BE49-F238E27FC236}">
                <a16:creationId xmlns:a16="http://schemas.microsoft.com/office/drawing/2014/main" id="{F85380DC-7F84-8747-3F4A-1A524B7F9534}"/>
              </a:ext>
            </a:extLst>
          </p:cNvPr>
          <p:cNvSpPr txBox="1"/>
          <p:nvPr/>
        </p:nvSpPr>
        <p:spPr>
          <a:xfrm>
            <a:off x="10453395" y="2864444"/>
            <a:ext cx="569387" cy="323165"/>
          </a:xfrm>
          <a:prstGeom prst="rect">
            <a:avLst/>
          </a:prstGeom>
          <a:noFill/>
        </p:spPr>
        <p:txBody>
          <a:bodyPr wrap="none" rtlCol="0">
            <a:spAutoFit/>
          </a:bodyPr>
          <a:lstStyle/>
          <a:p>
            <a:r>
              <a:rPr lang="zh-CN" altLang="en-US" sz="1500" dirty="0"/>
              <a:t>森林</a:t>
            </a:r>
          </a:p>
        </p:txBody>
      </p:sp>
    </p:spTree>
    <p:extLst>
      <p:ext uri="{BB962C8B-B14F-4D97-AF65-F5344CB8AC3E}">
        <p14:creationId xmlns:p14="http://schemas.microsoft.com/office/powerpoint/2010/main" val="41384358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431D7A-42F2-F803-39A0-1B5924E3F67B}"/>
              </a:ext>
            </a:extLst>
          </p:cNvPr>
          <p:cNvSpPr>
            <a:spLocks noGrp="1"/>
          </p:cNvSpPr>
          <p:nvPr>
            <p:ph type="title"/>
          </p:nvPr>
        </p:nvSpPr>
        <p:spPr/>
        <p:txBody>
          <a:bodyPr/>
          <a:lstStyle/>
          <a:p>
            <a:endParaRPr lang="zh-CN" altLang="en-US"/>
          </a:p>
        </p:txBody>
      </p:sp>
      <p:pic>
        <p:nvPicPr>
          <p:cNvPr id="4" name="内容占位符 3">
            <a:extLst>
              <a:ext uri="{FF2B5EF4-FFF2-40B4-BE49-F238E27FC236}">
                <a16:creationId xmlns:a16="http://schemas.microsoft.com/office/drawing/2014/main" id="{B6840114-64BD-1316-3315-A655FA36B9E0}"/>
              </a:ext>
            </a:extLst>
          </p:cNvPr>
          <p:cNvPicPr>
            <a:picLocks noGrp="1" noChangeAspect="1"/>
          </p:cNvPicPr>
          <p:nvPr>
            <p:ph idx="1"/>
          </p:nvPr>
        </p:nvPicPr>
        <p:blipFill>
          <a:blip r:embed="rId2"/>
          <a:stretch>
            <a:fillRect/>
          </a:stretch>
        </p:blipFill>
        <p:spPr>
          <a:xfrm>
            <a:off x="3131627" y="1130300"/>
            <a:ext cx="5916045" cy="5003800"/>
          </a:xfrm>
          <a:prstGeom prst="rect">
            <a:avLst/>
          </a:prstGeom>
        </p:spPr>
      </p:pic>
    </p:spTree>
    <p:extLst>
      <p:ext uri="{BB962C8B-B14F-4D97-AF65-F5344CB8AC3E}">
        <p14:creationId xmlns:p14="http://schemas.microsoft.com/office/powerpoint/2010/main" val="5424160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13C965-94DF-4D77-3D34-8568754CBD0A}"/>
              </a:ext>
            </a:extLst>
          </p:cNvPr>
          <p:cNvSpPr>
            <a:spLocks noGrp="1"/>
          </p:cNvSpPr>
          <p:nvPr>
            <p:ph type="title"/>
          </p:nvPr>
        </p:nvSpPr>
        <p:spPr>
          <a:xfrm>
            <a:off x="246472" y="-400810"/>
            <a:ext cx="10858500" cy="900112"/>
          </a:xfrm>
        </p:spPr>
        <p:txBody>
          <a:bodyPr/>
          <a:lstStyle/>
          <a:p>
            <a:r>
              <a:rPr lang="zh-CN" altLang="en-US" dirty="0"/>
              <a:t>使用的设计模式</a:t>
            </a:r>
          </a:p>
        </p:txBody>
      </p:sp>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264767" y="571499"/>
            <a:ext cx="4088882" cy="325276"/>
          </a:xfrm>
        </p:spPr>
        <p:txBody>
          <a:bodyPr>
            <a:noAutofit/>
          </a:bodyPr>
          <a:lstStyle/>
          <a:p>
            <a:pPr marL="0" indent="0">
              <a:buNone/>
            </a:pPr>
            <a:r>
              <a:rPr lang="en-US" altLang="zh-CN" sz="1500" i="0" dirty="0">
                <a:effectLst/>
                <a:latin typeface="Segoe WPC"/>
              </a:rPr>
              <a:t>1. </a:t>
            </a:r>
            <a:r>
              <a:rPr lang="zh-CN" altLang="en-US" sz="1500" i="0" dirty="0">
                <a:effectLst/>
                <a:latin typeface="Segoe WPC"/>
              </a:rPr>
              <a:t>单例模式</a:t>
            </a:r>
            <a:r>
              <a:rPr lang="zh-CN" altLang="en-US" sz="1500" dirty="0">
                <a:latin typeface="Segoe WPC"/>
              </a:rPr>
              <a:t>：</a:t>
            </a:r>
            <a:r>
              <a:rPr lang="zh-CN" altLang="en-US" sz="1500" i="0" dirty="0">
                <a:effectLst/>
                <a:latin typeface="Segoe WPC"/>
              </a:rPr>
              <a:t>在以下 </a:t>
            </a:r>
            <a:r>
              <a:rPr lang="en-US" altLang="zh-CN" sz="1500" i="0" dirty="0">
                <a:effectLst/>
                <a:latin typeface="Segoe WPC"/>
              </a:rPr>
              <a:t>3 </a:t>
            </a:r>
            <a:r>
              <a:rPr lang="zh-CN" altLang="en-US" sz="1500" i="0" dirty="0">
                <a:effectLst/>
                <a:latin typeface="Segoe WPC"/>
              </a:rPr>
              <a:t>个类中使用：</a:t>
            </a:r>
          </a:p>
          <a:p>
            <a:pPr marL="342900" indent="-342900">
              <a:buAutoNum type="arabicPeriod"/>
            </a:pPr>
            <a:r>
              <a:rPr lang="en-US" altLang="zh-CN" sz="1500" i="0" dirty="0">
                <a:effectLst/>
                <a:latin typeface="Segoe WPC"/>
              </a:rPr>
              <a:t>ThemeManager.java</a:t>
            </a:r>
          </a:p>
          <a:p>
            <a:pPr marL="342900" indent="-342900">
              <a:buAutoNum type="arabicPeriod"/>
            </a:pPr>
            <a:r>
              <a:rPr lang="en-US" altLang="zh-CN" sz="1500" i="0" dirty="0">
                <a:effectLst/>
                <a:latin typeface="Segoe WPC"/>
              </a:rPr>
              <a:t>ImageFlyweightFactory.java</a:t>
            </a:r>
          </a:p>
          <a:p>
            <a:pPr marL="342900" indent="-342900">
              <a:buAutoNum type="arabicPeriod"/>
            </a:pPr>
            <a:r>
              <a:rPr lang="en-US" altLang="zh-CN" sz="1500" i="0" dirty="0">
                <a:effectLst/>
                <a:latin typeface="Segoe WPC"/>
              </a:rPr>
              <a:t>ThemeFactoryProvider.java</a:t>
            </a:r>
          </a:p>
          <a:p>
            <a:pPr marL="342900" indent="-342900">
              <a:buAutoNum type="arabicPeriod"/>
            </a:pPr>
            <a:endParaRPr lang="en-US" altLang="zh-CN" sz="1500" i="0" dirty="0">
              <a:effectLst/>
              <a:latin typeface="Segoe WPC"/>
            </a:endParaRPr>
          </a:p>
        </p:txBody>
      </p:sp>
      <p:sp>
        <p:nvSpPr>
          <p:cNvPr id="4" name="文本框 3">
            <a:extLst>
              <a:ext uri="{FF2B5EF4-FFF2-40B4-BE49-F238E27FC236}">
                <a16:creationId xmlns:a16="http://schemas.microsoft.com/office/drawing/2014/main" id="{849182C5-B5B0-6EE3-1213-4DFA99939F94}"/>
              </a:ext>
            </a:extLst>
          </p:cNvPr>
          <p:cNvSpPr txBox="1"/>
          <p:nvPr/>
        </p:nvSpPr>
        <p:spPr>
          <a:xfrm>
            <a:off x="5906279" y="571499"/>
            <a:ext cx="6130212" cy="323165"/>
          </a:xfrm>
          <a:prstGeom prst="rect">
            <a:avLst/>
          </a:prstGeom>
          <a:noFill/>
        </p:spPr>
        <p:txBody>
          <a:bodyPr wrap="square" rtlCol="0">
            <a:spAutoFit/>
          </a:bodyPr>
          <a:lstStyle/>
          <a:p>
            <a:r>
              <a:rPr lang="en-US" altLang="zh-CN" sz="1500" dirty="0"/>
              <a:t>2. </a:t>
            </a:r>
            <a:r>
              <a:rPr lang="zh-CN" altLang="en-US" sz="1500" dirty="0"/>
              <a:t>模板方法模式：模板方法模式在 </a:t>
            </a:r>
            <a:r>
              <a:rPr lang="en-US" altLang="zh-CN" sz="1500" dirty="0"/>
              <a:t>AbstractThemeFactory.java </a:t>
            </a:r>
            <a:r>
              <a:rPr lang="zh-CN" altLang="en-US" sz="1500" dirty="0"/>
              <a:t>中体现</a:t>
            </a: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stretch>
            <a:fillRect/>
          </a:stretch>
        </p:blipFill>
        <p:spPr>
          <a:xfrm>
            <a:off x="0" y="2361573"/>
            <a:ext cx="5410955" cy="4496427"/>
          </a:xfrm>
          <a:prstGeom prst="rect">
            <a:avLst/>
          </a:prstGeom>
        </p:spPr>
      </p:pic>
      <p:sp>
        <p:nvSpPr>
          <p:cNvPr id="6" name="文本框 5">
            <a:extLst>
              <a:ext uri="{FF2B5EF4-FFF2-40B4-BE49-F238E27FC236}">
                <a16:creationId xmlns:a16="http://schemas.microsoft.com/office/drawing/2014/main" id="{A23D64C7-5659-5791-CA07-56E64A809433}"/>
              </a:ext>
            </a:extLst>
          </p:cNvPr>
          <p:cNvSpPr txBox="1"/>
          <p:nvPr/>
        </p:nvSpPr>
        <p:spPr>
          <a:xfrm>
            <a:off x="6027576" y="1184988"/>
            <a:ext cx="5523722" cy="323165"/>
          </a:xfrm>
          <a:prstGeom prst="rect">
            <a:avLst/>
          </a:prstGeom>
          <a:noFill/>
        </p:spPr>
        <p:txBody>
          <a:bodyPr wrap="square" rtlCol="0">
            <a:spAutoFit/>
          </a:bodyPr>
          <a:lstStyle/>
          <a:p>
            <a:r>
              <a:rPr lang="en-US" altLang="zh-CN" sz="1500" dirty="0"/>
              <a:t>3. </a:t>
            </a:r>
            <a:r>
              <a:rPr lang="zh-CN" altLang="en-US" sz="1500" dirty="0"/>
              <a:t>抽象工厂模式：创建一系列相关的主题元素</a:t>
            </a:r>
          </a:p>
        </p:txBody>
      </p:sp>
      <p:pic>
        <p:nvPicPr>
          <p:cNvPr id="9" name="图片 8">
            <a:extLst>
              <a:ext uri="{FF2B5EF4-FFF2-40B4-BE49-F238E27FC236}">
                <a16:creationId xmlns:a16="http://schemas.microsoft.com/office/drawing/2014/main" id="{FFB7E373-AF6B-6BC5-B3FF-0E28B6A2D947}"/>
              </a:ext>
            </a:extLst>
          </p:cNvPr>
          <p:cNvPicPr>
            <a:picLocks noChangeAspect="1"/>
          </p:cNvPicPr>
          <p:nvPr/>
        </p:nvPicPr>
        <p:blipFill>
          <a:blip r:embed="rId3"/>
          <a:stretch>
            <a:fillRect/>
          </a:stretch>
        </p:blipFill>
        <p:spPr>
          <a:xfrm>
            <a:off x="5431055" y="1798477"/>
            <a:ext cx="6716764" cy="4885646"/>
          </a:xfrm>
          <a:prstGeom prst="rect">
            <a:avLst/>
          </a:prstGeom>
        </p:spPr>
      </p:pic>
    </p:spTree>
    <p:extLst>
      <p:ext uri="{BB962C8B-B14F-4D97-AF65-F5344CB8AC3E}">
        <p14:creationId xmlns:p14="http://schemas.microsoft.com/office/powerpoint/2010/main" val="37769107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212530" y="243891"/>
            <a:ext cx="3892939" cy="381259"/>
          </a:xfrm>
        </p:spPr>
        <p:txBody>
          <a:bodyPr>
            <a:noAutofit/>
          </a:bodyPr>
          <a:lstStyle/>
          <a:p>
            <a:pPr marL="0" indent="0">
              <a:buNone/>
            </a:pPr>
            <a:r>
              <a:rPr lang="en-US" altLang="zh-CN" sz="1500" dirty="0"/>
              <a:t>4. </a:t>
            </a:r>
            <a:r>
              <a:rPr lang="zh-CN" altLang="en-US" sz="1500" dirty="0"/>
              <a:t>享元模式：共享图片资源，减少内存占用</a:t>
            </a:r>
          </a:p>
        </p:txBody>
      </p:sp>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stretch>
            <a:fillRect/>
          </a:stretch>
        </p:blipFill>
        <p:spPr>
          <a:xfrm>
            <a:off x="91232" y="909637"/>
            <a:ext cx="5619750" cy="5038725"/>
          </a:xfrm>
          <a:prstGeom prst="rect">
            <a:avLst/>
          </a:prstGeom>
        </p:spPr>
      </p:pic>
    </p:spTree>
    <p:extLst>
      <p:ext uri="{BB962C8B-B14F-4D97-AF65-F5344CB8AC3E}">
        <p14:creationId xmlns:p14="http://schemas.microsoft.com/office/powerpoint/2010/main" val="95768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88252" y="374520"/>
            <a:ext cx="6365423" cy="6184900"/>
          </a:xfrm>
        </p:spPr>
        <p:txBody>
          <a:bodyPr>
            <a:normAutofit lnSpcReduction="10000"/>
          </a:bodyPr>
          <a:lstStyle/>
          <a:p>
            <a:pPr marL="0" indent="0">
              <a:buNone/>
            </a:pPr>
            <a:r>
              <a:rPr lang="en-US" altLang="zh-CN" sz="1500" dirty="0"/>
              <a:t>5. </a:t>
            </a:r>
            <a:r>
              <a:rPr lang="zh-CN" altLang="en-US" sz="1500" dirty="0"/>
              <a:t>建造者模式</a:t>
            </a:r>
            <a:endParaRPr lang="en-US" altLang="zh-CN" sz="1500" dirty="0"/>
          </a:p>
          <a:p>
            <a:pPr marL="0" indent="0">
              <a:buNone/>
            </a:pPr>
            <a:r>
              <a:rPr lang="zh-CN" altLang="en-US" sz="1500" dirty="0"/>
              <a:t>一、什么是建造者模式</a:t>
            </a:r>
            <a:endParaRPr lang="en-US" altLang="zh-CN" sz="1500" dirty="0"/>
          </a:p>
          <a:p>
            <a:pPr marL="0" indent="0">
              <a:buNone/>
            </a:pPr>
            <a:r>
              <a:rPr lang="zh-CN" altLang="en-US" sz="1500" dirty="0"/>
              <a:t>建造者模式是一种创建型设计模式，也叫生成器模式。</a:t>
            </a:r>
            <a:endParaRPr lang="en-US" altLang="zh-CN" sz="1500" dirty="0"/>
          </a:p>
          <a:p>
            <a:pPr marL="0" indent="0">
              <a:buNone/>
            </a:pPr>
            <a:r>
              <a:rPr lang="zh-CN" altLang="en-US" sz="1500" dirty="0"/>
              <a:t>定义：封装一个复杂对象构造过程，并允许按步骤构造。解释：就是将复杂对象的创建过程拆分成多个简单对象的创建过程，并将这些简单对象组合起来构建出复杂对象。</a:t>
            </a:r>
            <a:endParaRPr lang="en-US" altLang="zh-CN" sz="1500" dirty="0"/>
          </a:p>
          <a:p>
            <a:pPr marL="0" indent="0">
              <a:buNone/>
            </a:pPr>
            <a:r>
              <a:rPr lang="zh-CN" altLang="en-US" sz="1500" dirty="0"/>
              <a:t>二、角色组成产品类（</a:t>
            </a:r>
            <a:r>
              <a:rPr lang="en-US" altLang="zh-CN" sz="1500" dirty="0"/>
              <a:t>Product</a:t>
            </a:r>
            <a:r>
              <a:rPr lang="zh-CN" altLang="en-US" sz="1500" dirty="0"/>
              <a:t>）：表示被创建的复杂对象。它通常包含多个部分或者组成，并由具体的建造者逐步构建而成。抽象建造者类（</a:t>
            </a:r>
            <a:r>
              <a:rPr lang="en-US" altLang="zh-CN" sz="1500" dirty="0"/>
              <a:t>Builder</a:t>
            </a:r>
            <a:r>
              <a:rPr lang="zh-CN" altLang="en-US" sz="1500" dirty="0"/>
              <a:t>）：定义了建造复杂对象所需要的各个部分的创建方法。它通常包括多个构建方法和一个返回产品的方法。具体建造者类（</a:t>
            </a:r>
            <a:r>
              <a:rPr lang="en-US" altLang="zh-CN" sz="1500" dirty="0" err="1"/>
              <a:t>ConcreteBuilder</a:t>
            </a:r>
            <a:r>
              <a:rPr lang="zh-CN" altLang="en-US" sz="1500" dirty="0"/>
              <a:t>）：实现</a:t>
            </a:r>
            <a:r>
              <a:rPr lang="en-US" altLang="zh-CN" sz="1500" dirty="0"/>
              <a:t>Builder</a:t>
            </a:r>
            <a:r>
              <a:rPr lang="zh-CN" altLang="en-US" sz="1500" dirty="0"/>
              <a:t>接口，并提供各个部分或者组成的构建方法。指挥者类（</a:t>
            </a:r>
            <a:r>
              <a:rPr lang="en-US" altLang="zh-CN" sz="1500" dirty="0"/>
              <a:t>Director</a:t>
            </a:r>
            <a:r>
              <a:rPr lang="zh-CN" altLang="en-US" sz="1500" dirty="0"/>
              <a:t>）：负责控制建造者的构建顺序，指挥建造者如何构建复杂对象。</a:t>
            </a:r>
            <a:endParaRPr lang="en-US" altLang="zh-CN" sz="1500" dirty="0"/>
          </a:p>
          <a:p>
            <a:pPr marL="0" indent="0">
              <a:buNone/>
            </a:pPr>
            <a:r>
              <a:rPr lang="zh-CN" altLang="en-US" sz="1500" dirty="0"/>
              <a:t>三、优缺点优点：</a:t>
            </a:r>
            <a:endParaRPr lang="en-US" altLang="zh-CN" sz="1500" dirty="0"/>
          </a:p>
          <a:p>
            <a:pPr marL="0" indent="0">
              <a:buNone/>
            </a:pPr>
            <a:r>
              <a:rPr lang="zh-CN" altLang="en-US" sz="15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500" dirty="0"/>
          </a:p>
          <a:p>
            <a:pPr marL="0" indent="0">
              <a:buNone/>
            </a:pPr>
            <a:r>
              <a:rPr lang="zh-CN" altLang="en-US" sz="15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6453675" y="0"/>
            <a:ext cx="4812994" cy="6858000"/>
          </a:xfrm>
          <a:prstGeom prst="rect">
            <a:avLst/>
          </a:prstGeom>
        </p:spPr>
      </p:pic>
    </p:spTree>
    <p:extLst>
      <p:ext uri="{BB962C8B-B14F-4D97-AF65-F5344CB8AC3E}">
        <p14:creationId xmlns:p14="http://schemas.microsoft.com/office/powerpoint/2010/main" val="29504351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26</a:t>
            </a:fld>
            <a:endParaRPr lang="en-US"/>
          </a:p>
        </p:txBody>
      </p:sp>
    </p:spTree>
    <p:extLst>
      <p:ext uri="{BB962C8B-B14F-4D97-AF65-F5344CB8AC3E}">
        <p14:creationId xmlns:p14="http://schemas.microsoft.com/office/powerpoint/2010/main" val="3918006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a:xfrm>
            <a:off x="526480" y="-66644"/>
            <a:ext cx="10515600" cy="1325563"/>
          </a:xfrm>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1197751" y="5790990"/>
            <a:ext cx="1112805" cy="369332"/>
          </a:xfrm>
          <a:prstGeom prst="rect">
            <a:avLst/>
          </a:prstGeom>
          <a:noFill/>
        </p:spPr>
        <p:txBody>
          <a:bodyPr wrap="none" rtlCol="0">
            <a:spAutoFit/>
          </a:bodyPr>
          <a:lstStyle/>
          <a:p>
            <a:r>
              <a:rPr lang="zh-CN" altLang="en-US" dirty="0"/>
              <a:t>开始界面</a:t>
            </a:r>
          </a:p>
        </p:txBody>
      </p:sp>
      <p:sp>
        <p:nvSpPr>
          <p:cNvPr id="10" name="文本框 9">
            <a:extLst>
              <a:ext uri="{FF2B5EF4-FFF2-40B4-BE49-F238E27FC236}">
                <a16:creationId xmlns:a16="http://schemas.microsoft.com/office/drawing/2014/main" id="{EDE38928-859C-8F34-C325-2F40BF511378}"/>
              </a:ext>
            </a:extLst>
          </p:cNvPr>
          <p:cNvSpPr txBox="1"/>
          <p:nvPr/>
        </p:nvSpPr>
        <p:spPr>
          <a:xfrm>
            <a:off x="8061639" y="5578824"/>
            <a:ext cx="1107996" cy="369332"/>
          </a:xfrm>
          <a:prstGeom prst="rect">
            <a:avLst/>
          </a:prstGeom>
          <a:noFill/>
        </p:spPr>
        <p:txBody>
          <a:bodyPr wrap="none" rtlCol="0">
            <a:spAutoFit/>
          </a:bodyPr>
          <a:lstStyle/>
          <a:p>
            <a:r>
              <a:rPr lang="zh-CN" altLang="en-US" dirty="0"/>
              <a:t>游戏界面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3"/>
          <a:stretch>
            <a:fillRect/>
          </a:stretch>
        </p:blipFill>
        <p:spPr>
          <a:xfrm>
            <a:off x="526480" y="1067010"/>
            <a:ext cx="4267796" cy="4696480"/>
          </a:xfrm>
          <a:prstGeom prst="rect">
            <a:avLst/>
          </a:prstGeom>
        </p:spPr>
      </p:pic>
      <p:pic>
        <p:nvPicPr>
          <p:cNvPr id="6" name="图片 5">
            <a:extLst>
              <a:ext uri="{FF2B5EF4-FFF2-40B4-BE49-F238E27FC236}">
                <a16:creationId xmlns:a16="http://schemas.microsoft.com/office/drawing/2014/main" id="{5B295D30-7249-5591-A6DA-D52F861C6BA4}"/>
              </a:ext>
            </a:extLst>
          </p:cNvPr>
          <p:cNvPicPr>
            <a:picLocks noChangeAspect="1"/>
          </p:cNvPicPr>
          <p:nvPr/>
        </p:nvPicPr>
        <p:blipFill>
          <a:blip r:embed="rId4"/>
          <a:stretch>
            <a:fillRect/>
          </a:stretch>
        </p:blipFill>
        <p:spPr>
          <a:xfrm>
            <a:off x="5439930" y="386974"/>
            <a:ext cx="5734850" cy="5191850"/>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stretch>
            <a:fillRect/>
          </a:stretch>
        </p:blipFill>
        <p:spPr>
          <a:xfrm>
            <a:off x="2848912" y="1593081"/>
            <a:ext cx="2818280" cy="2844057"/>
          </a:xfrm>
          <a:prstGeom prst="rect">
            <a:avLst/>
          </a:prstGeom>
        </p:spPr>
      </p:pic>
      <p:pic>
        <p:nvPicPr>
          <p:cNvPr id="4" name="图片 3">
            <a:extLst>
              <a:ext uri="{FF2B5EF4-FFF2-40B4-BE49-F238E27FC236}">
                <a16:creationId xmlns:a16="http://schemas.microsoft.com/office/drawing/2014/main" id="{08810751-E62D-223F-03DA-0F6F4916DDA1}"/>
              </a:ext>
            </a:extLst>
          </p:cNvPr>
          <p:cNvPicPr>
            <a:picLocks noChangeAspect="1"/>
          </p:cNvPicPr>
          <p:nvPr/>
        </p:nvPicPr>
        <p:blipFill>
          <a:blip r:embed="rId3"/>
          <a:stretch>
            <a:fillRect/>
          </a:stretch>
        </p:blipFill>
        <p:spPr>
          <a:xfrm>
            <a:off x="6096000" y="277185"/>
            <a:ext cx="4304432" cy="447969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3624531" y="4992235"/>
            <a:ext cx="1107996" cy="369332"/>
          </a:xfrm>
          <a:prstGeom prst="rect">
            <a:avLst/>
          </a:prstGeom>
          <a:noFill/>
        </p:spPr>
        <p:txBody>
          <a:bodyPr wrap="none" rtlCol="0">
            <a:spAutoFit/>
          </a:bodyPr>
          <a:lstStyle/>
          <a:p>
            <a:r>
              <a:rPr lang="zh-CN" altLang="en-US" dirty="0"/>
              <a:t>失败界面</a:t>
            </a:r>
          </a:p>
        </p:txBody>
      </p:sp>
      <p:sp>
        <p:nvSpPr>
          <p:cNvPr id="18" name="文本框 17">
            <a:extLst>
              <a:ext uri="{FF2B5EF4-FFF2-40B4-BE49-F238E27FC236}">
                <a16:creationId xmlns:a16="http://schemas.microsoft.com/office/drawing/2014/main" id="{3ED560CD-BF28-A872-D378-6F2F77C0ED80}"/>
              </a:ext>
            </a:extLst>
          </p:cNvPr>
          <p:cNvSpPr txBox="1"/>
          <p:nvPr/>
        </p:nvSpPr>
        <p:spPr>
          <a:xfrm>
            <a:off x="7862689" y="5176901"/>
            <a:ext cx="1107996" cy="369332"/>
          </a:xfrm>
          <a:prstGeom prst="rect">
            <a:avLst/>
          </a:prstGeom>
          <a:noFill/>
        </p:spPr>
        <p:txBody>
          <a:bodyPr wrap="none" rtlCol="0">
            <a:spAutoFit/>
          </a:bodyPr>
          <a:lstStyle/>
          <a:p>
            <a:r>
              <a:rPr lang="zh-CN" altLang="en-US" dirty="0"/>
              <a:t>胜利界面</a:t>
            </a:r>
          </a:p>
        </p:txBody>
      </p:sp>
    </p:spTree>
    <p:extLst>
      <p:ext uri="{BB962C8B-B14F-4D97-AF65-F5344CB8AC3E}">
        <p14:creationId xmlns:p14="http://schemas.microsoft.com/office/powerpoint/2010/main" val="26002501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参考内容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378060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838200" y="475861"/>
            <a:ext cx="10515600" cy="5701102"/>
          </a:xfrm>
        </p:spPr>
        <p:txBody>
          <a:bodyPr>
            <a:normAutofit/>
          </a:bodyPr>
          <a:lstStyle/>
          <a:p>
            <a:pPr marL="0" indent="0">
              <a:buNone/>
            </a:pPr>
            <a:r>
              <a:rPr lang="zh-CN" altLang="en-US" sz="1800" dirty="0"/>
              <a:t>初始代码参考：</a:t>
            </a:r>
            <a:r>
              <a:rPr lang="en-US" altLang="zh-CN" sz="1800" dirty="0"/>
              <a:t>https://xie.infoq.cn/article/7b075b4b29ac1544822b2fd52</a:t>
            </a:r>
          </a:p>
          <a:p>
            <a:pPr marL="0" indent="0">
              <a:buNone/>
            </a:pPr>
            <a:r>
              <a:rPr lang="en-US" altLang="zh-CN" sz="1800" dirty="0"/>
              <a:t>DAO</a:t>
            </a:r>
            <a:r>
              <a:rPr lang="zh-CN" altLang="en-US" sz="1800" dirty="0"/>
              <a:t>模式：</a:t>
            </a:r>
            <a:r>
              <a:rPr lang="en-US" altLang="zh-CN" sz="1800" dirty="0"/>
              <a:t>https://blog.csdn.net/weixin_59755109/article/details/124105783</a:t>
            </a:r>
          </a:p>
          <a:p>
            <a:pPr marL="0" indent="0">
              <a:buNone/>
            </a:pPr>
            <a:r>
              <a:rPr lang="zh-CN" altLang="en-US" sz="1800" dirty="0"/>
              <a:t>建造者模式：</a:t>
            </a:r>
            <a:r>
              <a:rPr lang="en-US" altLang="zh-CN" sz="1800" dirty="0">
                <a:hlinkClick r:id="rId2"/>
              </a:rPr>
              <a:t>https://blog.csdn.net/weixin_45433817/article/details/131175862</a:t>
            </a:r>
            <a:endParaRPr lang="en-US" altLang="zh-CN" sz="1800" dirty="0"/>
          </a:p>
          <a:p>
            <a:pPr marL="0" indent="0">
              <a:buNone/>
            </a:pPr>
            <a:r>
              <a:rPr lang="zh-CN" altLang="en-US" sz="1800" dirty="0"/>
              <a:t>项目地址：</a:t>
            </a:r>
            <a:r>
              <a:rPr lang="en-US" altLang="zh-CN" sz="1800" dirty="0"/>
              <a:t>https://github.com/wzc506/mineswapper</a:t>
            </a:r>
            <a:endParaRPr lang="zh-CN" altLang="en-US" sz="1800" dirty="0"/>
          </a:p>
        </p:txBody>
      </p:sp>
    </p:spTree>
    <p:extLst>
      <p:ext uri="{BB962C8B-B14F-4D97-AF65-F5344CB8AC3E}">
        <p14:creationId xmlns:p14="http://schemas.microsoft.com/office/powerpoint/2010/main" val="9264870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6.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9.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0.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292</TotalTime>
  <Words>2906</Words>
  <Application>Microsoft Office PowerPoint</Application>
  <PresentationFormat>宽屏</PresentationFormat>
  <Paragraphs>196</Paragraphs>
  <Slides>34</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34</vt:i4>
      </vt:variant>
    </vt:vector>
  </HeadingPairs>
  <TitlesOfParts>
    <vt:vector size="40" baseType="lpstr">
      <vt:lpstr>Segoe WPC</vt:lpstr>
      <vt:lpstr>等线</vt:lpstr>
      <vt:lpstr>等线 Light</vt:lpstr>
      <vt:lpstr>Arial</vt:lpstr>
      <vt:lpstr>Office 主题​​</vt:lpstr>
      <vt:lpstr>Designed by iSlide</vt:lpstr>
      <vt:lpstr>扫雷游戏</vt:lpstr>
      <vt:lpstr>Agenda</vt:lpstr>
      <vt:lpstr>修改前后的类图</vt:lpstr>
      <vt:lpstr>PowerPoint 演示文稿</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音乐播放功能</vt:lpstr>
      <vt:lpstr>PowerPoint 演示文稿</vt:lpstr>
      <vt:lpstr>使用的设计模式</vt:lpstr>
      <vt:lpstr>记录功能</vt:lpstr>
      <vt:lpstr>PowerPoint 演示文稿</vt:lpstr>
      <vt:lpstr>PowerPoint 演示文稿</vt:lpstr>
      <vt:lpstr>PowerPoint 演示文稿</vt:lpstr>
      <vt:lpstr>主题选择功能</vt:lpstr>
      <vt:lpstr>PowerPoint 演示文稿</vt:lpstr>
      <vt:lpstr>使用的设计模式</vt:lpstr>
      <vt:lpstr>PowerPoint 演示文稿</vt:lpstr>
      <vt:lpstr>PowerPoint 演示文稿</vt:lpstr>
      <vt:lpstr>主要界面</vt:lpstr>
      <vt:lpstr>主要界面</vt:lpstr>
      <vt:lpstr>PowerPoint 演示文稿</vt:lpstr>
      <vt:lpstr>代码的主要流程</vt:lpstr>
      <vt:lpstr>主要流程</vt:lpstr>
      <vt:lpstr>PowerPoint 演示文稿</vt:lpstr>
      <vt:lpstr>参考内容</vt:lpstr>
      <vt:lpstr>PowerPoint 演示文稿</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123</cp:revision>
  <dcterms:created xsi:type="dcterms:W3CDTF">2025-11-02T06:55:21Z</dcterms:created>
  <dcterms:modified xsi:type="dcterms:W3CDTF">2025-12-17T06:02:14Z</dcterms:modified>
</cp:coreProperties>
</file>