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57" r:id="rId5"/>
    <p:sldId id="258" r:id="rId6"/>
    <p:sldId id="259" r:id="rId7"/>
    <p:sldId id="260" r:id="rId8"/>
    <p:sldId id="266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8139D-C0CF-7587-EFC5-D18381E4A3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24CC09-91FE-4861-269C-FA2A4A6DA3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A6E582-3286-8CB1-A840-F51E6A895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1A905AD-E522-61A4-DCAB-9075B2D45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609A83-B55A-F096-CE16-CFDE328B0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614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E347E-A185-D50F-1F11-25B43209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F392A5-AB77-723D-037C-B99A2E12C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592411-F1BD-1925-5D72-9779B436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F68567-9A3D-D875-9BBC-F493AD380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590D9E-86E5-8881-D4A2-01FFAC62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03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8EBBD4-854A-AC52-BA8C-6F4621FE9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51F259-8CB3-F942-42B9-49A737748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EC5093-9DA7-C223-9677-6AF4197F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E4C8C9-4BE8-1765-6D1B-716D43ED4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7970E-F57F-A0C4-76EA-1B64040CC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461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EAE34B-216B-2314-DF8B-CF66C961B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98AE39-7437-116B-F591-9672A3974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7E491C3-AC47-24BE-7A79-6B08DB219F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82505D-E4CD-CCF4-D5BA-8E98ECA3B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810843-5D91-80A4-5DDC-2261D381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B3D131-1D6F-F61C-4A10-6472AC2D6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506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64B87-5D49-BD49-3A2F-1E991688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68FC32B-CF2C-69B4-3C10-309C0FC1AE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C56CE1-168A-28E8-DEF3-E07FD0137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A5A9348-309A-8C8A-B677-54BB4A3B9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8B95EE8-720E-1212-02C8-83A7D6943E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D41D8BE-A36C-AC68-909B-221CA6C25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1087DDB-44A3-66A7-FF8F-16277C720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9B69E3F-D6CA-C088-F6DE-BF46409C3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54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6666C-94F4-3A40-4B49-DD2878A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5DDC10-844F-3185-AC94-944BBB0FA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D2A0C2B-6C25-3C3B-D466-2CB57DE43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CC939D-9CAE-8103-C341-216484EB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601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48E7A3C-70F0-7ADE-B758-D2DC750E4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2EF35DC-8E55-4279-171F-FC8EC5366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AC08625-A3B1-FE29-E20A-7F39EE91B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572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13AC00-CAD8-B500-01C7-346D75123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3F3A00-42E5-83E0-F9EB-321E02E63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7582AEB-BEDD-2F46-42D9-36F9ECB6A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E1CFF0-D1A2-788E-3493-F8C7F902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9E502A-AA94-DCFB-6D0C-BD2A09699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1C2412B-2332-378C-BC29-1992FD965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7074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2671C0-59B8-CE3A-2743-F27B7DB38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9E116B-EC43-C563-E592-33F0B05B38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F9BE031-9A26-B966-46ED-7EDC0694D2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7FB185-F46A-F443-6CFF-CD9C7D07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7C12F3-F6B4-3336-0EFB-C2672D7BD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A0432C-A264-CD14-24F3-AF9FC40B3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7001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9E54C0-D773-4B31-F4DE-EE77EF7FC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EA79C8-D22E-C530-DB99-D3030508B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D28019-A189-F516-30D1-0C6FFE89B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56B51C-C844-F3D6-564D-B7B0A425E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1CB99E-5453-5A48-7A63-7B400579A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3099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55C054-3581-81E0-169F-38884B11EE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9A42B13-FAA5-DBA3-38D4-8AF4B5C33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F6D2BA-71F9-67E0-8322-873CA61E1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7B6CAE-D4EB-A6C2-F52B-F0222174E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216E81-64A3-29DE-A397-479DA666A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7193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1185FAE-BD6F-54CD-7CE1-918D88F6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5FAEF4-126C-AF02-DBC7-9AECF057B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5FC179-B010-4AE0-EF8F-E05A9652B4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511754-73E3-4E6F-AF62-38683F8056B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E08F62-96F3-832E-7A45-EBE28FB14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88ED16-C505-7CEB-1ABB-9867B1FA1C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6732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8C228-2C71-E684-B3DA-DD0A29B9FD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扫雷游戏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FC84274-A75B-787C-E9DD-638E408DA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6179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D41DFF-1629-C20C-A9C2-083AFD257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代码的主体框架分为三个包九个类</a:t>
            </a:r>
          </a:p>
        </p:txBody>
      </p:sp>
      <p:pic>
        <p:nvPicPr>
          <p:cNvPr id="9" name="内容占位符 8" descr="图示&#10;&#10;AI 生成的内容可能不正确。">
            <a:extLst>
              <a:ext uri="{FF2B5EF4-FFF2-40B4-BE49-F238E27FC236}">
                <a16:creationId xmlns:a16="http://schemas.microsoft.com/office/drawing/2014/main" id="{29878778-ED61-AD55-8FC4-F6D00A797F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72" y="1321690"/>
            <a:ext cx="5347855" cy="5541225"/>
          </a:xfrm>
        </p:spPr>
      </p:pic>
    </p:spTree>
    <p:extLst>
      <p:ext uri="{BB962C8B-B14F-4D97-AF65-F5344CB8AC3E}">
        <p14:creationId xmlns:p14="http://schemas.microsoft.com/office/powerpoint/2010/main" val="1075705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144530-05A0-203A-B14F-9A742B34F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三个包的作用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48B93C-E3D9-6981-49A5-D693ACA6C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 err="1"/>
              <a:t>GameDriver</a:t>
            </a:r>
            <a:r>
              <a:rPr lang="en-US" altLang="zh-CN" dirty="0"/>
              <a:t> </a:t>
            </a:r>
            <a:r>
              <a:rPr lang="zh-CN" altLang="en-US" dirty="0"/>
              <a:t>包</a:t>
            </a:r>
            <a:r>
              <a:rPr lang="en-US" altLang="zh-CN" dirty="0"/>
              <a:t>: </a:t>
            </a:r>
            <a:r>
              <a:rPr lang="zh-CN" altLang="en-US" dirty="0"/>
              <a:t>程序启动包。它包含了 </a:t>
            </a:r>
            <a:r>
              <a:rPr lang="en-US" altLang="zh-CN" dirty="0"/>
              <a:t>Driver.java </a:t>
            </a:r>
            <a:r>
              <a:rPr lang="zh-CN" altLang="en-US" dirty="0"/>
              <a:t>文件，其中的 </a:t>
            </a:r>
            <a:r>
              <a:rPr lang="en-US" altLang="zh-CN" dirty="0"/>
              <a:t>main </a:t>
            </a:r>
            <a:r>
              <a:rPr lang="zh-CN" altLang="en-US" dirty="0"/>
              <a:t>方法是整个</a:t>
            </a:r>
            <a:r>
              <a:rPr lang="en-US" altLang="zh-CN" dirty="0"/>
              <a:t>Java</a:t>
            </a:r>
            <a:r>
              <a:rPr lang="zh-CN" altLang="en-US" dirty="0"/>
              <a:t>应用程序的入口点。它的唯一职责就是创建 </a:t>
            </a:r>
            <a:r>
              <a:rPr lang="en-US" altLang="zh-CN" dirty="0"/>
              <a:t>Menu </a:t>
            </a:r>
            <a:r>
              <a:rPr lang="zh-CN" altLang="en-US" dirty="0"/>
              <a:t>对象，从而启动游戏。</a:t>
            </a:r>
            <a:endParaRPr lang="en-US" altLang="zh-CN" dirty="0"/>
          </a:p>
          <a:p>
            <a:r>
              <a:rPr lang="en-US" altLang="zh-CN" dirty="0" err="1"/>
              <a:t>UserInterface</a:t>
            </a:r>
            <a:r>
              <a:rPr lang="en-US" altLang="zh-CN" dirty="0"/>
              <a:t> </a:t>
            </a:r>
            <a:r>
              <a:rPr lang="zh-CN" altLang="en-US" dirty="0"/>
              <a:t>包</a:t>
            </a:r>
            <a:r>
              <a:rPr lang="en-US" altLang="zh-CN" dirty="0"/>
              <a:t>:</a:t>
            </a:r>
            <a:r>
              <a:rPr lang="zh-CN" altLang="en-US" dirty="0"/>
              <a:t>作用</a:t>
            </a:r>
            <a:r>
              <a:rPr lang="en-US" altLang="zh-CN" dirty="0"/>
              <a:t>: </a:t>
            </a:r>
            <a:r>
              <a:rPr lang="zh-CN" altLang="en-US" dirty="0"/>
              <a:t>用户界面与交互包。这是项目的核心部分，包含了所有与图形用户界面相关的类，例如 </a:t>
            </a:r>
            <a:r>
              <a:rPr lang="en-US" altLang="zh-CN" dirty="0"/>
              <a:t>Menu</a:t>
            </a:r>
            <a:r>
              <a:rPr lang="zh-CN" altLang="en-US" dirty="0"/>
              <a:t>、</a:t>
            </a:r>
            <a:r>
              <a:rPr lang="en-US" altLang="zh-CN" dirty="0" err="1"/>
              <a:t>GameBoard</a:t>
            </a:r>
            <a:r>
              <a:rPr lang="zh-CN" altLang="en-US" dirty="0"/>
              <a:t>、</a:t>
            </a:r>
            <a:r>
              <a:rPr lang="en-US" altLang="zh-CN" dirty="0" err="1"/>
              <a:t>SmartSquare</a:t>
            </a:r>
            <a:r>
              <a:rPr lang="zh-CN" altLang="en-US" dirty="0"/>
              <a:t>。同时，它也包含了一些直接服务于界面的逻辑类，如 </a:t>
            </a:r>
            <a:r>
              <a:rPr lang="en-US" altLang="zh-CN" dirty="0" err="1"/>
              <a:t>ProduceBombs</a:t>
            </a:r>
            <a:r>
              <a:rPr lang="zh-CN" altLang="en-US" dirty="0"/>
              <a:t>和 </a:t>
            </a:r>
            <a:r>
              <a:rPr lang="en-US" altLang="zh-CN" dirty="0" err="1"/>
              <a:t>CheckSquare</a:t>
            </a:r>
            <a:r>
              <a:rPr lang="zh-CN" altLang="en-US" dirty="0"/>
              <a:t>这些类紧密地与界面交互。</a:t>
            </a:r>
            <a:endParaRPr lang="en-US" altLang="zh-CN" dirty="0"/>
          </a:p>
          <a:p>
            <a:r>
              <a:rPr lang="en-US" altLang="zh-CN" dirty="0"/>
              <a:t>Library </a:t>
            </a:r>
            <a:r>
              <a:rPr lang="zh-CN" altLang="en-US" dirty="0"/>
              <a:t>包</a:t>
            </a:r>
            <a:r>
              <a:rPr lang="en-US" altLang="zh-CN" dirty="0"/>
              <a:t>: </a:t>
            </a:r>
            <a:r>
              <a:rPr lang="zh-CN" altLang="en-US" dirty="0"/>
              <a:t>通用功能库包。它提供了一些通用的、可被其他包复用的组件或工具。例如，</a:t>
            </a:r>
            <a:r>
              <a:rPr lang="en-US" altLang="zh-CN" dirty="0" err="1"/>
              <a:t>TimeChecker</a:t>
            </a:r>
            <a:r>
              <a:rPr lang="en-US" altLang="zh-CN" dirty="0"/>
              <a:t> </a:t>
            </a:r>
            <a:r>
              <a:rPr lang="zh-CN" altLang="en-US" dirty="0"/>
              <a:t>是一个时间格式化工具，而 </a:t>
            </a:r>
            <a:r>
              <a:rPr lang="en-US" altLang="zh-CN" dirty="0"/>
              <a:t>Bomb </a:t>
            </a:r>
            <a:r>
              <a:rPr lang="zh-CN" altLang="en-US" dirty="0"/>
              <a:t>是一个抽象基类，为地雷的生成提供了一个通用的模板。这个包旨在将一些基础或辅助功能与具体的界面逻辑分离开。</a:t>
            </a:r>
          </a:p>
        </p:txBody>
      </p:sp>
    </p:spTree>
    <p:extLst>
      <p:ext uri="{BB962C8B-B14F-4D97-AF65-F5344CB8AC3E}">
        <p14:creationId xmlns:p14="http://schemas.microsoft.com/office/powerpoint/2010/main" val="192070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C80F1D-9C19-0F17-A2C6-66E47211E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GameDriver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AEE359-51F2-6716-C5F5-0CF4784BF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Driver.java: </a:t>
            </a:r>
            <a:r>
              <a:rPr lang="zh-CN" altLang="en-US" dirty="0"/>
              <a:t>作用</a:t>
            </a:r>
            <a:r>
              <a:rPr lang="en-US" altLang="zh-CN" dirty="0"/>
              <a:t>: </a:t>
            </a:r>
            <a:r>
              <a:rPr lang="zh-CN" altLang="en-US" dirty="0"/>
              <a:t>程序的入口。它的</a:t>
            </a:r>
            <a:r>
              <a:rPr lang="en-US" altLang="zh-CN" dirty="0"/>
              <a:t>main</a:t>
            </a:r>
            <a:r>
              <a:rPr lang="zh-CN" altLang="en-US" dirty="0"/>
              <a:t>方法通过创建</a:t>
            </a:r>
            <a:r>
              <a:rPr lang="en-US" altLang="zh-CN" dirty="0"/>
              <a:t>Menu</a:t>
            </a:r>
            <a:r>
              <a:rPr lang="zh-CN" altLang="en-US" dirty="0"/>
              <a:t>对象来启动整个游戏</a:t>
            </a:r>
          </a:p>
        </p:txBody>
      </p:sp>
    </p:spTree>
    <p:extLst>
      <p:ext uri="{BB962C8B-B14F-4D97-AF65-F5344CB8AC3E}">
        <p14:creationId xmlns:p14="http://schemas.microsoft.com/office/powerpoint/2010/main" val="1624450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09CCCB-2E08-C360-FAC9-458DFA8D1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UserInterface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C19B4A-6F0D-8251-45BB-43100646F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Menu.java: </a:t>
            </a:r>
            <a:r>
              <a:rPr lang="zh-CN" altLang="en-US" dirty="0"/>
              <a:t>游戏开始菜单。它提供一个窗口让玩家选择游戏难度（初级、中级、高级）或自定义棋盘的尺寸和雷数。选择后，它会根据设置创建</a:t>
            </a:r>
            <a:r>
              <a:rPr lang="en-US" altLang="zh-CN" dirty="0" err="1"/>
              <a:t>GameBoard</a:t>
            </a:r>
            <a:r>
              <a:rPr lang="zh-CN" altLang="en-US" dirty="0"/>
              <a:t>对象开始新游戏。</a:t>
            </a:r>
            <a:endParaRPr lang="en-US" altLang="zh-CN" dirty="0"/>
          </a:p>
          <a:p>
            <a:r>
              <a:rPr lang="en-US" altLang="zh-CN" dirty="0"/>
              <a:t>GameBoard.java: </a:t>
            </a:r>
            <a:r>
              <a:rPr lang="zh-CN" altLang="en-US" dirty="0"/>
              <a:t>游戏主棋盘。这是一个</a:t>
            </a:r>
            <a:r>
              <a:rPr lang="en-US" altLang="zh-CN" dirty="0" err="1"/>
              <a:t>JFrame</a:t>
            </a:r>
            <a:r>
              <a:rPr lang="zh-CN" altLang="en-US" dirty="0"/>
              <a:t>窗口，使用</a:t>
            </a:r>
            <a:r>
              <a:rPr lang="en-US" altLang="zh-CN" dirty="0" err="1"/>
              <a:t>GridLayout</a:t>
            </a:r>
            <a:r>
              <a:rPr lang="zh-CN" altLang="en-US" dirty="0"/>
              <a:t>网格布局来容纳所有的</a:t>
            </a:r>
            <a:r>
              <a:rPr lang="en-US" altLang="zh-CN" dirty="0" err="1"/>
              <a:t>GameSquare</a:t>
            </a:r>
            <a:r>
              <a:rPr lang="zh-CN" altLang="en-US" dirty="0"/>
              <a:t>（方块）。它负责创建并管理二维数组的方块</a:t>
            </a:r>
            <a:endParaRPr lang="en-US" altLang="zh-CN" dirty="0"/>
          </a:p>
          <a:p>
            <a:r>
              <a:rPr lang="en-US" altLang="zh-CN" dirty="0"/>
              <a:t>GameSquare.java: </a:t>
            </a:r>
            <a:r>
              <a:rPr lang="zh-CN" altLang="en-US" dirty="0"/>
              <a:t>游戏方块的抽象基类。它继承自</a:t>
            </a:r>
            <a:r>
              <a:rPr lang="en-US" altLang="zh-CN" dirty="0" err="1"/>
              <a:t>JButton</a:t>
            </a:r>
            <a:r>
              <a:rPr lang="zh-CN" altLang="en-US" dirty="0"/>
              <a:t>，定义了所有方块共有的属性（如坐标）和行为（如抽象的</a:t>
            </a:r>
            <a:r>
              <a:rPr lang="en-US" altLang="zh-CN" dirty="0"/>
              <a:t>clicked()</a:t>
            </a:r>
            <a:r>
              <a:rPr lang="zh-CN" altLang="en-US" dirty="0"/>
              <a:t>方法）。</a:t>
            </a:r>
          </a:p>
        </p:txBody>
      </p:sp>
    </p:spTree>
    <p:extLst>
      <p:ext uri="{BB962C8B-B14F-4D97-AF65-F5344CB8AC3E}">
        <p14:creationId xmlns:p14="http://schemas.microsoft.com/office/powerpoint/2010/main" val="2250320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28C39A-3CAC-C1EC-15EE-F3938C946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UserInterface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3941BD-EECC-1AAE-7CE4-1D7CF3139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SmartSquare.java: </a:t>
            </a:r>
            <a:r>
              <a:rPr lang="zh-CN" altLang="en-US" dirty="0"/>
              <a:t>游戏方块的具体实现。它继承自</a:t>
            </a:r>
            <a:r>
              <a:rPr lang="en-US" altLang="zh-CN" dirty="0" err="1"/>
              <a:t>GameSquare</a:t>
            </a:r>
            <a:r>
              <a:rPr lang="zh-CN" altLang="en-US" dirty="0"/>
              <a:t>，并实现了</a:t>
            </a:r>
            <a:r>
              <a:rPr lang="en-US" altLang="zh-CN" dirty="0" err="1"/>
              <a:t>MouseListener</a:t>
            </a:r>
            <a:r>
              <a:rPr lang="zh-CN" altLang="en-US" dirty="0"/>
              <a:t>来处理玩家的点击操作（左键挖开，右键标记）。它包含了方块的核心逻辑，例如：是否是雷、是否被翻开、是否被标记等状态。当被点击时，它会执行相应的游戏逻辑。</a:t>
            </a:r>
            <a:endParaRPr lang="en-US" altLang="zh-CN" dirty="0"/>
          </a:p>
          <a:p>
            <a:r>
              <a:rPr lang="en-US" altLang="zh-CN" dirty="0"/>
              <a:t>ProduceBombs.java: </a:t>
            </a:r>
            <a:r>
              <a:rPr lang="zh-CN" altLang="en-US" dirty="0"/>
              <a:t>地雷的生成器。它继承自</a:t>
            </a:r>
            <a:r>
              <a:rPr lang="en-US" altLang="zh-CN" dirty="0"/>
              <a:t>Bomb</a:t>
            </a:r>
            <a:r>
              <a:rPr lang="zh-CN" altLang="en-US" dirty="0"/>
              <a:t>，负责在</a:t>
            </a:r>
            <a:r>
              <a:rPr lang="en-US" altLang="zh-CN" dirty="0" err="1"/>
              <a:t>GameBoard</a:t>
            </a:r>
            <a:r>
              <a:rPr lang="zh-CN" altLang="en-US" dirty="0"/>
              <a:t>上随机地布置指定数量的地雷。为了避免在同一个位置重复生成地雷，它包含了一个检查机制。</a:t>
            </a:r>
            <a:endParaRPr lang="en-US" altLang="zh-CN" dirty="0"/>
          </a:p>
          <a:p>
            <a:r>
              <a:rPr lang="en-US" altLang="zh-CN" dirty="0"/>
              <a:t>CheckSquare.java: </a:t>
            </a:r>
            <a:r>
              <a:rPr lang="zh-CN" altLang="en-US" dirty="0"/>
              <a:t>游戏逻辑检查器。当玩家点击一个非雷方块时，这个类负责计算其周围的雷数，并递归地翻开相邻的空白方块（如果周围没有雷）。它也负责判断游戏是否胜利。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64252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7A5398-88B2-97E2-3F0C-8C8A13774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Library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B2B6A-8EE7-0360-1EE9-87248F2DE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Bomb.java: </a:t>
            </a:r>
            <a:r>
              <a:rPr lang="zh-CN" altLang="en-US" dirty="0"/>
              <a:t>雷的抽象基类。它定义了生成雷所需要的基本属性（如游戏棋盘</a:t>
            </a:r>
            <a:r>
              <a:rPr lang="en-US" altLang="zh-CN" dirty="0"/>
              <a:t>board</a:t>
            </a:r>
            <a:r>
              <a:rPr lang="zh-CN" altLang="en-US" dirty="0"/>
              <a:t>）和抽象行为（</a:t>
            </a:r>
            <a:r>
              <a:rPr lang="en-US" altLang="zh-CN" dirty="0" err="1"/>
              <a:t>reproduceBomb</a:t>
            </a:r>
            <a:r>
              <a:rPr lang="zh-CN" altLang="en-US" dirty="0"/>
              <a:t>方法），具体的生成逻辑由子类</a:t>
            </a:r>
            <a:r>
              <a:rPr lang="en-US" altLang="zh-CN" dirty="0" err="1"/>
              <a:t>ProduceBombs</a:t>
            </a:r>
            <a:r>
              <a:rPr lang="zh-CN" altLang="en-US" dirty="0"/>
              <a:t>实现。</a:t>
            </a:r>
            <a:endParaRPr lang="en-US" altLang="zh-CN" dirty="0"/>
          </a:p>
          <a:p>
            <a:r>
              <a:rPr lang="en-US" altLang="zh-CN" dirty="0"/>
              <a:t>TimeChecker.java: </a:t>
            </a:r>
            <a:r>
              <a:rPr lang="zh-CN" altLang="en-US" dirty="0"/>
              <a:t>时间计算工具。这是一个接口，提供了一个静态方法</a:t>
            </a:r>
            <a:r>
              <a:rPr lang="en-US" altLang="zh-CN" dirty="0" err="1"/>
              <a:t>calculateTime</a:t>
            </a:r>
            <a:r>
              <a:rPr lang="zh-CN" altLang="en-US" dirty="0"/>
              <a:t>，用于将毫秒数格式化为更易读的“时</a:t>
            </a:r>
            <a:r>
              <a:rPr lang="en-US" altLang="zh-CN" dirty="0"/>
              <a:t>-</a:t>
            </a:r>
            <a:r>
              <a:rPr lang="zh-CN" altLang="en-US" dirty="0"/>
              <a:t>分</a:t>
            </a:r>
            <a:r>
              <a:rPr lang="en-US" altLang="zh-CN" dirty="0"/>
              <a:t>-</a:t>
            </a:r>
            <a:r>
              <a:rPr lang="zh-CN" altLang="en-US" dirty="0"/>
              <a:t>秒</a:t>
            </a:r>
            <a:r>
              <a:rPr lang="en-US" altLang="zh-CN" dirty="0"/>
              <a:t>-</a:t>
            </a:r>
            <a:r>
              <a:rPr lang="zh-CN" altLang="en-US" dirty="0"/>
              <a:t>毫秒”字符串。</a:t>
            </a:r>
          </a:p>
        </p:txBody>
      </p:sp>
    </p:spTree>
    <p:extLst>
      <p:ext uri="{BB962C8B-B14F-4D97-AF65-F5344CB8AC3E}">
        <p14:creationId xmlns:p14="http://schemas.microsoft.com/office/powerpoint/2010/main" val="1985954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DE6276-FDF9-6E89-132E-5D08E20EE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主要设计模式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D8274A-C9CB-EF2A-06B5-6CC6A4430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zh-CN" altLang="en-US" b="1" dirty="0"/>
              <a:t>模板方法模式 </a:t>
            </a:r>
            <a:endParaRPr lang="en-US" altLang="zh-CN" b="1" dirty="0"/>
          </a:p>
          <a:p>
            <a:pPr marL="0" indent="0">
              <a:buNone/>
            </a:pPr>
            <a:r>
              <a:rPr lang="zh-CN" altLang="en-US" dirty="0"/>
              <a:t>体现</a:t>
            </a:r>
            <a:r>
              <a:rPr lang="en-US" altLang="zh-CN" dirty="0"/>
              <a:t>: </a:t>
            </a:r>
            <a:r>
              <a:rPr lang="en-US" altLang="zh-CN" dirty="0" err="1"/>
              <a:t>GameSquare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Bomb </a:t>
            </a:r>
            <a:r>
              <a:rPr lang="zh-CN" altLang="en-US" dirty="0"/>
              <a:t>这两个抽象类体现了此模式。</a:t>
            </a:r>
          </a:p>
          <a:p>
            <a:pPr marL="0" indent="0">
              <a:buNone/>
            </a:pPr>
            <a:r>
              <a:rPr lang="zh-CN" altLang="en-US" dirty="0"/>
              <a:t>说明</a:t>
            </a:r>
            <a:r>
              <a:rPr lang="en-US" altLang="zh-CN" dirty="0"/>
              <a:t>:</a:t>
            </a:r>
            <a:r>
              <a:rPr lang="en-US" altLang="zh-CN" dirty="0" err="1"/>
              <a:t>GameSquare</a:t>
            </a:r>
            <a:r>
              <a:rPr lang="en-US" altLang="zh-CN" dirty="0"/>
              <a:t> </a:t>
            </a:r>
            <a:r>
              <a:rPr lang="zh-CN" altLang="en-US" dirty="0"/>
              <a:t>定义了 </a:t>
            </a:r>
            <a:r>
              <a:rPr lang="en-US" altLang="zh-CN" dirty="0"/>
              <a:t>clicked() </a:t>
            </a:r>
            <a:r>
              <a:rPr lang="zh-CN" altLang="en-US" dirty="0"/>
              <a:t>这个抽象方法，但具体的实现延迟到子类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中。父类定义了操作的骨架，而子类负责实现具体的步骤。同样，</a:t>
            </a:r>
            <a:r>
              <a:rPr lang="en-US" altLang="zh-CN" dirty="0"/>
              <a:t>Bomb </a:t>
            </a:r>
            <a:r>
              <a:rPr lang="zh-CN" altLang="en-US" dirty="0"/>
              <a:t>类在其构造函数中需要一个布雷的行为，它定义了抽象的 </a:t>
            </a:r>
            <a:r>
              <a:rPr lang="en-US" altLang="zh-CN" dirty="0" err="1"/>
              <a:t>reproduceBomb</a:t>
            </a:r>
            <a:r>
              <a:rPr lang="en-US" altLang="zh-CN" dirty="0"/>
              <a:t>() </a:t>
            </a:r>
            <a:r>
              <a:rPr lang="zh-CN" altLang="en-US" dirty="0"/>
              <a:t>方法，由子类 </a:t>
            </a:r>
            <a:r>
              <a:rPr lang="en-US" altLang="zh-CN" dirty="0" err="1"/>
              <a:t>ProduceBombs</a:t>
            </a:r>
            <a:r>
              <a:rPr lang="en-US" altLang="zh-CN" dirty="0"/>
              <a:t> </a:t>
            </a:r>
            <a:r>
              <a:rPr lang="zh-CN" altLang="en-US" dirty="0"/>
              <a:t>提供具体实现。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b="1" dirty="0"/>
              <a:t>观察者模式 </a:t>
            </a:r>
            <a:endParaRPr lang="en-US" altLang="zh-CN" b="1" dirty="0"/>
          </a:p>
          <a:p>
            <a:pPr marL="0" indent="0">
              <a:buNone/>
            </a:pPr>
            <a:r>
              <a:rPr lang="zh-CN" altLang="en-US" dirty="0"/>
              <a:t>体现</a:t>
            </a:r>
            <a:r>
              <a:rPr lang="en-US" altLang="zh-CN" dirty="0"/>
              <a:t>: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类实现了 </a:t>
            </a:r>
            <a:r>
              <a:rPr lang="en-US" altLang="zh-CN" dirty="0" err="1"/>
              <a:t>MouseListener</a:t>
            </a:r>
            <a:r>
              <a:rPr lang="en-US" altLang="zh-CN" dirty="0"/>
              <a:t> </a:t>
            </a:r>
            <a:r>
              <a:rPr lang="zh-CN" altLang="en-US" dirty="0"/>
              <a:t>接口。</a:t>
            </a:r>
          </a:p>
          <a:p>
            <a:pPr marL="0" indent="0">
              <a:buNone/>
            </a:pPr>
            <a:r>
              <a:rPr lang="zh-CN" altLang="en-US" dirty="0"/>
              <a:t>说明</a:t>
            </a:r>
            <a:r>
              <a:rPr lang="en-US" altLang="zh-CN" dirty="0"/>
              <a:t>: </a:t>
            </a:r>
            <a:r>
              <a:rPr lang="zh-CN" altLang="en-US" dirty="0"/>
              <a:t>这是</a:t>
            </a:r>
            <a:r>
              <a:rPr lang="en-US" altLang="zh-CN" dirty="0"/>
              <a:t>Java Swing</a:t>
            </a:r>
            <a:r>
              <a:rPr lang="zh-CN" altLang="en-US" dirty="0"/>
              <a:t>事件处理机制的核心。</a:t>
            </a:r>
            <a:r>
              <a:rPr lang="en-US" altLang="zh-CN" dirty="0" err="1"/>
              <a:t>SmartSquare</a:t>
            </a:r>
            <a:r>
              <a:rPr lang="zh-CN" altLang="en-US" dirty="0"/>
              <a:t>（观察者）向事件源（如按钮本身）注册自己。当鼠标点击事件发生时，事件源会通知所有注册的观察者，并调用它们的回调方法（如 </a:t>
            </a:r>
            <a:r>
              <a:rPr lang="en-US" altLang="zh-CN" dirty="0" err="1"/>
              <a:t>mouseClicked</a:t>
            </a:r>
            <a:r>
              <a:rPr lang="en-US" altLang="zh-CN" dirty="0"/>
              <a:t>()</a:t>
            </a:r>
            <a:r>
              <a:rPr lang="zh-CN" altLang="en-US" dirty="0"/>
              <a:t>）。这实现了事件源和事件处理者之间的解耦。</a:t>
            </a:r>
          </a:p>
        </p:txBody>
      </p:sp>
    </p:spTree>
    <p:extLst>
      <p:ext uri="{BB962C8B-B14F-4D97-AF65-F5344CB8AC3E}">
        <p14:creationId xmlns:p14="http://schemas.microsoft.com/office/powerpoint/2010/main" val="34355234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6A25A8-4573-C01E-A498-D53BCF27D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主要界面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60A07D-6122-7D63-CA0F-FCFE0B7D5536}"/>
              </a:ext>
            </a:extLst>
          </p:cNvPr>
          <p:cNvSpPr txBox="1"/>
          <p:nvPr/>
        </p:nvSpPr>
        <p:spPr>
          <a:xfrm>
            <a:off x="357996" y="5578824"/>
            <a:ext cx="1112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开始界面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75251DC-7860-6267-5D12-5A6A3BACB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8952"/>
            <a:ext cx="2210420" cy="315321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116C28A-B86E-B95B-5059-AA3629047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420" y="2623127"/>
            <a:ext cx="2851665" cy="286030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DE38928-859C-8F34-C325-2F40BF511378}"/>
              </a:ext>
            </a:extLst>
          </p:cNvPr>
          <p:cNvSpPr txBox="1"/>
          <p:nvPr/>
        </p:nvSpPr>
        <p:spPr>
          <a:xfrm>
            <a:off x="2780512" y="566195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游戏界面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02486A-33DF-F26B-701D-18FCB0124C42}"/>
              </a:ext>
            </a:extLst>
          </p:cNvPr>
          <p:cNvSpPr txBox="1"/>
          <p:nvPr/>
        </p:nvSpPr>
        <p:spPr>
          <a:xfrm>
            <a:off x="5929193" y="57386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失败界面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3BCF29C4-FF04-2710-5959-80A829D8D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291" y="2638109"/>
            <a:ext cx="2818280" cy="2844057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3ED560CD-BF28-A872-D378-6F2F77C0ED80}"/>
              </a:ext>
            </a:extLst>
          </p:cNvPr>
          <p:cNvSpPr txBox="1"/>
          <p:nvPr/>
        </p:nvSpPr>
        <p:spPr>
          <a:xfrm>
            <a:off x="9934084" y="571414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胜利界面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8810751-E62D-223F-03DA-0F6F4916D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7568" y="1182255"/>
            <a:ext cx="4304432" cy="4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978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A9D795-14E2-7575-E795-3CD81ED6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主要流程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C843D376-F7D3-7658-7546-BD88D50ED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1. </a:t>
            </a:r>
            <a:r>
              <a:rPr lang="zh-CN" altLang="en-US" dirty="0"/>
              <a:t>游戏启动与菜单选择 </a:t>
            </a:r>
            <a:r>
              <a:rPr lang="en-US" altLang="zh-CN" dirty="0"/>
              <a:t>(group)</a:t>
            </a:r>
          </a:p>
          <a:p>
            <a:pPr marL="0" indent="0">
              <a:buNone/>
            </a:pPr>
            <a:r>
              <a:rPr lang="en-US" altLang="zh-CN" dirty="0"/>
              <a:t>	Driver </a:t>
            </a:r>
            <a:r>
              <a:rPr lang="zh-CN" altLang="en-US" dirty="0"/>
              <a:t>创建 </a:t>
            </a:r>
            <a:r>
              <a:rPr lang="en-US" altLang="zh-CN" dirty="0"/>
              <a:t>Menu </a:t>
            </a:r>
            <a:r>
              <a:rPr lang="zh-CN" altLang="en-US" dirty="0"/>
              <a:t>实例，向玩家显示菜单。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玩家选择难度后，</a:t>
            </a:r>
            <a:r>
              <a:rPr lang="en-US" altLang="zh-CN" dirty="0"/>
              <a:t>Menu </a:t>
            </a:r>
            <a:r>
              <a:rPr lang="zh-CN" altLang="en-US" dirty="0"/>
              <a:t>的 </a:t>
            </a:r>
            <a:r>
              <a:rPr lang="en-US" altLang="zh-CN" dirty="0" err="1"/>
              <a:t>actionPerformed</a:t>
            </a:r>
            <a:r>
              <a:rPr lang="en-US" altLang="zh-CN" dirty="0"/>
              <a:t> </a:t>
            </a:r>
            <a:r>
              <a:rPr lang="zh-CN" altLang="en-US" dirty="0"/>
              <a:t>方法被触发。</a:t>
            </a:r>
          </a:p>
          <a:p>
            <a:pPr marL="0" indent="0">
              <a:buNone/>
            </a:pPr>
            <a:r>
              <a:rPr lang="en-US" altLang="zh-CN" dirty="0"/>
              <a:t>	Menu </a:t>
            </a:r>
            <a:r>
              <a:rPr lang="zh-CN" altLang="en-US" dirty="0"/>
              <a:t>负责创建 </a:t>
            </a:r>
            <a:r>
              <a:rPr lang="en-US" altLang="zh-CN" dirty="0" err="1"/>
              <a:t>GameBoard</a:t>
            </a:r>
            <a:r>
              <a:rPr lang="zh-CN" altLang="en-US" dirty="0"/>
              <a:t>，</a:t>
            </a:r>
            <a:r>
              <a:rPr lang="en-US" altLang="zh-CN" dirty="0" err="1"/>
              <a:t>GameBoard</a:t>
            </a:r>
            <a:r>
              <a:rPr lang="en-US" altLang="zh-CN" dirty="0"/>
              <a:t> </a:t>
            </a:r>
            <a:r>
              <a:rPr lang="zh-CN" altLang="en-US" dirty="0"/>
              <a:t>则循环创建所有的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方块。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接着，</a:t>
            </a:r>
            <a:r>
              <a:rPr lang="en-US" altLang="zh-CN" dirty="0"/>
              <a:t>Menu </a:t>
            </a:r>
            <a:r>
              <a:rPr lang="zh-CN" altLang="en-US" dirty="0"/>
              <a:t>创建 </a:t>
            </a:r>
            <a:r>
              <a:rPr lang="en-US" altLang="zh-CN" dirty="0" err="1"/>
              <a:t>ProduceBombs</a:t>
            </a:r>
            <a:r>
              <a:rPr lang="en-US" altLang="zh-CN" dirty="0"/>
              <a:t> </a:t>
            </a:r>
            <a:r>
              <a:rPr lang="zh-CN" altLang="en-US" dirty="0"/>
              <a:t>来在棋盘上布雷。这个过程涉及到随机选择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并调用其 </a:t>
            </a:r>
            <a:r>
              <a:rPr lang="en-US" altLang="zh-CN" dirty="0" err="1"/>
              <a:t>setBombExist</a:t>
            </a:r>
            <a:r>
              <a:rPr lang="en-US" altLang="zh-CN" dirty="0"/>
              <a:t>(true) </a:t>
            </a:r>
            <a:r>
              <a:rPr lang="zh-CN" altLang="en-US" dirty="0"/>
              <a:t>方法。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最后，</a:t>
            </a:r>
            <a:r>
              <a:rPr lang="en-US" altLang="zh-CN" dirty="0"/>
              <a:t>Menu </a:t>
            </a:r>
            <a:r>
              <a:rPr lang="zh-CN" altLang="en-US" dirty="0"/>
              <a:t>调用一个方块的 </a:t>
            </a:r>
            <a:r>
              <a:rPr lang="en-US" altLang="zh-CN" dirty="0" err="1"/>
              <a:t>setStartTime</a:t>
            </a:r>
            <a:r>
              <a:rPr lang="en-US" altLang="zh-CN" dirty="0"/>
              <a:t>() </a:t>
            </a:r>
            <a:r>
              <a:rPr lang="zh-CN" altLang="en-US" dirty="0"/>
              <a:t>来记录开始时间，然后关闭自己，游戏棋盘对玩家可见。</a:t>
            </a:r>
          </a:p>
        </p:txBody>
      </p:sp>
    </p:spTree>
    <p:extLst>
      <p:ext uri="{BB962C8B-B14F-4D97-AF65-F5344CB8AC3E}">
        <p14:creationId xmlns:p14="http://schemas.microsoft.com/office/powerpoint/2010/main" val="2250420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10A578-EB2D-EAD5-098B-74054713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8982" y="406400"/>
            <a:ext cx="7954817" cy="621607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zh-CN" dirty="0"/>
              <a:t>2. </a:t>
            </a:r>
            <a:r>
              <a:rPr lang="zh-CN" altLang="en-US" dirty="0"/>
              <a:t>玩家进行游戏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玩家点击一个 </a:t>
            </a:r>
            <a:r>
              <a:rPr lang="en-US" altLang="zh-CN" dirty="0" err="1"/>
              <a:t>SmartSquare</a:t>
            </a:r>
            <a:r>
              <a:rPr lang="zh-CN" altLang="en-US" dirty="0"/>
              <a:t>（它是一个 </a:t>
            </a:r>
            <a:r>
              <a:rPr lang="en-US" altLang="zh-CN" dirty="0" err="1"/>
              <a:t>JButton</a:t>
            </a:r>
            <a:r>
              <a:rPr lang="zh-CN" altLang="en-US" dirty="0"/>
              <a:t>）。</a:t>
            </a:r>
          </a:p>
          <a:p>
            <a:pPr marL="0" indent="0">
              <a:buNone/>
            </a:pPr>
            <a:r>
              <a:rPr lang="en-US" altLang="zh-CN" dirty="0"/>
              <a:t>	Swing </a:t>
            </a:r>
            <a:r>
              <a:rPr lang="zh-CN" altLang="en-US" dirty="0"/>
              <a:t>的事件处理机制最终会调用到被点击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实例的 </a:t>
            </a:r>
            <a:r>
              <a:rPr lang="en-US" altLang="zh-CN" dirty="0"/>
              <a:t>clicked() </a:t>
            </a:r>
            <a:r>
              <a:rPr lang="zh-CN" altLang="en-US" dirty="0"/>
              <a:t>方法。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在 </a:t>
            </a:r>
            <a:r>
              <a:rPr lang="en-US" altLang="zh-CN" dirty="0"/>
              <a:t>clicked() </a:t>
            </a:r>
            <a:r>
              <a:rPr lang="zh-CN" altLang="en-US" dirty="0"/>
              <a:t>方法内部：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b="1" dirty="0"/>
              <a:t>分支</a:t>
            </a:r>
            <a:r>
              <a:rPr lang="en-US" altLang="zh-CN" b="1" dirty="0"/>
              <a:t>1 (alt): </a:t>
            </a:r>
            <a:r>
              <a:rPr lang="zh-CN" altLang="en-US" dirty="0"/>
              <a:t>点击到地雷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en-US" altLang="zh-CN" dirty="0" err="1"/>
              <a:t>thisSquareHasBomb</a:t>
            </a:r>
            <a:r>
              <a:rPr lang="zh-CN" altLang="en-US" dirty="0"/>
              <a:t>为 </a:t>
            </a:r>
            <a:r>
              <a:rPr lang="en-US" altLang="zh-CN" dirty="0"/>
              <a:t>true</a:t>
            </a:r>
            <a:r>
              <a:rPr lang="zh-CN" altLang="en-US" dirty="0"/>
              <a:t>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程序调用 </a:t>
            </a:r>
            <a:r>
              <a:rPr lang="en-US" altLang="zh-CN" dirty="0"/>
              <a:t>window() </a:t>
            </a:r>
            <a:r>
              <a:rPr lang="zh-CN" altLang="en-US" dirty="0"/>
              <a:t>方法，向玩家显示一个包含</a:t>
            </a:r>
            <a:r>
              <a:rPr lang="en-US" altLang="zh-CN" dirty="0"/>
              <a:t>		</a:t>
            </a:r>
            <a:r>
              <a:rPr lang="zh-CN" altLang="en-US" dirty="0"/>
              <a:t>“游戏结束”信息和重玩选项的对话框。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b="1" dirty="0"/>
              <a:t>分支</a:t>
            </a:r>
            <a:r>
              <a:rPr lang="en-US" altLang="zh-CN" b="1" dirty="0"/>
              <a:t>2 (alt): </a:t>
            </a:r>
            <a:r>
              <a:rPr lang="zh-CN" altLang="en-US" dirty="0"/>
              <a:t>点击到安全方块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程序创建一个 </a:t>
            </a:r>
            <a:r>
              <a:rPr lang="en-US" altLang="zh-CN" dirty="0" err="1"/>
              <a:t>CheckSquare</a:t>
            </a:r>
            <a:r>
              <a:rPr lang="en-US" altLang="zh-CN" dirty="0"/>
              <a:t> </a:t>
            </a:r>
            <a:r>
              <a:rPr lang="zh-CN" altLang="en-US" dirty="0"/>
              <a:t>对象来处理逻辑。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调用 </a:t>
            </a:r>
            <a:r>
              <a:rPr lang="en-US" altLang="zh-CN" dirty="0" err="1"/>
              <a:t>countBomb</a:t>
            </a:r>
            <a:r>
              <a:rPr lang="en-US" altLang="zh-CN" dirty="0"/>
              <a:t>() </a:t>
            </a:r>
            <a:r>
              <a:rPr lang="zh-CN" altLang="en-US" dirty="0"/>
              <a:t>来计算周围地雷数并递归地揭</a:t>
            </a:r>
            <a:r>
              <a:rPr lang="en-US" altLang="zh-CN" dirty="0"/>
              <a:t>		</a:t>
            </a:r>
            <a:r>
              <a:rPr lang="zh-CN" altLang="en-US" dirty="0"/>
              <a:t>开相邻的空白区域。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之后，调用 </a:t>
            </a:r>
            <a:r>
              <a:rPr lang="en-US" altLang="zh-CN" dirty="0" err="1"/>
              <a:t>isSuccess</a:t>
            </a:r>
            <a:r>
              <a:rPr lang="en-US" altLang="zh-CN" dirty="0"/>
              <a:t>() </a:t>
            </a:r>
            <a:r>
              <a:rPr lang="zh-CN" altLang="en-US" dirty="0"/>
              <a:t>检查是否满足胜利条件（</a:t>
            </a:r>
            <a:r>
              <a:rPr lang="en-US" altLang="zh-CN" dirty="0"/>
              <a:t>		</a:t>
            </a:r>
            <a:r>
              <a:rPr lang="zh-CN" altLang="en-US" dirty="0"/>
              <a:t>所有非雷块都已揭开）。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如果胜利 </a:t>
            </a:r>
            <a:r>
              <a:rPr lang="en-US" altLang="zh-CN" dirty="0"/>
              <a:t>(alt)</a:t>
            </a:r>
            <a:r>
              <a:rPr lang="zh-CN" altLang="en-US" dirty="0"/>
              <a:t>，调用 </a:t>
            </a:r>
            <a:r>
              <a:rPr lang="en-US" altLang="zh-CN" dirty="0"/>
              <a:t>window() </a:t>
            </a:r>
            <a:r>
              <a:rPr lang="zh-CN" altLang="en-US" dirty="0"/>
              <a:t>显示“恭喜”信息。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如果游戏未结束 ，更新方块视图（显示数字），</a:t>
            </a:r>
            <a:r>
              <a:rPr lang="en-US" altLang="zh-CN" dirty="0"/>
              <a:t>		</a:t>
            </a:r>
            <a:r>
              <a:rPr lang="zh-CN" altLang="en-US" dirty="0"/>
              <a:t>等待玩家下一次操作。</a:t>
            </a:r>
          </a:p>
        </p:txBody>
      </p:sp>
      <p:pic>
        <p:nvPicPr>
          <p:cNvPr id="6" name="内容占位符 5" descr="图示&#10;&#10;AI 生成的内容可能不正确。">
            <a:extLst>
              <a:ext uri="{FF2B5EF4-FFF2-40B4-BE49-F238E27FC236}">
                <a16:creationId xmlns:a16="http://schemas.microsoft.com/office/drawing/2014/main" id="{A75778AD-2108-FBBB-CBD3-9AAAC07A2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77" y="107661"/>
            <a:ext cx="2879695" cy="6599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39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1073</Words>
  <Application>Microsoft Office PowerPoint</Application>
  <PresentationFormat>宽屏</PresentationFormat>
  <Paragraphs>52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5" baseType="lpstr">
      <vt:lpstr>等线</vt:lpstr>
      <vt:lpstr>等线 Light</vt:lpstr>
      <vt:lpstr>Arial</vt:lpstr>
      <vt:lpstr>Office 主题​​</vt:lpstr>
      <vt:lpstr>扫雷游戏</vt:lpstr>
      <vt:lpstr>代码的主体框架分为三个包九个类</vt:lpstr>
      <vt:lpstr>三个包的作用</vt:lpstr>
      <vt:lpstr>GameDriver</vt:lpstr>
      <vt:lpstr>UserInterface</vt:lpstr>
      <vt:lpstr>UserInterface</vt:lpstr>
      <vt:lpstr>Library</vt:lpstr>
      <vt:lpstr>主要设计模式</vt:lpstr>
      <vt:lpstr>主要界面</vt:lpstr>
      <vt:lpstr>主要流程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志城 王</dc:creator>
  <cp:lastModifiedBy>志城 王</cp:lastModifiedBy>
  <cp:revision>24</cp:revision>
  <dcterms:created xsi:type="dcterms:W3CDTF">2025-11-02T06:55:21Z</dcterms:created>
  <dcterms:modified xsi:type="dcterms:W3CDTF">2025-11-11T12:25:14Z</dcterms:modified>
</cp:coreProperties>
</file>