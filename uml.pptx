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50"/>
  </p:notesMasterIdLst>
  <p:sldIdLst>
    <p:sldId id="256" r:id="rId3"/>
    <p:sldId id="277" r:id="rId4"/>
    <p:sldId id="263" r:id="rId5"/>
    <p:sldId id="308" r:id="rId6"/>
    <p:sldId id="296" r:id="rId7"/>
    <p:sldId id="309" r:id="rId8"/>
    <p:sldId id="278" r:id="rId9"/>
    <p:sldId id="264" r:id="rId10"/>
    <p:sldId id="310" r:id="rId11"/>
    <p:sldId id="265" r:id="rId12"/>
    <p:sldId id="307" r:id="rId13"/>
    <p:sldId id="311" r:id="rId14"/>
    <p:sldId id="286" r:id="rId15"/>
    <p:sldId id="312" r:id="rId16"/>
    <p:sldId id="287" r:id="rId17"/>
    <p:sldId id="290" r:id="rId18"/>
    <p:sldId id="313" r:id="rId19"/>
    <p:sldId id="303" r:id="rId20"/>
    <p:sldId id="289" r:id="rId21"/>
    <p:sldId id="314" r:id="rId22"/>
    <p:sldId id="291" r:id="rId23"/>
    <p:sldId id="292" r:id="rId24"/>
    <p:sldId id="302" r:id="rId25"/>
    <p:sldId id="293" r:id="rId26"/>
    <p:sldId id="315" r:id="rId27"/>
    <p:sldId id="294" r:id="rId28"/>
    <p:sldId id="295" r:id="rId29"/>
    <p:sldId id="316" r:id="rId30"/>
    <p:sldId id="274" r:id="rId31"/>
    <p:sldId id="268" r:id="rId32"/>
    <p:sldId id="317" r:id="rId33"/>
    <p:sldId id="300" r:id="rId34"/>
    <p:sldId id="320" r:id="rId35"/>
    <p:sldId id="319" r:id="rId36"/>
    <p:sldId id="321" r:id="rId37"/>
    <p:sldId id="275" r:id="rId38"/>
    <p:sldId id="266" r:id="rId39"/>
    <p:sldId id="284" r:id="rId40"/>
    <p:sldId id="323" r:id="rId41"/>
    <p:sldId id="267" r:id="rId42"/>
    <p:sldId id="324" r:id="rId43"/>
    <p:sldId id="285" r:id="rId44"/>
    <p:sldId id="281" r:id="rId45"/>
    <p:sldId id="283" r:id="rId46"/>
    <p:sldId id="322" r:id="rId47"/>
    <p:sldId id="299" r:id="rId48"/>
    <p:sldId id="325" r:id="rId4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2" d="100"/>
          <a:sy n="102" d="100"/>
        </p:scale>
        <p:origin x="7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2025/12/27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2.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14" name="卷形: 水平 13">
            <a:extLst>
              <a:ext uri="{FF2B5EF4-FFF2-40B4-BE49-F238E27FC236}">
                <a16:creationId xmlns:a16="http://schemas.microsoft.com/office/drawing/2014/main" id="{A9902A90-583F-98F2-6A72-0C1D193245F3}"/>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lvl1pPr>
              <a:defRPr lang="zh-CN" altLang="en-US" sz="2800" b="1" kern="1200" dirty="0">
                <a:solidFill>
                  <a:schemeClr val="tx1"/>
                </a:solidFill>
                <a:latin typeface="华文楷体" panose="02010600040101010101" pitchFamily="2" charset="-122"/>
                <a:ea typeface="华文楷体" panose="02010600040101010101" pitchFamily="2" charset="-122"/>
                <a:cs typeface="+mj-cs"/>
              </a:defRPr>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pic>
        <p:nvPicPr>
          <p:cNvPr id="7" name="图片 6">
            <a:extLst>
              <a:ext uri="{FF2B5EF4-FFF2-40B4-BE49-F238E27FC236}">
                <a16:creationId xmlns:a16="http://schemas.microsoft.com/office/drawing/2014/main" id="{1357BA62-B255-71EF-9DE7-41CAB003C115}"/>
              </a:ext>
            </a:extLst>
          </p:cNvPr>
          <p:cNvPicPr>
            <a:picLocks noChangeAspect="1"/>
          </p:cNvPicPr>
          <p:nvPr userDrawn="1"/>
        </p:nvPicPr>
        <p:blipFill>
          <a:blip r:embed="rId2"/>
          <a:stretch>
            <a:fillRect/>
          </a:stretch>
        </p:blipFill>
        <p:spPr>
          <a:xfrm>
            <a:off x="0" y="3633216"/>
            <a:ext cx="12192000" cy="3224784"/>
          </a:xfrm>
          <a:prstGeom prst="rect">
            <a:avLst/>
          </a:prstGeom>
        </p:spPr>
      </p:pic>
      <p:pic>
        <p:nvPicPr>
          <p:cNvPr id="8" name="图片 7" descr="信机logo 拷贝">
            <a:extLst>
              <a:ext uri="{FF2B5EF4-FFF2-40B4-BE49-F238E27FC236}">
                <a16:creationId xmlns:a16="http://schemas.microsoft.com/office/drawing/2014/main" id="{D3E7BCF1-DADC-3DEB-B06D-B170AF16F248}"/>
              </a:ext>
            </a:extLst>
          </p:cNvPr>
          <p:cNvPicPr>
            <a:picLocks noChangeAspect="1"/>
          </p:cNvPicPr>
          <p:nvPr userDrawn="1"/>
        </p:nvPicPr>
        <p:blipFill>
          <a:blip r:embed="rId3"/>
          <a:stretch>
            <a:fillRect/>
          </a:stretch>
        </p:blipFill>
        <p:spPr>
          <a:xfrm>
            <a:off x="0" y="45106"/>
            <a:ext cx="4199890" cy="466725"/>
          </a:xfrm>
          <a:prstGeom prst="rect">
            <a:avLst/>
          </a:prstGeom>
        </p:spPr>
      </p:pic>
      <p:sp>
        <p:nvSpPr>
          <p:cNvPr id="10" name="标题 1">
            <a:extLst>
              <a:ext uri="{FF2B5EF4-FFF2-40B4-BE49-F238E27FC236}">
                <a16:creationId xmlns:a16="http://schemas.microsoft.com/office/drawing/2014/main" id="{E27F5DA0-B2A3-2F52-3EF8-18BEE18258B6}"/>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marL="0" algn="l" defTabSz="914400" rtl="0" eaLnBrk="1" latinLnBrk="0" hangingPunct="1">
              <a:lnSpc>
                <a:spcPct val="100000"/>
              </a:lnSpc>
              <a:spcBef>
                <a:spcPct val="0"/>
              </a:spcBef>
              <a:buNone/>
            </a:pPr>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主要界面</a:t>
            </a:r>
          </a:p>
        </p:txBody>
      </p:sp>
      <p:sp>
        <p:nvSpPr>
          <p:cNvPr id="11" name="标题 1">
            <a:extLst>
              <a:ext uri="{FF2B5EF4-FFF2-40B4-BE49-F238E27FC236}">
                <a16:creationId xmlns:a16="http://schemas.microsoft.com/office/drawing/2014/main" id="{F617DEFE-2577-1A82-DE3C-064CCD9760BA}"/>
              </a:ext>
            </a:extLst>
          </p:cNvPr>
          <p:cNvSpPr txBox="1">
            <a:spLocks/>
          </p:cNvSpPr>
          <p:nvPr userDrawn="1"/>
        </p:nvSpPr>
        <p:spPr>
          <a:xfrm>
            <a:off x="5765586" y="66224"/>
            <a:ext cx="2140984" cy="525425"/>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algn="l" defTabSz="914400" rtl="0" eaLnBrk="1" latinLnBrk="0" hangingPunct="1">
              <a:lnSpc>
                <a:spcPct val="120000"/>
              </a:lnSpc>
              <a:spcBef>
                <a:spcPct val="0"/>
              </a:spcBef>
              <a:buNone/>
            </a:pPr>
            <a:r>
              <a:rPr lang="zh-CN" altLang="en-US" sz="3000" b="1" kern="1200" dirty="0">
                <a:solidFill>
                  <a:schemeClr val="tx1"/>
                </a:solidFill>
                <a:latin typeface="华文楷体" panose="02010600040101010101" pitchFamily="2" charset="-122"/>
                <a:ea typeface="华文楷体" panose="02010600040101010101" pitchFamily="2" charset="-122"/>
                <a:cs typeface="+mj-cs"/>
              </a:rPr>
              <a:t>主要流程</a:t>
            </a:r>
            <a:endParaRPr lang="zh-CN" altLang="en-US" sz="2800" b="1" kern="1200" dirty="0">
              <a:solidFill>
                <a:schemeClr val="tx1"/>
              </a:solidFill>
              <a:latin typeface="华文楷体" panose="02010600040101010101" pitchFamily="2" charset="-122"/>
              <a:ea typeface="华文楷体" panose="02010600040101010101" pitchFamily="2" charset="-122"/>
              <a:cs typeface="+mj-cs"/>
            </a:endParaRPr>
          </a:p>
        </p:txBody>
      </p:sp>
      <p:sp>
        <p:nvSpPr>
          <p:cNvPr id="12" name="标题 1">
            <a:extLst>
              <a:ext uri="{FF2B5EF4-FFF2-40B4-BE49-F238E27FC236}">
                <a16:creationId xmlns:a16="http://schemas.microsoft.com/office/drawing/2014/main" id="{B731101D-E7D4-4E97-E435-1C8CB1C7DE3B}"/>
              </a:ext>
            </a:extLst>
          </p:cNvPr>
          <p:cNvSpPr txBox="1">
            <a:spLocks/>
          </p:cNvSpPr>
          <p:nvPr userDrawn="1"/>
        </p:nvSpPr>
        <p:spPr>
          <a:xfrm>
            <a:off x="7292326"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主要功能</a:t>
            </a:r>
          </a:p>
        </p:txBody>
      </p:sp>
      <p:sp>
        <p:nvSpPr>
          <p:cNvPr id="13" name="标题 1">
            <a:extLst>
              <a:ext uri="{FF2B5EF4-FFF2-40B4-BE49-F238E27FC236}">
                <a16:creationId xmlns:a16="http://schemas.microsoft.com/office/drawing/2014/main" id="{4A8DCC61-83A9-09EF-530B-8BBE396E18B3}"/>
              </a:ext>
            </a:extLst>
          </p:cNvPr>
          <p:cNvSpPr txBox="1">
            <a:spLocks/>
          </p:cNvSpPr>
          <p:nvPr userDrawn="1"/>
        </p:nvSpPr>
        <p:spPr>
          <a:xfrm>
            <a:off x="10345806" y="6548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参考文献</a:t>
            </a:r>
          </a:p>
        </p:txBody>
      </p:sp>
      <p:sp>
        <p:nvSpPr>
          <p:cNvPr id="15" name="标题 1">
            <a:extLst>
              <a:ext uri="{FF2B5EF4-FFF2-40B4-BE49-F238E27FC236}">
                <a16:creationId xmlns:a16="http://schemas.microsoft.com/office/drawing/2014/main" id="{62F633F1-CD5F-125D-65A5-8CC98B200CAC}"/>
              </a:ext>
            </a:extLst>
          </p:cNvPr>
          <p:cNvSpPr txBox="1">
            <a:spLocks/>
          </p:cNvSpPr>
          <p:nvPr userDrawn="1"/>
        </p:nvSpPr>
        <p:spPr>
          <a:xfrm>
            <a:off x="8819066" y="5972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修改内容</a:t>
            </a:r>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9587"/>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4997450" cy="777185"/>
          </a:xfrm>
        </p:spPr>
        <p:txBody>
          <a:bodyPr anchor="b">
            <a:normAutofit/>
          </a:bodyPr>
          <a:lstStyle>
            <a:lvl1pPr algn="l">
              <a:defRPr sz="4800"/>
            </a:lvl1pPr>
          </a:lstStyle>
          <a:p>
            <a:pPr lvl="0"/>
            <a:r>
              <a:rPr lang="en-US" dirty="0"/>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pic>
        <p:nvPicPr>
          <p:cNvPr id="13" name="图片 12" descr="信机logo 拷贝">
            <a:extLst>
              <a:ext uri="{FF2B5EF4-FFF2-40B4-BE49-F238E27FC236}">
                <a16:creationId xmlns:a16="http://schemas.microsoft.com/office/drawing/2014/main" id="{20D1854E-0816-5AA0-3916-0AAFF1F4EBFD}"/>
              </a:ext>
            </a:extLst>
          </p:cNvPr>
          <p:cNvPicPr>
            <a:picLocks noChangeAspect="1"/>
          </p:cNvPicPr>
          <p:nvPr userDrawn="1"/>
        </p:nvPicPr>
        <p:blipFill>
          <a:blip r:embed="rId2"/>
          <a:stretch>
            <a:fillRect/>
          </a:stretch>
        </p:blipFill>
        <p:spPr>
          <a:xfrm>
            <a:off x="0" y="96837"/>
            <a:ext cx="4199890" cy="466725"/>
          </a:xfrm>
          <a:prstGeom prst="rect">
            <a:avLst/>
          </a:prstGeom>
        </p:spPr>
      </p:pic>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6" name="卷形: 水平 15">
            <a:extLst>
              <a:ext uri="{FF2B5EF4-FFF2-40B4-BE49-F238E27FC236}">
                <a16:creationId xmlns:a16="http://schemas.microsoft.com/office/drawing/2014/main" id="{701EFCAD-70CF-9C9D-B629-AEB12B19EFD3}"/>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pic>
        <p:nvPicPr>
          <p:cNvPr id="14" name="图片 13">
            <a:extLst>
              <a:ext uri="{FF2B5EF4-FFF2-40B4-BE49-F238E27FC236}">
                <a16:creationId xmlns:a16="http://schemas.microsoft.com/office/drawing/2014/main" id="{376D4795-D6C4-B8E0-5DDB-8146ADCE0ED8}"/>
              </a:ext>
            </a:extLst>
          </p:cNvPr>
          <p:cNvPicPr>
            <a:picLocks noChangeAspect="1"/>
          </p:cNvPicPr>
          <p:nvPr userDrawn="1"/>
        </p:nvPicPr>
        <p:blipFill>
          <a:blip r:embed="rId2"/>
          <a:stretch>
            <a:fillRect/>
          </a:stretch>
        </p:blipFill>
        <p:spPr>
          <a:xfrm rot="10800000">
            <a:off x="0" y="3631095"/>
            <a:ext cx="12192000" cy="3226903"/>
          </a:xfrm>
          <a:prstGeom prst="rect">
            <a:avLst/>
          </a:prstGeom>
        </p:spPr>
      </p:pic>
      <p:pic>
        <p:nvPicPr>
          <p:cNvPr id="7" name="图片 6" descr="信机logo 拷贝">
            <a:extLst>
              <a:ext uri="{FF2B5EF4-FFF2-40B4-BE49-F238E27FC236}">
                <a16:creationId xmlns:a16="http://schemas.microsoft.com/office/drawing/2014/main" id="{890A77AC-D693-14E4-7CFE-FAAB05D51A18}"/>
              </a:ext>
            </a:extLst>
          </p:cNvPr>
          <p:cNvPicPr>
            <a:picLocks noChangeAspect="1"/>
          </p:cNvPicPr>
          <p:nvPr userDrawn="1"/>
        </p:nvPicPr>
        <p:blipFill>
          <a:blip r:embed="rId3"/>
          <a:stretch>
            <a:fillRect/>
          </a:stretch>
        </p:blipFill>
        <p:spPr>
          <a:xfrm>
            <a:off x="0" y="59731"/>
            <a:ext cx="4199890" cy="466725"/>
          </a:xfrm>
          <a:prstGeom prst="rect">
            <a:avLst/>
          </a:prstGeom>
        </p:spPr>
      </p:pic>
      <p:sp>
        <p:nvSpPr>
          <p:cNvPr id="8" name="标题 1">
            <a:extLst>
              <a:ext uri="{FF2B5EF4-FFF2-40B4-BE49-F238E27FC236}">
                <a16:creationId xmlns:a16="http://schemas.microsoft.com/office/drawing/2014/main" id="{56CEAC37-F38A-FB51-F300-9CE4E52ABD10}"/>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主要界面</a:t>
            </a:r>
          </a:p>
        </p:txBody>
      </p:sp>
      <p:sp>
        <p:nvSpPr>
          <p:cNvPr id="9" name="标题 1">
            <a:extLst>
              <a:ext uri="{FF2B5EF4-FFF2-40B4-BE49-F238E27FC236}">
                <a16:creationId xmlns:a16="http://schemas.microsoft.com/office/drawing/2014/main" id="{1EE6B3DB-A4A5-D2EF-65F5-5D7DF1128414}"/>
              </a:ext>
            </a:extLst>
          </p:cNvPr>
          <p:cNvSpPr txBox="1">
            <a:spLocks/>
          </p:cNvSpPr>
          <p:nvPr userDrawn="1"/>
        </p:nvSpPr>
        <p:spPr>
          <a:xfrm>
            <a:off x="5890438"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主要流程</a:t>
            </a:r>
          </a:p>
        </p:txBody>
      </p:sp>
      <p:sp>
        <p:nvSpPr>
          <p:cNvPr id="10" name="标题 1">
            <a:extLst>
              <a:ext uri="{FF2B5EF4-FFF2-40B4-BE49-F238E27FC236}">
                <a16:creationId xmlns:a16="http://schemas.microsoft.com/office/drawing/2014/main" id="{3E872A2D-F821-5D8B-B193-A63E9AC524D7}"/>
              </a:ext>
            </a:extLst>
          </p:cNvPr>
          <p:cNvSpPr txBox="1">
            <a:spLocks/>
          </p:cNvSpPr>
          <p:nvPr userDrawn="1"/>
        </p:nvSpPr>
        <p:spPr>
          <a:xfrm>
            <a:off x="7542030"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主要功能</a:t>
            </a:r>
          </a:p>
        </p:txBody>
      </p:sp>
      <p:sp>
        <p:nvSpPr>
          <p:cNvPr id="11" name="标题 1">
            <a:extLst>
              <a:ext uri="{FF2B5EF4-FFF2-40B4-BE49-F238E27FC236}">
                <a16:creationId xmlns:a16="http://schemas.microsoft.com/office/drawing/2014/main" id="{1F775D3E-71D0-0632-230C-3B380CE949F6}"/>
              </a:ext>
            </a:extLst>
          </p:cNvPr>
          <p:cNvSpPr txBox="1">
            <a:spLocks/>
          </p:cNvSpPr>
          <p:nvPr userDrawn="1"/>
        </p:nvSpPr>
        <p:spPr>
          <a:xfrm>
            <a:off x="9182985"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参考内容</a:t>
            </a:r>
          </a:p>
        </p:txBody>
      </p:sp>
      <p:sp>
        <p:nvSpPr>
          <p:cNvPr id="17" name="卷形: 水平 16">
            <a:extLst>
              <a:ext uri="{FF2B5EF4-FFF2-40B4-BE49-F238E27FC236}">
                <a16:creationId xmlns:a16="http://schemas.microsoft.com/office/drawing/2014/main" id="{0285A74F-8AF5-6ED9-029E-71414056D7BA}"/>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8" name="标题 1">
            <a:extLst>
              <a:ext uri="{FF2B5EF4-FFF2-40B4-BE49-F238E27FC236}">
                <a16:creationId xmlns:a16="http://schemas.microsoft.com/office/drawing/2014/main" id="{A8C2B28D-1884-8361-96E5-0D45282B36A5}"/>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marL="0" algn="l" defTabSz="914400" rtl="0" eaLnBrk="1" latinLnBrk="0" hangingPunct="1">
              <a:lnSpc>
                <a:spcPct val="100000"/>
              </a:lnSpc>
              <a:spcBef>
                <a:spcPct val="0"/>
              </a:spcBef>
              <a:buNone/>
            </a:pPr>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主要界面</a:t>
            </a:r>
          </a:p>
        </p:txBody>
      </p:sp>
      <p:sp>
        <p:nvSpPr>
          <p:cNvPr id="19" name="标题 1">
            <a:extLst>
              <a:ext uri="{FF2B5EF4-FFF2-40B4-BE49-F238E27FC236}">
                <a16:creationId xmlns:a16="http://schemas.microsoft.com/office/drawing/2014/main" id="{3251CCAA-9BAC-62D7-E99D-5CCEF48AAD1D}"/>
              </a:ext>
            </a:extLst>
          </p:cNvPr>
          <p:cNvSpPr txBox="1">
            <a:spLocks/>
          </p:cNvSpPr>
          <p:nvPr userDrawn="1"/>
        </p:nvSpPr>
        <p:spPr>
          <a:xfrm>
            <a:off x="5765586" y="66224"/>
            <a:ext cx="2140984" cy="525425"/>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algn="l" defTabSz="914400" rtl="0" eaLnBrk="1" latinLnBrk="0" hangingPunct="1">
              <a:lnSpc>
                <a:spcPct val="120000"/>
              </a:lnSpc>
              <a:spcBef>
                <a:spcPct val="0"/>
              </a:spcBef>
              <a:buNone/>
            </a:pPr>
            <a:r>
              <a:rPr lang="zh-CN" altLang="en-US" sz="3000" b="1" kern="1200" dirty="0">
                <a:solidFill>
                  <a:schemeClr val="tx1"/>
                </a:solidFill>
                <a:latin typeface="华文楷体" panose="02010600040101010101" pitchFamily="2" charset="-122"/>
                <a:ea typeface="华文楷体" panose="02010600040101010101" pitchFamily="2" charset="-122"/>
                <a:cs typeface="+mj-cs"/>
              </a:rPr>
              <a:t>主要流程</a:t>
            </a:r>
            <a:endParaRPr lang="zh-CN" altLang="en-US" sz="2800" b="1" kern="1200" dirty="0">
              <a:solidFill>
                <a:schemeClr val="tx1"/>
              </a:solidFill>
              <a:latin typeface="华文楷体" panose="02010600040101010101" pitchFamily="2" charset="-122"/>
              <a:ea typeface="华文楷体" panose="02010600040101010101" pitchFamily="2" charset="-122"/>
              <a:cs typeface="+mj-cs"/>
            </a:endParaRPr>
          </a:p>
        </p:txBody>
      </p:sp>
      <p:sp>
        <p:nvSpPr>
          <p:cNvPr id="20" name="标题 1">
            <a:extLst>
              <a:ext uri="{FF2B5EF4-FFF2-40B4-BE49-F238E27FC236}">
                <a16:creationId xmlns:a16="http://schemas.microsoft.com/office/drawing/2014/main" id="{A4EFA43B-DF81-5EB1-4577-8DC43C009C02}"/>
              </a:ext>
            </a:extLst>
          </p:cNvPr>
          <p:cNvSpPr txBox="1">
            <a:spLocks/>
          </p:cNvSpPr>
          <p:nvPr userDrawn="1"/>
        </p:nvSpPr>
        <p:spPr>
          <a:xfrm>
            <a:off x="7292326"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主要功能</a:t>
            </a:r>
          </a:p>
        </p:txBody>
      </p:sp>
      <p:sp>
        <p:nvSpPr>
          <p:cNvPr id="21" name="标题 1">
            <a:extLst>
              <a:ext uri="{FF2B5EF4-FFF2-40B4-BE49-F238E27FC236}">
                <a16:creationId xmlns:a16="http://schemas.microsoft.com/office/drawing/2014/main" id="{96BC6654-D6A0-F4AE-D4B5-8CCB47A350BB}"/>
              </a:ext>
            </a:extLst>
          </p:cNvPr>
          <p:cNvSpPr txBox="1">
            <a:spLocks/>
          </p:cNvSpPr>
          <p:nvPr userDrawn="1"/>
        </p:nvSpPr>
        <p:spPr>
          <a:xfrm>
            <a:off x="10345806" y="6548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参考文献</a:t>
            </a:r>
          </a:p>
        </p:txBody>
      </p:sp>
      <p:sp>
        <p:nvSpPr>
          <p:cNvPr id="22" name="标题 1">
            <a:extLst>
              <a:ext uri="{FF2B5EF4-FFF2-40B4-BE49-F238E27FC236}">
                <a16:creationId xmlns:a16="http://schemas.microsoft.com/office/drawing/2014/main" id="{DFF41DB5-15A7-8094-F7B5-C04EB5D50B7A}"/>
              </a:ext>
            </a:extLst>
          </p:cNvPr>
          <p:cNvSpPr txBox="1">
            <a:spLocks/>
          </p:cNvSpPr>
          <p:nvPr userDrawn="1"/>
        </p:nvSpPr>
        <p:spPr>
          <a:xfrm>
            <a:off x="8819066" y="5972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修改内容</a:t>
            </a:r>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16" name="卷形: 水平 15">
            <a:extLst>
              <a:ext uri="{FF2B5EF4-FFF2-40B4-BE49-F238E27FC236}">
                <a16:creationId xmlns:a16="http://schemas.microsoft.com/office/drawing/2014/main" id="{F32B0886-D774-5AE0-89A0-FD1102426EA8}"/>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pic>
        <p:nvPicPr>
          <p:cNvPr id="14" name="图片 13">
            <a:extLst>
              <a:ext uri="{FF2B5EF4-FFF2-40B4-BE49-F238E27FC236}">
                <a16:creationId xmlns:a16="http://schemas.microsoft.com/office/drawing/2014/main" id="{376D4795-D6C4-B8E0-5DDB-8146ADCE0ED8}"/>
              </a:ext>
            </a:extLst>
          </p:cNvPr>
          <p:cNvPicPr>
            <a:picLocks noChangeAspect="1"/>
          </p:cNvPicPr>
          <p:nvPr userDrawn="1"/>
        </p:nvPicPr>
        <p:blipFill>
          <a:blip r:embed="rId2"/>
          <a:stretch>
            <a:fillRect/>
          </a:stretch>
        </p:blipFill>
        <p:spPr>
          <a:xfrm rot="10800000">
            <a:off x="0" y="3605755"/>
            <a:ext cx="12192000" cy="3226903"/>
          </a:xfrm>
          <a:prstGeom prst="rect">
            <a:avLst/>
          </a:prstGeom>
        </p:spPr>
      </p:pic>
      <p:pic>
        <p:nvPicPr>
          <p:cNvPr id="9" name="图片 8" descr="信机logo 拷贝">
            <a:extLst>
              <a:ext uri="{FF2B5EF4-FFF2-40B4-BE49-F238E27FC236}">
                <a16:creationId xmlns:a16="http://schemas.microsoft.com/office/drawing/2014/main" id="{AB661D4D-F938-7D88-82A7-B26A82E27A9D}"/>
              </a:ext>
            </a:extLst>
          </p:cNvPr>
          <p:cNvPicPr>
            <a:picLocks noChangeAspect="1"/>
          </p:cNvPicPr>
          <p:nvPr userDrawn="1"/>
        </p:nvPicPr>
        <p:blipFill>
          <a:blip r:embed="rId3"/>
          <a:stretch>
            <a:fillRect/>
          </a:stretch>
        </p:blipFill>
        <p:spPr>
          <a:xfrm>
            <a:off x="-21264" y="25341"/>
            <a:ext cx="4199890" cy="466725"/>
          </a:xfrm>
          <a:prstGeom prst="rect">
            <a:avLst/>
          </a:prstGeom>
        </p:spPr>
      </p:pic>
      <p:sp>
        <p:nvSpPr>
          <p:cNvPr id="10" name="标题 1">
            <a:extLst>
              <a:ext uri="{FF2B5EF4-FFF2-40B4-BE49-F238E27FC236}">
                <a16:creationId xmlns:a16="http://schemas.microsoft.com/office/drawing/2014/main" id="{B9EB1C14-3A50-211F-55E0-5DFBC7C1EED5}"/>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主要界面</a:t>
            </a:r>
          </a:p>
        </p:txBody>
      </p:sp>
      <p:sp>
        <p:nvSpPr>
          <p:cNvPr id="11" name="标题 1">
            <a:extLst>
              <a:ext uri="{FF2B5EF4-FFF2-40B4-BE49-F238E27FC236}">
                <a16:creationId xmlns:a16="http://schemas.microsoft.com/office/drawing/2014/main" id="{0A3EC808-EB52-003E-22C9-8BDA587DBF46}"/>
              </a:ext>
            </a:extLst>
          </p:cNvPr>
          <p:cNvSpPr txBox="1">
            <a:spLocks/>
          </p:cNvSpPr>
          <p:nvPr userDrawn="1"/>
        </p:nvSpPr>
        <p:spPr>
          <a:xfrm>
            <a:off x="5890438"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a:t>主要流程</a:t>
            </a:r>
            <a:endParaRPr lang="zh-CN" altLang="en-US" dirty="0"/>
          </a:p>
        </p:txBody>
      </p:sp>
      <p:sp>
        <p:nvSpPr>
          <p:cNvPr id="12" name="标题 1">
            <a:extLst>
              <a:ext uri="{FF2B5EF4-FFF2-40B4-BE49-F238E27FC236}">
                <a16:creationId xmlns:a16="http://schemas.microsoft.com/office/drawing/2014/main" id="{5D27DC9D-20B8-C393-843B-3D5B8246DAC8}"/>
              </a:ext>
            </a:extLst>
          </p:cNvPr>
          <p:cNvSpPr txBox="1">
            <a:spLocks/>
          </p:cNvSpPr>
          <p:nvPr userDrawn="1"/>
        </p:nvSpPr>
        <p:spPr>
          <a:xfrm>
            <a:off x="7542030"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主要功能</a:t>
            </a:r>
          </a:p>
        </p:txBody>
      </p:sp>
      <p:sp>
        <p:nvSpPr>
          <p:cNvPr id="13" name="标题 1">
            <a:extLst>
              <a:ext uri="{FF2B5EF4-FFF2-40B4-BE49-F238E27FC236}">
                <a16:creationId xmlns:a16="http://schemas.microsoft.com/office/drawing/2014/main" id="{58BED44F-9A1A-C35B-67E1-272B9AF06379}"/>
              </a:ext>
            </a:extLst>
          </p:cNvPr>
          <p:cNvSpPr txBox="1">
            <a:spLocks/>
          </p:cNvSpPr>
          <p:nvPr userDrawn="1"/>
        </p:nvSpPr>
        <p:spPr>
          <a:xfrm>
            <a:off x="9182985"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参考内容</a:t>
            </a:r>
          </a:p>
        </p:txBody>
      </p:sp>
      <p:sp>
        <p:nvSpPr>
          <p:cNvPr id="17" name="卷形: 水平 16">
            <a:extLst>
              <a:ext uri="{FF2B5EF4-FFF2-40B4-BE49-F238E27FC236}">
                <a16:creationId xmlns:a16="http://schemas.microsoft.com/office/drawing/2014/main" id="{85040787-F3E1-B324-A36F-7AC41103FD5D}"/>
              </a:ext>
            </a:extLst>
          </p:cNvPr>
          <p:cNvSpPr/>
          <p:nvPr userDrawn="1"/>
        </p:nvSpPr>
        <p:spPr>
          <a:xfrm>
            <a:off x="4134102" y="10465"/>
            <a:ext cx="8057897" cy="668856"/>
          </a:xfrm>
          <a:prstGeom prst="horizontalScroll">
            <a:avLst/>
          </a:prstGeom>
          <a:gradFill flip="none" rotWithShape="1">
            <a:gsLst>
              <a:gs pos="0">
                <a:schemeClr val="accent1">
                  <a:lumMod val="5000"/>
                  <a:lumOff val="95000"/>
                </a:schemeClr>
              </a:gs>
              <a:gs pos="74000">
                <a:schemeClr val="accent4">
                  <a:lumMod val="20000"/>
                  <a:lumOff val="80000"/>
                </a:schemeClr>
              </a:gs>
              <a:gs pos="83000">
                <a:schemeClr val="accent4">
                  <a:lumMod val="40000"/>
                  <a:lumOff val="60000"/>
                </a:schemeClr>
              </a:gs>
              <a:gs pos="100000">
                <a:schemeClr val="accent4">
                  <a:lumMod val="60000"/>
                  <a:lumOff val="40000"/>
                </a:schemeClr>
              </a:gs>
            </a:gsLst>
            <a:path path="circle">
              <a:fillToRect l="100000" t="100000"/>
            </a:path>
            <a:tileRect r="-100000" b="-100000"/>
          </a:gra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8" name="标题 1">
            <a:extLst>
              <a:ext uri="{FF2B5EF4-FFF2-40B4-BE49-F238E27FC236}">
                <a16:creationId xmlns:a16="http://schemas.microsoft.com/office/drawing/2014/main" id="{C92CE26C-2424-6977-31D1-F52BACF51A95}"/>
              </a:ext>
            </a:extLst>
          </p:cNvPr>
          <p:cNvSpPr txBox="1">
            <a:spLocks/>
          </p:cNvSpPr>
          <p:nvPr userDrawn="1"/>
        </p:nvSpPr>
        <p:spPr>
          <a:xfrm>
            <a:off x="4238846" y="59731"/>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pPr marL="0" algn="l" defTabSz="914400" rtl="0" eaLnBrk="1" latinLnBrk="0" hangingPunct="1">
              <a:lnSpc>
                <a:spcPct val="100000"/>
              </a:lnSpc>
              <a:spcBef>
                <a:spcPct val="0"/>
              </a:spcBef>
              <a:buNone/>
            </a:pPr>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主要界面</a:t>
            </a:r>
          </a:p>
        </p:txBody>
      </p:sp>
      <p:sp>
        <p:nvSpPr>
          <p:cNvPr id="19" name="标题 1">
            <a:extLst>
              <a:ext uri="{FF2B5EF4-FFF2-40B4-BE49-F238E27FC236}">
                <a16:creationId xmlns:a16="http://schemas.microsoft.com/office/drawing/2014/main" id="{A8EA893D-25C0-DACA-766C-807F6AA97C93}"/>
              </a:ext>
            </a:extLst>
          </p:cNvPr>
          <p:cNvSpPr txBox="1">
            <a:spLocks/>
          </p:cNvSpPr>
          <p:nvPr userDrawn="1"/>
        </p:nvSpPr>
        <p:spPr>
          <a:xfrm>
            <a:off x="5765586" y="66224"/>
            <a:ext cx="2140984" cy="525425"/>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algn="l" defTabSz="914400" rtl="0" eaLnBrk="1" latinLnBrk="0" hangingPunct="1">
              <a:lnSpc>
                <a:spcPct val="120000"/>
              </a:lnSpc>
              <a:spcBef>
                <a:spcPct val="0"/>
              </a:spcBef>
              <a:buNone/>
            </a:pPr>
            <a:r>
              <a:rPr lang="zh-CN" altLang="en-US" sz="3000" b="1" kern="1200" dirty="0">
                <a:solidFill>
                  <a:schemeClr val="tx1"/>
                </a:solidFill>
                <a:latin typeface="华文楷体" panose="02010600040101010101" pitchFamily="2" charset="-122"/>
                <a:ea typeface="华文楷体" panose="02010600040101010101" pitchFamily="2" charset="-122"/>
                <a:cs typeface="+mj-cs"/>
              </a:rPr>
              <a:t>主要流程</a:t>
            </a:r>
            <a:endParaRPr lang="zh-CN" altLang="en-US" sz="2800" b="1" kern="1200" dirty="0">
              <a:solidFill>
                <a:schemeClr val="tx1"/>
              </a:solidFill>
              <a:latin typeface="华文楷体" panose="02010600040101010101" pitchFamily="2" charset="-122"/>
              <a:ea typeface="华文楷体" panose="02010600040101010101" pitchFamily="2" charset="-122"/>
              <a:cs typeface="+mj-cs"/>
            </a:endParaRPr>
          </a:p>
        </p:txBody>
      </p:sp>
      <p:sp>
        <p:nvSpPr>
          <p:cNvPr id="20" name="标题 1">
            <a:extLst>
              <a:ext uri="{FF2B5EF4-FFF2-40B4-BE49-F238E27FC236}">
                <a16:creationId xmlns:a16="http://schemas.microsoft.com/office/drawing/2014/main" id="{7AE14187-9B9E-1620-82C7-C97DE21905D0}"/>
              </a:ext>
            </a:extLst>
          </p:cNvPr>
          <p:cNvSpPr txBox="1">
            <a:spLocks/>
          </p:cNvSpPr>
          <p:nvPr userDrawn="1"/>
        </p:nvSpPr>
        <p:spPr>
          <a:xfrm>
            <a:off x="7292326" y="59730"/>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主要功能</a:t>
            </a:r>
          </a:p>
        </p:txBody>
      </p:sp>
      <p:sp>
        <p:nvSpPr>
          <p:cNvPr id="21" name="标题 1">
            <a:extLst>
              <a:ext uri="{FF2B5EF4-FFF2-40B4-BE49-F238E27FC236}">
                <a16:creationId xmlns:a16="http://schemas.microsoft.com/office/drawing/2014/main" id="{19863B59-1303-E506-8653-D81B94DCC7BA}"/>
              </a:ext>
            </a:extLst>
          </p:cNvPr>
          <p:cNvSpPr txBox="1">
            <a:spLocks/>
          </p:cNvSpPr>
          <p:nvPr userDrawn="1"/>
        </p:nvSpPr>
        <p:spPr>
          <a:xfrm>
            <a:off x="10345806" y="6548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参考文献</a:t>
            </a:r>
          </a:p>
        </p:txBody>
      </p:sp>
      <p:sp>
        <p:nvSpPr>
          <p:cNvPr id="22" name="标题 1">
            <a:extLst>
              <a:ext uri="{FF2B5EF4-FFF2-40B4-BE49-F238E27FC236}">
                <a16:creationId xmlns:a16="http://schemas.microsoft.com/office/drawing/2014/main" id="{C0D40525-E014-D8F3-3D5B-4FBD9BAF41B2}"/>
              </a:ext>
            </a:extLst>
          </p:cNvPr>
          <p:cNvSpPr txBox="1">
            <a:spLocks/>
          </p:cNvSpPr>
          <p:nvPr userDrawn="1"/>
        </p:nvSpPr>
        <p:spPr>
          <a:xfrm>
            <a:off x="8819066" y="59729"/>
            <a:ext cx="2140984" cy="525425"/>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2800" b="1" kern="1200" dirty="0">
                <a:solidFill>
                  <a:schemeClr val="tx1"/>
                </a:solidFill>
                <a:latin typeface="华文楷体" panose="02010600040101010101" pitchFamily="2" charset="-122"/>
                <a:ea typeface="华文楷体" panose="02010600040101010101" pitchFamily="2" charset="-122"/>
                <a:cs typeface="+mj-cs"/>
              </a:rPr>
              <a:t>修改内容</a:t>
            </a: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5059777" y="1598033"/>
            <a:ext cx="6533321" cy="1298713"/>
          </a:xfrm>
        </p:spPr>
        <p:txBody>
          <a:bodyPr anchor="b">
            <a:noAutofit/>
            <a:scene3d>
              <a:camera prst="isometricRightUp">
                <a:rot lat="1200000" lon="18899998" rev="0"/>
              </a:camera>
              <a:lightRig rig="threePt" dir="t"/>
            </a:scene3d>
          </a:bodyPr>
          <a:lstStyle>
            <a:lvl1pPr>
              <a:defRPr sz="6000">
                <a:ln>
                  <a:solidFill>
                    <a:schemeClr val="accent3">
                      <a:lumMod val="40000"/>
                      <a:lumOff val="60000"/>
                    </a:schemeClr>
                  </a:solidFill>
                </a:ln>
                <a:solidFill>
                  <a:schemeClr val="bg1"/>
                </a:solidFill>
                <a:effectLst>
                  <a:reflection blurRad="6350" stA="55000" endA="50" endPos="85000" dist="29997" dir="5400000" sy="-100000" algn="bl" rotWithShape="0"/>
                </a:effectLst>
                <a:latin typeface="华文楷体" panose="02010600040101010101" pitchFamily="2" charset="-122"/>
                <a:ea typeface="华文楷体" panose="02010600040101010101" pitchFamily="2" charset="-122"/>
              </a:defRPr>
            </a:lvl1pPr>
          </a:lstStyle>
          <a:p>
            <a:pPr lvl="0"/>
            <a:r>
              <a:rPr lang="en-US" dirty="0"/>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pic>
        <p:nvPicPr>
          <p:cNvPr id="14" name="图片 13" descr="信机logo 拷贝">
            <a:extLst>
              <a:ext uri="{FF2B5EF4-FFF2-40B4-BE49-F238E27FC236}">
                <a16:creationId xmlns:a16="http://schemas.microsoft.com/office/drawing/2014/main" id="{FA53DC54-315C-1248-91EE-895A2D5A4592}"/>
              </a:ext>
            </a:extLst>
          </p:cNvPr>
          <p:cNvPicPr>
            <a:picLocks noChangeAspect="1"/>
          </p:cNvPicPr>
          <p:nvPr userDrawn="1"/>
        </p:nvPicPr>
        <p:blipFill>
          <a:blip r:embed="rId2"/>
          <a:stretch>
            <a:fillRect/>
          </a:stretch>
        </p:blipFill>
        <p:spPr>
          <a:xfrm>
            <a:off x="-28574" y="96837"/>
            <a:ext cx="4199890" cy="466725"/>
          </a:xfrm>
          <a:prstGeom prst="rect">
            <a:avLst/>
          </a:prstGeom>
        </p:spPr>
      </p:pic>
      <p:pic>
        <p:nvPicPr>
          <p:cNvPr id="15" name="图片 14">
            <a:extLst>
              <a:ext uri="{FF2B5EF4-FFF2-40B4-BE49-F238E27FC236}">
                <a16:creationId xmlns:a16="http://schemas.microsoft.com/office/drawing/2014/main" id="{BC566FDA-981A-07DD-21B7-936712812FDE}"/>
              </a:ext>
            </a:extLst>
          </p:cNvPr>
          <p:cNvPicPr>
            <a:picLocks noChangeAspect="1"/>
          </p:cNvPicPr>
          <p:nvPr userDrawn="1"/>
        </p:nvPicPr>
        <p:blipFill>
          <a:blip r:embed="rId3">
            <a:extLst>
              <a:ext uri="{28A0092B-C50C-407E-A947-70E740481C1C}">
                <a14:useLocalDpi xmlns:a14="http://schemas.microsoft.com/office/drawing/2010/main" val="0"/>
              </a:ext>
            </a:extLst>
          </a:blip>
          <a:srcRect l="5246" t="33825" r="7099" b="37240"/>
          <a:stretch>
            <a:fillRect/>
          </a:stretch>
        </p:blipFill>
        <p:spPr>
          <a:xfrm>
            <a:off x="3986748" y="3100867"/>
            <a:ext cx="8286581" cy="3647263"/>
          </a:xfrm>
          <a:prstGeom prst="rect">
            <a:avLst/>
          </a:prstGeom>
        </p:spPr>
      </p:pic>
      <p:pic>
        <p:nvPicPr>
          <p:cNvPr id="16" name="图片 15">
            <a:extLst>
              <a:ext uri="{FF2B5EF4-FFF2-40B4-BE49-F238E27FC236}">
                <a16:creationId xmlns:a16="http://schemas.microsoft.com/office/drawing/2014/main" id="{73509876-B269-FB77-E628-E04698CEE9C6}"/>
              </a:ext>
            </a:extLst>
          </p:cNvPr>
          <p:cNvPicPr>
            <a:picLocks noChangeAspect="1"/>
          </p:cNvPicPr>
          <p:nvPr userDrawn="1"/>
        </p:nvPicPr>
        <p:blipFill>
          <a:blip r:embed="rId4">
            <a:extLst>
              <a:ext uri="{28A0092B-C50C-407E-A947-70E740481C1C}">
                <a14:useLocalDpi xmlns:a14="http://schemas.microsoft.com/office/drawing/2010/main" val="0"/>
              </a:ext>
            </a:extLst>
          </a:blip>
          <a:srcRect l="17863" t="62719" r="19032" b="3976"/>
          <a:stretch>
            <a:fillRect/>
          </a:stretch>
        </p:blipFill>
        <p:spPr>
          <a:xfrm>
            <a:off x="248093" y="659217"/>
            <a:ext cx="3863458" cy="2718730"/>
          </a:xfrm>
          <a:prstGeom prst="rect">
            <a:avLst/>
          </a:prstGeom>
        </p:spPr>
      </p:pic>
      <p:pic>
        <p:nvPicPr>
          <p:cNvPr id="18" name="图片 17">
            <a:extLst>
              <a:ext uri="{FF2B5EF4-FFF2-40B4-BE49-F238E27FC236}">
                <a16:creationId xmlns:a16="http://schemas.microsoft.com/office/drawing/2014/main" id="{2B1E6E2F-B5A0-BBE8-0904-245A284B95D9}"/>
              </a:ext>
            </a:extLst>
          </p:cNvPr>
          <p:cNvPicPr>
            <a:picLocks noChangeAspect="1"/>
          </p:cNvPicPr>
          <p:nvPr userDrawn="1"/>
        </p:nvPicPr>
        <p:blipFill>
          <a:blip r:embed="rId5">
            <a:extLst>
              <a:ext uri="{28A0092B-C50C-407E-A947-70E740481C1C}">
                <a14:useLocalDpi xmlns:a14="http://schemas.microsoft.com/office/drawing/2010/main" val="0"/>
              </a:ext>
            </a:extLst>
          </a:blip>
          <a:srcRect b="59811"/>
          <a:stretch>
            <a:fillRect/>
          </a:stretch>
        </p:blipFill>
        <p:spPr>
          <a:xfrm>
            <a:off x="131350" y="4126438"/>
            <a:ext cx="3880042" cy="2079132"/>
          </a:xfrm>
          <a:prstGeom prst="rect">
            <a:avLst/>
          </a:prstGeom>
        </p:spPr>
      </p:pic>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pic>
        <p:nvPicPr>
          <p:cNvPr id="37" name="图片 36">
            <a:extLst>
              <a:ext uri="{FF2B5EF4-FFF2-40B4-BE49-F238E27FC236}">
                <a16:creationId xmlns:a16="http://schemas.microsoft.com/office/drawing/2014/main" id="{05CB6AB0-B644-D58A-016C-B009928EE1A5}"/>
              </a:ext>
            </a:extLst>
          </p:cNvPr>
          <p:cNvPicPr>
            <a:picLocks noChangeAspect="1"/>
          </p:cNvPicPr>
          <p:nvPr userDrawn="1"/>
        </p:nvPicPr>
        <p:blipFill>
          <a:blip r:embed="rId2"/>
          <a:stretch>
            <a:fillRect/>
          </a:stretch>
        </p:blipFill>
        <p:spPr>
          <a:xfrm>
            <a:off x="5964" y="1"/>
            <a:ext cx="12192000" cy="6857999"/>
          </a:xfrm>
          <a:prstGeom prst="rect">
            <a:avLst/>
          </a:prstGeom>
        </p:spPr>
      </p:pic>
      <p:sp>
        <p:nvSpPr>
          <p:cNvPr id="25" name="标题 1">
            <a:extLst>
              <a:ext uri="{FF2B5EF4-FFF2-40B4-BE49-F238E27FC236}">
                <a16:creationId xmlns:a16="http://schemas.microsoft.com/office/drawing/2014/main" id="{EA0BCA36-B0BC-C709-7CCE-7EE8F0F02A68}"/>
              </a:ext>
            </a:extLst>
          </p:cNvPr>
          <p:cNvSpPr>
            <a:spLocks noGrp="1"/>
          </p:cNvSpPr>
          <p:nvPr>
            <p:ph type="title" hasCustomPrompt="1"/>
          </p:nvPr>
        </p:nvSpPr>
        <p:spPr>
          <a:xfrm>
            <a:off x="5059777" y="1598033"/>
            <a:ext cx="6533321" cy="1298713"/>
          </a:xfrm>
        </p:spPr>
        <p:txBody>
          <a:bodyPr anchor="b">
            <a:noAutofit/>
            <a:scene3d>
              <a:camera prst="isometricRightUp">
                <a:rot lat="1200000" lon="18899998" rev="0"/>
              </a:camera>
              <a:lightRig rig="threePt" dir="t"/>
            </a:scene3d>
          </a:bodyPr>
          <a:lstStyle>
            <a:lvl1pPr>
              <a:defRPr sz="6000">
                <a:ln>
                  <a:solidFill>
                    <a:schemeClr val="accent3">
                      <a:lumMod val="40000"/>
                      <a:lumOff val="60000"/>
                    </a:schemeClr>
                  </a:solidFill>
                </a:ln>
                <a:solidFill>
                  <a:schemeClr val="tx1"/>
                </a:solidFill>
                <a:effectLst>
                  <a:reflection blurRad="6350" stA="55000" endA="50" endPos="85000" dist="29997" dir="5400000" sy="-100000" algn="bl" rotWithShape="0"/>
                </a:effectLst>
                <a:latin typeface="华文楷体" panose="02010600040101010101" pitchFamily="2" charset="-122"/>
                <a:ea typeface="华文楷体" panose="02010600040101010101" pitchFamily="2" charset="-122"/>
              </a:defRPr>
            </a:lvl1pPr>
          </a:lstStyle>
          <a:p>
            <a:pPr lvl="0"/>
            <a:r>
              <a:rPr lang="en-US" dirty="0"/>
              <a:t>Click to add title</a:t>
            </a:r>
          </a:p>
        </p:txBody>
      </p:sp>
      <p:pic>
        <p:nvPicPr>
          <p:cNvPr id="26" name="图片 25" descr="信机logo 拷贝">
            <a:extLst>
              <a:ext uri="{FF2B5EF4-FFF2-40B4-BE49-F238E27FC236}">
                <a16:creationId xmlns:a16="http://schemas.microsoft.com/office/drawing/2014/main" id="{700B2A25-DB38-60AB-A89D-213E7D8C64B1}"/>
              </a:ext>
            </a:extLst>
          </p:cNvPr>
          <p:cNvPicPr>
            <a:picLocks noChangeAspect="1"/>
          </p:cNvPicPr>
          <p:nvPr userDrawn="1"/>
        </p:nvPicPr>
        <p:blipFill>
          <a:blip r:embed="rId3"/>
          <a:stretch>
            <a:fillRect/>
          </a:stretch>
        </p:blipFill>
        <p:spPr>
          <a:xfrm>
            <a:off x="-28574" y="96837"/>
            <a:ext cx="4199890" cy="466725"/>
          </a:xfrm>
          <a:prstGeom prst="rect">
            <a:avLst/>
          </a:prstGeom>
        </p:spPr>
      </p:pic>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pic>
        <p:nvPicPr>
          <p:cNvPr id="12" name="图片 11" descr="信机logo 拷贝">
            <a:extLst>
              <a:ext uri="{FF2B5EF4-FFF2-40B4-BE49-F238E27FC236}">
                <a16:creationId xmlns:a16="http://schemas.microsoft.com/office/drawing/2014/main" id="{95582C4A-3787-0B8C-A8FF-4DDFBE4E918C}"/>
              </a:ext>
            </a:extLst>
          </p:cNvPr>
          <p:cNvPicPr>
            <a:picLocks noChangeAspect="1"/>
          </p:cNvPicPr>
          <p:nvPr userDrawn="1"/>
        </p:nvPicPr>
        <p:blipFill>
          <a:blip r:embed="rId2"/>
          <a:stretch>
            <a:fillRect/>
          </a:stretch>
        </p:blipFill>
        <p:spPr>
          <a:xfrm>
            <a:off x="0" y="96837"/>
            <a:ext cx="4199890" cy="466725"/>
          </a:xfrm>
          <a:prstGeom prst="rect">
            <a:avLst/>
          </a:prstGeom>
        </p:spPr>
      </p:pic>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2025/12/27</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2.xml"/><Relationship Id="rId1" Type="http://schemas.openxmlformats.org/officeDocument/2006/relationships/themeOverride" Target="../theme/themeOverride1.xml"/><Relationship Id="rId5" Type="http://schemas.openxmlformats.org/officeDocument/2006/relationships/image" Target="../media/image6.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7.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3.xml"/><Relationship Id="rId5" Type="http://schemas.openxmlformats.org/officeDocument/2006/relationships/image" Target="../media/image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Layout" Target="../slideLayouts/slideLayout13.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3.xml"/><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2.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4.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3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4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4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4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slideLayout" Target="../slideLayouts/slideLayout2.xml"/><Relationship Id="rId1" Type="http://schemas.openxmlformats.org/officeDocument/2006/relationships/themeOverride" Target="../theme/themeOverride10.xml"/><Relationship Id="rId4"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6.xml.rels><?xml version="1.0" encoding="UTF-8" standalone="yes"?>
<Relationships xmlns="http://schemas.openxmlformats.org/package/2006/relationships"><Relationship Id="rId2" Type="http://schemas.openxmlformats.org/officeDocument/2006/relationships/hyperlink" Target="https://blog.csdn.net/weixin_45433817/article/details/131175862" TargetMode="Externa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0" y="4002239"/>
            <a:ext cx="12191999" cy="744279"/>
          </a:xfrm>
        </p:spPr>
        <p:txBody>
          <a:bodyPr/>
          <a:lstStyle/>
          <a:p>
            <a:pPr lvl="0" algn="ctr"/>
            <a:r>
              <a:rPr lang="zh-CN" altLang="en-US" dirty="0">
                <a:ln>
                  <a:solidFill>
                    <a:schemeClr val="tx1">
                      <a:lumMod val="50000"/>
                    </a:schemeClr>
                  </a:solidFill>
                </a:ln>
                <a:solidFill>
                  <a:schemeClr val="bg1"/>
                </a:solidFill>
              </a:rPr>
              <a:t>主要负责人：王志城 张鑫</a:t>
            </a:r>
            <a:endParaRPr lang="en-US" dirty="0">
              <a:ln>
                <a:solidFill>
                  <a:schemeClr val="tx1">
                    <a:lumMod val="50000"/>
                  </a:schemeClr>
                </a:solidFill>
              </a:ln>
              <a:solidFill>
                <a:schemeClr val="bg1"/>
              </a:solidFill>
            </a:endParaRPr>
          </a:p>
        </p:txBody>
      </p:sp>
      <p:sp>
        <p:nvSpPr>
          <p:cNvPr id="4" name="矩形 3">
            <a:extLst>
              <a:ext uri="{FF2B5EF4-FFF2-40B4-BE49-F238E27FC236}">
                <a16:creationId xmlns:a16="http://schemas.microsoft.com/office/drawing/2014/main" id="{F733B34C-BCE7-BDCF-A401-6F53CCABB6BE}"/>
              </a:ext>
            </a:extLst>
          </p:cNvPr>
          <p:cNvSpPr/>
          <p:nvPr/>
        </p:nvSpPr>
        <p:spPr>
          <a:xfrm>
            <a:off x="-163032" y="2223055"/>
            <a:ext cx="12191999" cy="923330"/>
          </a:xfrm>
          <a:prstGeom prst="rect">
            <a:avLst/>
          </a:prstGeom>
          <a:noFill/>
          <a:effectLst>
            <a:reflection blurRad="6350" stA="50000" endA="300" endPos="55500" dist="50800" dir="5400000" sy="-100000" algn="bl" rotWithShape="0"/>
          </a:effectLst>
        </p:spPr>
        <p:txBody>
          <a:bodyPr wrap="square" lIns="91440" tIns="45720" rIns="91440" bIns="45720">
            <a:spAutoFit/>
          </a:bodyPr>
          <a:lstStyle/>
          <a:p>
            <a:pPr algn="ctr"/>
            <a:r>
              <a:rPr lang="zh-CN" altLang="en-US" sz="5400" b="1" cap="none" spc="0" dirty="0">
                <a:ln w="9525">
                  <a:solidFill>
                    <a:schemeClr val="bg1"/>
                  </a:solidFill>
                  <a:prstDash val="solid"/>
                </a:ln>
                <a:solidFill>
                  <a:schemeClr val="accent5"/>
                </a:solidFill>
                <a:effectLst>
                  <a:glow rad="101600">
                    <a:schemeClr val="bg1">
                      <a:alpha val="60000"/>
                    </a:schemeClr>
                  </a:glow>
                  <a:outerShdw blurRad="12700" dist="38100" dir="2700000" algn="tl" rotWithShape="0">
                    <a:schemeClr val="accent5">
                      <a:lumMod val="60000"/>
                      <a:lumOff val="40000"/>
                    </a:schemeClr>
                  </a:outerShdw>
                </a:effectLst>
              </a:rPr>
              <a:t>基于多种设计模式的扫雷游戏</a:t>
            </a:r>
          </a:p>
        </p:txBody>
      </p:sp>
      <p:sp>
        <p:nvSpPr>
          <p:cNvPr id="2" name="Subtitle 2">
            <a:extLst>
              <a:ext uri="{FF2B5EF4-FFF2-40B4-BE49-F238E27FC236}">
                <a16:creationId xmlns:a16="http://schemas.microsoft.com/office/drawing/2014/main" id="{B34A1847-480C-93AC-0127-D2BF51000880}"/>
              </a:ext>
            </a:extLst>
          </p:cNvPr>
          <p:cNvSpPr txBox="1">
            <a:spLocks/>
          </p:cNvSpPr>
          <p:nvPr/>
        </p:nvSpPr>
        <p:spPr>
          <a:xfrm>
            <a:off x="1" y="5005244"/>
            <a:ext cx="12191999" cy="744279"/>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12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zh-CN" altLang="en-US" dirty="0">
                <a:ln>
                  <a:solidFill>
                    <a:schemeClr val="tx1">
                      <a:lumMod val="50000"/>
                    </a:schemeClr>
                  </a:solidFill>
                </a:ln>
                <a:solidFill>
                  <a:schemeClr val="bg1"/>
                </a:solidFill>
              </a:rPr>
              <a:t>汇报日期：</a:t>
            </a:r>
            <a:r>
              <a:rPr lang="en-US" altLang="zh-CN" dirty="0">
                <a:ln>
                  <a:solidFill>
                    <a:schemeClr val="tx1">
                      <a:lumMod val="50000"/>
                    </a:schemeClr>
                  </a:solidFill>
                </a:ln>
                <a:solidFill>
                  <a:schemeClr val="bg1"/>
                </a:solidFill>
              </a:rPr>
              <a:t>2025.12.31</a:t>
            </a:r>
            <a:endParaRPr lang="en-US" dirty="0">
              <a:ln>
                <a:solidFill>
                  <a:schemeClr val="tx1">
                    <a:lumMod val="50000"/>
                  </a:schemeClr>
                </a:solidFill>
              </a:ln>
              <a:solidFill>
                <a:schemeClr val="bg1"/>
              </a:solidFill>
            </a:endParaRPr>
          </a:p>
        </p:txBody>
      </p:sp>
      <p:pic>
        <p:nvPicPr>
          <p:cNvPr id="14" name="图片 13">
            <a:extLst>
              <a:ext uri="{FF2B5EF4-FFF2-40B4-BE49-F238E27FC236}">
                <a16:creationId xmlns:a16="http://schemas.microsoft.com/office/drawing/2014/main" id="{BCC97B70-274B-752B-93DF-43B45C3195E7}"/>
              </a:ext>
            </a:extLst>
          </p:cNvPr>
          <p:cNvPicPr>
            <a:picLocks noChangeAspect="1"/>
          </p:cNvPicPr>
          <p:nvPr/>
        </p:nvPicPr>
        <p:blipFill>
          <a:blip r:embed="rId3">
            <a:extLst>
              <a:ext uri="{28A0092B-C50C-407E-A947-70E740481C1C}">
                <a14:useLocalDpi xmlns:a14="http://schemas.microsoft.com/office/drawing/2010/main" val="0"/>
              </a:ext>
            </a:extLst>
          </a:blip>
          <a:srcRect l="17863" t="62719" r="19032" b="3976"/>
          <a:stretch>
            <a:fillRect/>
          </a:stretch>
        </p:blipFill>
        <p:spPr>
          <a:xfrm>
            <a:off x="1" y="621413"/>
            <a:ext cx="1538868" cy="1082907"/>
          </a:xfrm>
          <a:prstGeom prst="rect">
            <a:avLst/>
          </a:prstGeom>
        </p:spPr>
      </p:pic>
      <p:pic>
        <p:nvPicPr>
          <p:cNvPr id="15" name="图片 14">
            <a:extLst>
              <a:ext uri="{FF2B5EF4-FFF2-40B4-BE49-F238E27FC236}">
                <a16:creationId xmlns:a16="http://schemas.microsoft.com/office/drawing/2014/main" id="{7CF0874C-E3F0-3BC9-650B-A70C5FD5D002}"/>
              </a:ext>
            </a:extLst>
          </p:cNvPr>
          <p:cNvPicPr>
            <a:picLocks noChangeAspect="1"/>
          </p:cNvPicPr>
          <p:nvPr/>
        </p:nvPicPr>
        <p:blipFill>
          <a:blip r:embed="rId4">
            <a:extLst>
              <a:ext uri="{28A0092B-C50C-407E-A947-70E740481C1C}">
                <a14:useLocalDpi xmlns:a14="http://schemas.microsoft.com/office/drawing/2010/main" val="0"/>
              </a:ext>
            </a:extLst>
          </a:blip>
          <a:srcRect l="5246" t="33825" r="7099" b="37240"/>
          <a:stretch>
            <a:fillRect/>
          </a:stretch>
        </p:blipFill>
        <p:spPr>
          <a:xfrm>
            <a:off x="7311073" y="4710137"/>
            <a:ext cx="4920958" cy="2165915"/>
          </a:xfrm>
          <a:prstGeom prst="rect">
            <a:avLst/>
          </a:prstGeom>
        </p:spPr>
      </p:pic>
      <p:pic>
        <p:nvPicPr>
          <p:cNvPr id="16" name="图片 15">
            <a:extLst>
              <a:ext uri="{FF2B5EF4-FFF2-40B4-BE49-F238E27FC236}">
                <a16:creationId xmlns:a16="http://schemas.microsoft.com/office/drawing/2014/main" id="{2B268DCD-61F0-C58F-A2DD-9362B7971DD6}"/>
              </a:ext>
            </a:extLst>
          </p:cNvPr>
          <p:cNvPicPr>
            <a:picLocks noChangeAspect="1"/>
          </p:cNvPicPr>
          <p:nvPr/>
        </p:nvPicPr>
        <p:blipFill>
          <a:blip r:embed="rId5">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Tree>
    <p:extLst>
      <p:ext uri="{BB962C8B-B14F-4D97-AF65-F5344CB8AC3E}">
        <p14:creationId xmlns:p14="http://schemas.microsoft.com/office/powerpoint/2010/main" val="29939329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p:txBody>
          <a:bodyPr/>
          <a:lstStyle/>
          <a:p>
            <a:fld id="{C8BB1146-E542-4D4E-B8E9-6919A11DDD48}" type="slidenum">
              <a:rPr lang="en-US" smtClean="0"/>
              <a:pPr/>
              <a:t>2</a:t>
            </a:fld>
            <a:endParaRPr lang="en-US"/>
          </a:p>
        </p:txBody>
      </p:sp>
      <p:pic>
        <p:nvPicPr>
          <p:cNvPr id="27" name="图片 26">
            <a:extLst>
              <a:ext uri="{FF2B5EF4-FFF2-40B4-BE49-F238E27FC236}">
                <a16:creationId xmlns:a16="http://schemas.microsoft.com/office/drawing/2014/main" id="{5B286CE4-48E7-30AD-6A72-F497CDEA0A1C}"/>
              </a:ext>
            </a:extLst>
          </p:cNvPr>
          <p:cNvPicPr>
            <a:picLocks noChangeAspect="1"/>
          </p:cNvPicPr>
          <p:nvPr/>
        </p:nvPicPr>
        <p:blipFill>
          <a:blip r:embed="rId2">
            <a:extLst>
              <a:ext uri="{28A0092B-C50C-407E-A947-70E740481C1C}">
                <a14:useLocalDpi xmlns:a14="http://schemas.microsoft.com/office/drawing/2010/main" val="0"/>
              </a:ext>
            </a:extLst>
          </a:blip>
          <a:srcRect l="5246" t="33825" r="7099" b="37240"/>
          <a:stretch>
            <a:fillRect/>
          </a:stretch>
        </p:blipFill>
        <p:spPr>
          <a:xfrm>
            <a:off x="3986748" y="3100867"/>
            <a:ext cx="8286581" cy="3647263"/>
          </a:xfrm>
          <a:prstGeom prst="rect">
            <a:avLst/>
          </a:prstGeom>
        </p:spPr>
      </p:pic>
      <p:pic>
        <p:nvPicPr>
          <p:cNvPr id="28" name="图片 27">
            <a:extLst>
              <a:ext uri="{FF2B5EF4-FFF2-40B4-BE49-F238E27FC236}">
                <a16:creationId xmlns:a16="http://schemas.microsoft.com/office/drawing/2014/main" id="{BAA878DF-DB33-4AED-D732-DFC86CCF21B2}"/>
              </a:ext>
            </a:extLst>
          </p:cNvPr>
          <p:cNvPicPr>
            <a:picLocks noChangeAspect="1"/>
          </p:cNvPicPr>
          <p:nvPr/>
        </p:nvPicPr>
        <p:blipFill>
          <a:blip r:embed="rId3">
            <a:extLst>
              <a:ext uri="{28A0092B-C50C-407E-A947-70E740481C1C}">
                <a14:useLocalDpi xmlns:a14="http://schemas.microsoft.com/office/drawing/2010/main" val="0"/>
              </a:ext>
            </a:extLst>
          </a:blip>
          <a:srcRect l="17863" t="62719" r="19032" b="3976"/>
          <a:stretch>
            <a:fillRect/>
          </a:stretch>
        </p:blipFill>
        <p:spPr>
          <a:xfrm>
            <a:off x="248093" y="659217"/>
            <a:ext cx="3863458" cy="2718730"/>
          </a:xfrm>
          <a:prstGeom prst="rect">
            <a:avLst/>
          </a:prstGeom>
        </p:spPr>
      </p:pic>
      <p:pic>
        <p:nvPicPr>
          <p:cNvPr id="29" name="图片 28">
            <a:extLst>
              <a:ext uri="{FF2B5EF4-FFF2-40B4-BE49-F238E27FC236}">
                <a16:creationId xmlns:a16="http://schemas.microsoft.com/office/drawing/2014/main" id="{989C0806-4B98-7194-9469-385182DCE315}"/>
              </a:ext>
            </a:extLst>
          </p:cNvPr>
          <p:cNvPicPr>
            <a:picLocks noChangeAspect="1"/>
          </p:cNvPicPr>
          <p:nvPr/>
        </p:nvPicPr>
        <p:blipFill>
          <a:blip r:embed="rId4">
            <a:extLst>
              <a:ext uri="{28A0092B-C50C-407E-A947-70E740481C1C}">
                <a14:useLocalDpi xmlns:a14="http://schemas.microsoft.com/office/drawing/2010/main" val="0"/>
              </a:ext>
            </a:extLst>
          </a:blip>
          <a:srcRect b="59811"/>
          <a:stretch>
            <a:fillRect/>
          </a:stretch>
        </p:blipFill>
        <p:spPr>
          <a:xfrm>
            <a:off x="131350" y="4126438"/>
            <a:ext cx="3880042" cy="2079132"/>
          </a:xfrm>
          <a:prstGeom prst="rect">
            <a:avLst/>
          </a:prstGeom>
        </p:spPr>
      </p:pic>
      <p:sp>
        <p:nvSpPr>
          <p:cNvPr id="19" name="Title 1">
            <a:extLst>
              <a:ext uri="{FF2B5EF4-FFF2-40B4-BE49-F238E27FC236}">
                <a16:creationId xmlns:a16="http://schemas.microsoft.com/office/drawing/2014/main" id="{C25E2A00-28E2-9365-CCEB-E1A395705518}"/>
              </a:ext>
            </a:extLst>
          </p:cNvPr>
          <p:cNvSpPr>
            <a:spLocks noGrp="1"/>
          </p:cNvSpPr>
          <p:nvPr>
            <p:ph type="title"/>
          </p:nvPr>
        </p:nvSpPr>
        <p:spPr>
          <a:xfrm>
            <a:off x="4339470" y="260467"/>
            <a:ext cx="7481962" cy="2631416"/>
          </a:xfrm>
        </p:spPr>
        <p:txBody>
          <a:bodyPr/>
          <a:lstStyle/>
          <a:p>
            <a:pPr lvl="0"/>
            <a:r>
              <a:rPr lang="zh-CN" altLang="en-US" sz="13800" dirty="0"/>
              <a:t>主要界面</a:t>
            </a:r>
            <a:endParaRPr lang="en-US" sz="13800" dirty="0"/>
          </a:p>
        </p:txBody>
      </p:sp>
    </p:spTree>
    <p:extLst>
      <p:ext uri="{BB962C8B-B14F-4D97-AF65-F5344CB8AC3E}">
        <p14:creationId xmlns:p14="http://schemas.microsoft.com/office/powerpoint/2010/main" val="37668343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6360A07D-6122-7D63-CA0F-FCFE0B7D5536}"/>
              </a:ext>
            </a:extLst>
          </p:cNvPr>
          <p:cNvSpPr txBox="1"/>
          <p:nvPr/>
        </p:nvSpPr>
        <p:spPr>
          <a:xfrm>
            <a:off x="4653073" y="743328"/>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开始界面</a:t>
            </a:r>
          </a:p>
        </p:txBody>
      </p:sp>
      <p:pic>
        <p:nvPicPr>
          <p:cNvPr id="4" name="图片 3">
            <a:extLst>
              <a:ext uri="{FF2B5EF4-FFF2-40B4-BE49-F238E27FC236}">
                <a16:creationId xmlns:a16="http://schemas.microsoft.com/office/drawing/2014/main" id="{D9C382C1-3176-78C3-112C-01AF0F777E7C}"/>
              </a:ext>
            </a:extLst>
          </p:cNvPr>
          <p:cNvPicPr>
            <a:picLocks noChangeAspect="1"/>
          </p:cNvPicPr>
          <p:nvPr/>
        </p:nvPicPr>
        <p:blipFill>
          <a:blip r:embed="rId2">
            <a:alphaModFix amt="82000"/>
          </a:blip>
          <a:stretch>
            <a:fillRect/>
          </a:stretch>
        </p:blipFill>
        <p:spPr>
          <a:xfrm>
            <a:off x="206812" y="1080760"/>
            <a:ext cx="4267796" cy="4696480"/>
          </a:xfrm>
          <a:prstGeom prst="rect">
            <a:avLst/>
          </a:prstGeom>
          <a:noFill/>
        </p:spPr>
      </p:pic>
      <p:sp>
        <p:nvSpPr>
          <p:cNvPr id="8" name="标题 1">
            <a:extLst>
              <a:ext uri="{FF2B5EF4-FFF2-40B4-BE49-F238E27FC236}">
                <a16:creationId xmlns:a16="http://schemas.microsoft.com/office/drawing/2014/main" id="{4D138CAF-EA49-FA0D-8654-179A5DF495A5}"/>
              </a:ext>
            </a:extLst>
          </p:cNvPr>
          <p:cNvSpPr>
            <a:spLocks noGrp="1"/>
          </p:cNvSpPr>
          <p:nvPr>
            <p:ph type="title"/>
          </p:nvPr>
        </p:nvSpPr>
        <p:spPr>
          <a:xfrm>
            <a:off x="4238846" y="59731"/>
            <a:ext cx="2140984" cy="525425"/>
          </a:xfrm>
        </p:spPr>
        <p:txBody>
          <a:bodyPr/>
          <a:lstStyle/>
          <a:p>
            <a:r>
              <a:rPr lang="zh-CN" altLang="en-US" dirty="0"/>
              <a:t>主要界面</a:t>
            </a:r>
          </a:p>
        </p:txBody>
      </p:sp>
      <p:sp>
        <p:nvSpPr>
          <p:cNvPr id="15" name="矩形 14">
            <a:extLst>
              <a:ext uri="{FF2B5EF4-FFF2-40B4-BE49-F238E27FC236}">
                <a16:creationId xmlns:a16="http://schemas.microsoft.com/office/drawing/2014/main" id="{49DB5677-F319-8AFE-D680-0CFD13EDEBC3}"/>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a:extLst>
              <a:ext uri="{FF2B5EF4-FFF2-40B4-BE49-F238E27FC236}">
                <a16:creationId xmlns:a16="http://schemas.microsoft.com/office/drawing/2014/main" id="{55AD2758-4B50-3540-AB47-2BBF51482DCF}"/>
              </a:ext>
            </a:extLst>
          </p:cNvPr>
          <p:cNvSpPr txBox="1"/>
          <p:nvPr/>
        </p:nvSpPr>
        <p:spPr>
          <a:xfrm>
            <a:off x="4474608" y="1325248"/>
            <a:ext cx="8111401" cy="4801314"/>
          </a:xfrm>
          <a:prstGeom prst="rect">
            <a:avLst/>
          </a:prstGeom>
          <a:noFill/>
        </p:spPr>
        <p:txBody>
          <a:bodyPr wrap="square" rtlCol="0">
            <a:spAutoFit/>
          </a:bodyPr>
          <a:lstStyle/>
          <a:p>
            <a:r>
              <a:rPr lang="zh-CN" altLang="en-US" dirty="0"/>
              <a:t>这是</a:t>
            </a:r>
            <a:r>
              <a:rPr lang="zh-CN" altLang="en-US" b="1" dirty="0"/>
              <a:t>扫雷游戏的配置界面</a:t>
            </a:r>
            <a:r>
              <a:rPr lang="zh-CN" altLang="en-US" dirty="0"/>
              <a:t>，用户可以在开始游戏前选择难度、</a:t>
            </a:r>
            <a:endParaRPr lang="en-US" altLang="zh-CN" dirty="0"/>
          </a:p>
          <a:p>
            <a:r>
              <a:rPr lang="zh-CN" altLang="en-US" dirty="0"/>
              <a:t>自定义棋盘、设置音乐，并查看历史最佳成绩。</a:t>
            </a:r>
            <a:endParaRPr lang="en-US" altLang="zh-CN" dirty="0"/>
          </a:p>
          <a:p>
            <a:endParaRPr lang="en-US" altLang="zh-CN" dirty="0"/>
          </a:p>
          <a:p>
            <a:r>
              <a:rPr lang="zh-CN" altLang="en-US" b="1" dirty="0">
                <a:latin typeface="+mn-ea"/>
              </a:rPr>
              <a:t>🎮 游戏难度选择</a:t>
            </a:r>
          </a:p>
          <a:p>
            <a:r>
              <a:rPr lang="zh-CN" altLang="en-US" dirty="0">
                <a:latin typeface="+mn-ea"/>
              </a:rPr>
              <a:t>用户可以选择四种不同的游戏难度：</a:t>
            </a:r>
          </a:p>
          <a:p>
            <a:r>
              <a:rPr lang="zh-CN" altLang="en-US" b="1" dirty="0">
                <a:latin typeface="+mn-ea"/>
              </a:rPr>
              <a:t>新手</a:t>
            </a:r>
            <a:r>
              <a:rPr lang="en-US" altLang="zh-CN" dirty="0">
                <a:latin typeface="+mn-ea"/>
              </a:rPr>
              <a:t>   </a:t>
            </a:r>
            <a:r>
              <a:rPr lang="zh-CN" altLang="en-US" b="1" dirty="0">
                <a:latin typeface="+mn-ea"/>
              </a:rPr>
              <a:t>中级   高级  自定义</a:t>
            </a:r>
            <a:br>
              <a:rPr lang="zh-CN" altLang="en-US" dirty="0">
                <a:latin typeface="+mn-ea"/>
              </a:rPr>
            </a:br>
            <a:endParaRPr lang="zh-CN" altLang="en-US" dirty="0">
              <a:latin typeface="+mn-ea"/>
            </a:endParaRPr>
          </a:p>
          <a:p>
            <a:r>
              <a:rPr lang="zh-CN" altLang="en-US" b="1" dirty="0">
                <a:latin typeface="+mn-ea"/>
              </a:rPr>
              <a:t>🎵 背景音乐与音效设置</a:t>
            </a:r>
          </a:p>
          <a:p>
            <a:r>
              <a:rPr lang="zh-CN" altLang="en-US" dirty="0">
                <a:latin typeface="+mn-ea"/>
              </a:rPr>
              <a:t>可选择是否播放背景音乐，并支持</a:t>
            </a:r>
            <a:r>
              <a:rPr lang="zh-CN" altLang="en-US" b="1" dirty="0">
                <a:latin typeface="+mn-ea"/>
              </a:rPr>
              <a:t>随机播放，</a:t>
            </a:r>
            <a:r>
              <a:rPr lang="zh-CN" altLang="en-US" dirty="0">
                <a:latin typeface="+mn-ea"/>
              </a:rPr>
              <a:t>可调整</a:t>
            </a:r>
            <a:r>
              <a:rPr lang="zh-CN" altLang="en-US" b="1" dirty="0">
                <a:latin typeface="+mn-ea"/>
              </a:rPr>
              <a:t>音量</a:t>
            </a:r>
            <a:br>
              <a:rPr lang="zh-CN" altLang="en-US" dirty="0">
                <a:latin typeface="+mn-ea"/>
              </a:rPr>
            </a:br>
            <a:endParaRPr lang="zh-CN" altLang="en-US" dirty="0">
              <a:latin typeface="+mn-ea"/>
            </a:endParaRPr>
          </a:p>
          <a:p>
            <a:r>
              <a:rPr lang="zh-CN" altLang="en-US" b="1" dirty="0">
                <a:latin typeface="+mn-ea"/>
              </a:rPr>
              <a:t>🏆 最佳记录（高级难度）</a:t>
            </a:r>
          </a:p>
          <a:p>
            <a:r>
              <a:rPr lang="zh-CN" altLang="en-US" dirty="0">
                <a:latin typeface="+mn-ea"/>
              </a:rPr>
              <a:t>用于展示不通难度下的最佳游戏记录，完成游戏所用的时间（精确到毫秒）：</a:t>
            </a:r>
          </a:p>
          <a:p>
            <a:r>
              <a:rPr lang="en-US" altLang="zh-CN" dirty="0">
                <a:latin typeface="+mn-ea"/>
              </a:rPr>
              <a:t>4 </a:t>
            </a:r>
            <a:r>
              <a:rPr lang="zh-CN" altLang="en-US" dirty="0">
                <a:latin typeface="+mn-ea"/>
              </a:rPr>
              <a:t>分 </a:t>
            </a:r>
            <a:r>
              <a:rPr lang="en-US" altLang="zh-CN" dirty="0">
                <a:latin typeface="+mn-ea"/>
              </a:rPr>
              <a:t>59 </a:t>
            </a:r>
            <a:r>
              <a:rPr lang="zh-CN" altLang="en-US" dirty="0">
                <a:latin typeface="+mn-ea"/>
              </a:rPr>
              <a:t>秒 </a:t>
            </a:r>
            <a:r>
              <a:rPr lang="en-US" altLang="zh-CN" dirty="0">
                <a:latin typeface="+mn-ea"/>
              </a:rPr>
              <a:t>938 </a:t>
            </a:r>
            <a:r>
              <a:rPr lang="zh-CN" altLang="en-US" dirty="0">
                <a:latin typeface="+mn-ea"/>
              </a:rPr>
              <a:t>毫秒</a:t>
            </a:r>
          </a:p>
          <a:p>
            <a:r>
              <a:rPr lang="en-US" altLang="zh-CN" dirty="0">
                <a:latin typeface="+mn-ea"/>
              </a:rPr>
              <a:t>6 </a:t>
            </a:r>
            <a:r>
              <a:rPr lang="zh-CN" altLang="en-US" dirty="0">
                <a:latin typeface="+mn-ea"/>
              </a:rPr>
              <a:t>分 </a:t>
            </a:r>
            <a:r>
              <a:rPr lang="en-US" altLang="zh-CN" dirty="0">
                <a:latin typeface="+mn-ea"/>
              </a:rPr>
              <a:t>7 </a:t>
            </a:r>
            <a:r>
              <a:rPr lang="zh-CN" altLang="en-US" dirty="0">
                <a:latin typeface="+mn-ea"/>
              </a:rPr>
              <a:t>秒 </a:t>
            </a:r>
            <a:r>
              <a:rPr lang="en-US" altLang="zh-CN" dirty="0">
                <a:latin typeface="+mn-ea"/>
              </a:rPr>
              <a:t>120 </a:t>
            </a:r>
            <a:r>
              <a:rPr lang="zh-CN" altLang="en-US" dirty="0">
                <a:latin typeface="+mn-ea"/>
              </a:rPr>
              <a:t>毫秒</a:t>
            </a:r>
          </a:p>
          <a:p>
            <a:r>
              <a:rPr lang="en-US" altLang="zh-CN" dirty="0">
                <a:latin typeface="+mn-ea"/>
              </a:rPr>
              <a:t>6 </a:t>
            </a:r>
            <a:r>
              <a:rPr lang="zh-CN" altLang="en-US" dirty="0">
                <a:latin typeface="+mn-ea"/>
              </a:rPr>
              <a:t>分 </a:t>
            </a:r>
            <a:r>
              <a:rPr lang="en-US" altLang="zh-CN" dirty="0">
                <a:latin typeface="+mn-ea"/>
              </a:rPr>
              <a:t>13 </a:t>
            </a:r>
            <a:r>
              <a:rPr lang="zh-CN" altLang="en-US" dirty="0">
                <a:latin typeface="+mn-ea"/>
              </a:rPr>
              <a:t>秒 </a:t>
            </a:r>
            <a:r>
              <a:rPr lang="en-US" altLang="zh-CN" dirty="0">
                <a:latin typeface="+mn-ea"/>
              </a:rPr>
              <a:t>470 </a:t>
            </a:r>
            <a:r>
              <a:rPr lang="zh-CN" altLang="en-US" dirty="0">
                <a:latin typeface="+mn-ea"/>
              </a:rPr>
              <a:t>毫秒</a:t>
            </a:r>
          </a:p>
          <a:p>
            <a:r>
              <a:rPr lang="en-US" altLang="zh-CN" dirty="0">
                <a:latin typeface="+mn-ea"/>
              </a:rPr>
              <a:t>6 </a:t>
            </a:r>
            <a:r>
              <a:rPr lang="zh-CN" altLang="en-US" dirty="0">
                <a:latin typeface="+mn-ea"/>
              </a:rPr>
              <a:t>分 </a:t>
            </a:r>
            <a:r>
              <a:rPr lang="en-US" altLang="zh-CN" dirty="0">
                <a:latin typeface="+mn-ea"/>
              </a:rPr>
              <a:t>34 </a:t>
            </a:r>
            <a:r>
              <a:rPr lang="zh-CN" altLang="en-US" dirty="0">
                <a:latin typeface="+mn-ea"/>
              </a:rPr>
              <a:t>秒 </a:t>
            </a:r>
            <a:r>
              <a:rPr lang="en-US" altLang="zh-CN" dirty="0">
                <a:latin typeface="+mn-ea"/>
              </a:rPr>
              <a:t>627 </a:t>
            </a:r>
            <a:r>
              <a:rPr lang="zh-CN" altLang="en-US" dirty="0">
                <a:latin typeface="+mn-ea"/>
              </a:rPr>
              <a:t>毫秒</a:t>
            </a:r>
          </a:p>
          <a:p>
            <a:endParaRPr lang="zh-CN" altLang="en-US" dirty="0">
              <a:latin typeface="+mn-ea"/>
            </a:endParaRPr>
          </a:p>
        </p:txBody>
      </p:sp>
    </p:spTree>
    <p:extLst>
      <p:ext uri="{BB962C8B-B14F-4D97-AF65-F5344CB8AC3E}">
        <p14:creationId xmlns:p14="http://schemas.microsoft.com/office/powerpoint/2010/main" val="2992047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E9CC1-DB6B-8C39-DD1C-0FEEC77EDF03}"/>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F7046CD7-D195-6CE8-B62D-66A782FBBD6A}"/>
              </a:ext>
            </a:extLst>
          </p:cNvPr>
          <p:cNvSpPr txBox="1"/>
          <p:nvPr/>
        </p:nvSpPr>
        <p:spPr>
          <a:xfrm>
            <a:off x="7021150" y="1316668"/>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游戏界面</a:t>
            </a:r>
          </a:p>
        </p:txBody>
      </p:sp>
      <p:pic>
        <p:nvPicPr>
          <p:cNvPr id="6" name="图片 5">
            <a:extLst>
              <a:ext uri="{FF2B5EF4-FFF2-40B4-BE49-F238E27FC236}">
                <a16:creationId xmlns:a16="http://schemas.microsoft.com/office/drawing/2014/main" id="{C8E4B737-2BC2-7583-6C88-3D2CE6126508}"/>
              </a:ext>
            </a:extLst>
          </p:cNvPr>
          <p:cNvPicPr>
            <a:picLocks noChangeAspect="1"/>
          </p:cNvPicPr>
          <p:nvPr/>
        </p:nvPicPr>
        <p:blipFill>
          <a:blip r:embed="rId2">
            <a:alphaModFix amt="82000"/>
          </a:blip>
          <a:stretch>
            <a:fillRect/>
          </a:stretch>
        </p:blipFill>
        <p:spPr>
          <a:xfrm>
            <a:off x="644980" y="971882"/>
            <a:ext cx="5734850" cy="5191850"/>
          </a:xfrm>
          <a:prstGeom prst="rect">
            <a:avLst/>
          </a:prstGeom>
        </p:spPr>
      </p:pic>
      <p:sp>
        <p:nvSpPr>
          <p:cNvPr id="8" name="标题 1">
            <a:extLst>
              <a:ext uri="{FF2B5EF4-FFF2-40B4-BE49-F238E27FC236}">
                <a16:creationId xmlns:a16="http://schemas.microsoft.com/office/drawing/2014/main" id="{202F4C0F-64AE-A697-192A-2B2C88C9A4E2}"/>
              </a:ext>
            </a:extLst>
          </p:cNvPr>
          <p:cNvSpPr>
            <a:spLocks noGrp="1"/>
          </p:cNvSpPr>
          <p:nvPr>
            <p:ph type="title"/>
          </p:nvPr>
        </p:nvSpPr>
        <p:spPr>
          <a:xfrm>
            <a:off x="4238846" y="59731"/>
            <a:ext cx="2140984" cy="525425"/>
          </a:xfrm>
        </p:spPr>
        <p:txBody>
          <a:bodyPr/>
          <a:lstStyle/>
          <a:p>
            <a:r>
              <a:rPr lang="zh-CN" altLang="en-US" dirty="0"/>
              <a:t>主要界面</a:t>
            </a:r>
          </a:p>
        </p:txBody>
      </p:sp>
      <p:sp>
        <p:nvSpPr>
          <p:cNvPr id="15" name="矩形 14">
            <a:extLst>
              <a:ext uri="{FF2B5EF4-FFF2-40B4-BE49-F238E27FC236}">
                <a16:creationId xmlns:a16="http://schemas.microsoft.com/office/drawing/2014/main" id="{DCF5F448-03A7-8D3D-17C3-DA356AC101BA}"/>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655F6FEB-A4B0-DFA3-BFAD-60792285F18C}"/>
              </a:ext>
            </a:extLst>
          </p:cNvPr>
          <p:cNvSpPr txBox="1"/>
          <p:nvPr/>
        </p:nvSpPr>
        <p:spPr>
          <a:xfrm>
            <a:off x="7121912" y="2282283"/>
            <a:ext cx="4690947" cy="3970318"/>
          </a:xfrm>
          <a:prstGeom prst="rect">
            <a:avLst/>
          </a:prstGeom>
          <a:noFill/>
        </p:spPr>
        <p:txBody>
          <a:bodyPr wrap="square" rtlCol="0">
            <a:spAutoFit/>
          </a:bodyPr>
          <a:lstStyle/>
          <a:p>
            <a:r>
              <a:rPr lang="zh-CN" altLang="en-US" b="1" dirty="0"/>
              <a:t>🎮 界面元素说明：</a:t>
            </a:r>
            <a:endParaRPr lang="en-US" altLang="zh-CN" b="1" dirty="0"/>
          </a:p>
          <a:p>
            <a:endParaRPr lang="zh-CN" altLang="en-US" b="1" dirty="0"/>
          </a:p>
          <a:p>
            <a:r>
              <a:rPr lang="zh-CN" altLang="en-US" b="1" dirty="0"/>
              <a:t>标题</a:t>
            </a:r>
            <a:br>
              <a:rPr lang="zh-CN" altLang="en-US" dirty="0"/>
            </a:br>
            <a:r>
              <a:rPr lang="zh-CN" altLang="en-US" dirty="0"/>
              <a:t>顶部显示“</a:t>
            </a:r>
            <a:r>
              <a:rPr lang="zh-CN" altLang="en-US" b="1" dirty="0"/>
              <a:t>扫雷</a:t>
            </a:r>
            <a:r>
              <a:rPr lang="zh-CN" altLang="en-US" dirty="0"/>
              <a:t>”标题</a:t>
            </a:r>
            <a:endParaRPr lang="en-US" altLang="zh-CN" dirty="0"/>
          </a:p>
          <a:p>
            <a:endParaRPr lang="zh-CN" altLang="en-US" dirty="0"/>
          </a:p>
          <a:p>
            <a:r>
              <a:rPr lang="zh-CN" altLang="en-US" b="1" dirty="0"/>
              <a:t>音乐控制按钮</a:t>
            </a:r>
            <a:br>
              <a:rPr lang="zh-CN" altLang="en-US" dirty="0"/>
            </a:br>
            <a:r>
              <a:rPr lang="zh-CN" altLang="en-US" dirty="0"/>
              <a:t>界面上有两个明显的控制按钮：</a:t>
            </a:r>
          </a:p>
          <a:p>
            <a:pPr lvl="1"/>
            <a:r>
              <a:rPr lang="zh-CN" altLang="en-US" b="1" dirty="0"/>
              <a:t>播放</a:t>
            </a:r>
            <a:r>
              <a:rPr lang="zh-CN" altLang="en-US" dirty="0"/>
              <a:t>：用于播放背景音乐</a:t>
            </a:r>
          </a:p>
          <a:p>
            <a:pPr lvl="1"/>
            <a:r>
              <a:rPr lang="zh-CN" altLang="en-US" b="1" dirty="0"/>
              <a:t>下一首</a:t>
            </a:r>
            <a:r>
              <a:rPr lang="zh-CN" altLang="en-US" dirty="0"/>
              <a:t>：用于切换下一首背景音乐</a:t>
            </a:r>
            <a:endParaRPr lang="en-US" altLang="zh-CN" dirty="0"/>
          </a:p>
          <a:p>
            <a:pPr lvl="1"/>
            <a:endParaRPr lang="zh-CN" altLang="en-US" dirty="0"/>
          </a:p>
          <a:p>
            <a:r>
              <a:rPr lang="zh-CN" altLang="en-US" dirty="0"/>
              <a:t>游戏</a:t>
            </a:r>
            <a:r>
              <a:rPr lang="zh-CN" altLang="en-US" b="1" dirty="0"/>
              <a:t>支持背景音乐的播放与切换</a:t>
            </a:r>
            <a:r>
              <a:rPr lang="zh-CN" altLang="en-US" dirty="0"/>
              <a:t>，玩家可以在游戏过程中控制音乐。</a:t>
            </a:r>
          </a:p>
          <a:p>
            <a:br>
              <a:rPr lang="zh-CN" altLang="en-US" dirty="0"/>
            </a:br>
            <a:endParaRPr lang="zh-CN" altLang="en-US" dirty="0"/>
          </a:p>
        </p:txBody>
      </p:sp>
    </p:spTree>
    <p:extLst>
      <p:ext uri="{BB962C8B-B14F-4D97-AF65-F5344CB8AC3E}">
        <p14:creationId xmlns:p14="http://schemas.microsoft.com/office/powerpoint/2010/main" val="265693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2">
            <a:alphaModFix amt="82000"/>
          </a:blip>
          <a:stretch>
            <a:fillRect/>
          </a:stretch>
        </p:blipFill>
        <p:spPr>
          <a:xfrm>
            <a:off x="340844" y="1073820"/>
            <a:ext cx="4573127" cy="4614955"/>
          </a:xfrm>
          <a:prstGeom prst="rect">
            <a:avLst/>
          </a:prstGeom>
        </p:spPr>
      </p:pic>
      <p:sp>
        <p:nvSpPr>
          <p:cNvPr id="12" name="文本框 11">
            <a:extLst>
              <a:ext uri="{FF2B5EF4-FFF2-40B4-BE49-F238E27FC236}">
                <a16:creationId xmlns:a16="http://schemas.microsoft.com/office/drawing/2014/main" id="{8702486A-33DF-F26B-701D-18FCB0124C42}"/>
              </a:ext>
            </a:extLst>
          </p:cNvPr>
          <p:cNvSpPr txBox="1"/>
          <p:nvPr/>
        </p:nvSpPr>
        <p:spPr>
          <a:xfrm>
            <a:off x="5783766" y="866280"/>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失败界面</a:t>
            </a:r>
          </a:p>
        </p:txBody>
      </p:sp>
      <p:sp>
        <p:nvSpPr>
          <p:cNvPr id="6" name="矩形 5">
            <a:extLst>
              <a:ext uri="{FF2B5EF4-FFF2-40B4-BE49-F238E27FC236}">
                <a16:creationId xmlns:a16="http://schemas.microsoft.com/office/drawing/2014/main" id="{A40C4550-2150-66DB-5D4C-D0FE40C9EF48}"/>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2FA276EF-69DA-8CDA-C8E0-88EEC48A020B}"/>
              </a:ext>
            </a:extLst>
          </p:cNvPr>
          <p:cNvSpPr txBox="1"/>
          <p:nvPr/>
        </p:nvSpPr>
        <p:spPr>
          <a:xfrm>
            <a:off x="5783766" y="1684034"/>
            <a:ext cx="6498355" cy="3693319"/>
          </a:xfrm>
          <a:prstGeom prst="rect">
            <a:avLst/>
          </a:prstGeom>
          <a:noFill/>
        </p:spPr>
        <p:txBody>
          <a:bodyPr wrap="square" rtlCol="0">
            <a:spAutoFit/>
          </a:bodyPr>
          <a:lstStyle/>
          <a:p>
            <a:r>
              <a:rPr lang="zh-CN" altLang="en-US" b="1" dirty="0"/>
              <a:t>🎮 界面内容说明</a:t>
            </a:r>
            <a:endParaRPr lang="en-US" altLang="zh-CN" b="1" dirty="0"/>
          </a:p>
          <a:p>
            <a:endParaRPr lang="zh-CN" altLang="en-US" dirty="0"/>
          </a:p>
          <a:p>
            <a:r>
              <a:rPr lang="zh-CN" altLang="en-US" b="1" dirty="0"/>
              <a:t>游戏成绩</a:t>
            </a:r>
            <a:br>
              <a:rPr lang="zh-CN" altLang="en-US" dirty="0"/>
            </a:br>
            <a:r>
              <a:rPr lang="zh-CN" altLang="en-US" dirty="0"/>
              <a:t>“</a:t>
            </a:r>
            <a:r>
              <a:rPr lang="zh-CN" altLang="en-US" b="1" dirty="0"/>
              <a:t>菜</a:t>
            </a:r>
            <a:r>
              <a:rPr lang="zh-CN" altLang="en-US" dirty="0"/>
              <a:t>”之后是完成游戏所用的时间：</a:t>
            </a:r>
            <a:br>
              <a:rPr lang="zh-CN" altLang="en-US" dirty="0"/>
            </a:br>
            <a:r>
              <a:rPr lang="zh-CN" altLang="en-US" dirty="0"/>
              <a:t>              </a:t>
            </a:r>
            <a:r>
              <a:rPr lang="en-US" altLang="zh-CN" b="1" dirty="0"/>
              <a:t>2 </a:t>
            </a:r>
            <a:r>
              <a:rPr lang="zh-CN" altLang="en-US" b="1" dirty="0"/>
              <a:t>秒 </a:t>
            </a:r>
            <a:r>
              <a:rPr lang="en-US" altLang="zh-CN" b="1" dirty="0"/>
              <a:t>74 </a:t>
            </a:r>
            <a:r>
              <a:rPr lang="zh-CN" altLang="en-US" b="1" dirty="0"/>
              <a:t>毫秒</a:t>
            </a:r>
            <a:r>
              <a:rPr lang="zh-CN" altLang="en-US" dirty="0"/>
              <a:t>（</a:t>
            </a:r>
            <a:r>
              <a:rPr lang="en-US" altLang="zh-CN" dirty="0"/>
              <a:t>2s74ms</a:t>
            </a:r>
            <a:r>
              <a:rPr lang="zh-CN" altLang="en-US" dirty="0"/>
              <a:t>）</a:t>
            </a:r>
            <a:br>
              <a:rPr lang="zh-CN" altLang="en-US" dirty="0"/>
            </a:br>
            <a:r>
              <a:rPr lang="zh-CN" altLang="en-US" dirty="0"/>
              <a:t>表示玩家</a:t>
            </a:r>
            <a:r>
              <a:rPr lang="zh-CN" altLang="en-US" b="1" dirty="0"/>
              <a:t>输了游戏</a:t>
            </a:r>
            <a:r>
              <a:rPr lang="zh-CN" altLang="en-US" dirty="0"/>
              <a:t>（点到了地雷格子）。</a:t>
            </a:r>
            <a:endParaRPr lang="en-US" altLang="zh-CN" dirty="0"/>
          </a:p>
          <a:p>
            <a:endParaRPr lang="zh-CN" altLang="en-US" dirty="0"/>
          </a:p>
          <a:p>
            <a:r>
              <a:rPr lang="zh-CN" altLang="en-US" b="1" dirty="0"/>
              <a:t>是否重试</a:t>
            </a:r>
            <a:br>
              <a:rPr lang="zh-CN" altLang="en-US" dirty="0"/>
            </a:br>
            <a:r>
              <a:rPr lang="zh-CN" altLang="en-US" dirty="0"/>
              <a:t>界面询问：“</a:t>
            </a:r>
            <a:r>
              <a:rPr lang="zh-CN" altLang="en-US" b="1" dirty="0"/>
              <a:t>你想再试一次吗？</a:t>
            </a:r>
            <a:r>
              <a:rPr lang="zh-CN" altLang="en-US" dirty="0"/>
              <a:t>”</a:t>
            </a:r>
            <a:br>
              <a:rPr lang="zh-CN" altLang="en-US" dirty="0"/>
            </a:br>
            <a:r>
              <a:rPr lang="zh-CN" altLang="en-US" dirty="0"/>
              <a:t>并提供了两个选项按钮：</a:t>
            </a:r>
          </a:p>
          <a:p>
            <a:pPr lvl="1"/>
            <a:r>
              <a:rPr lang="zh-CN" altLang="en-US" b="1" dirty="0"/>
              <a:t>是</a:t>
            </a:r>
            <a:r>
              <a:rPr lang="en-US" altLang="zh-CN" b="1" dirty="0"/>
              <a:t>(Y)</a:t>
            </a:r>
            <a:endParaRPr lang="zh-CN" altLang="en-US" dirty="0"/>
          </a:p>
          <a:p>
            <a:pPr lvl="1"/>
            <a:r>
              <a:rPr lang="zh-CN" altLang="en-US" b="1" dirty="0"/>
              <a:t>否</a:t>
            </a:r>
            <a:r>
              <a:rPr lang="en-US" altLang="zh-CN" b="1" dirty="0"/>
              <a:t>(N)</a:t>
            </a:r>
            <a:endParaRPr lang="zh-CN" altLang="en-US" dirty="0"/>
          </a:p>
          <a:p>
            <a:endParaRPr lang="zh-CN" altLang="en-US" dirty="0"/>
          </a:p>
        </p:txBody>
      </p:sp>
    </p:spTree>
    <p:extLst>
      <p:ext uri="{BB962C8B-B14F-4D97-AF65-F5344CB8AC3E}">
        <p14:creationId xmlns:p14="http://schemas.microsoft.com/office/powerpoint/2010/main" val="746743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56F90-9112-4CC0-3FA5-2F88B4BFEEFE}"/>
            </a:ext>
          </a:extLst>
        </p:cNvPr>
        <p:cNvGrpSpPr/>
        <p:nvPr/>
      </p:nvGrpSpPr>
      <p:grpSpPr>
        <a:xfrm>
          <a:off x="0" y="0"/>
          <a:ext cx="0" cy="0"/>
          <a:chOff x="0" y="0"/>
          <a:chExt cx="0" cy="0"/>
        </a:xfrm>
      </p:grpSpPr>
      <p:pic>
        <p:nvPicPr>
          <p:cNvPr id="4" name="图片 3">
            <a:extLst>
              <a:ext uri="{FF2B5EF4-FFF2-40B4-BE49-F238E27FC236}">
                <a16:creationId xmlns:a16="http://schemas.microsoft.com/office/drawing/2014/main" id="{A206824C-77D8-E02F-28E0-3ABC7FF78842}"/>
              </a:ext>
            </a:extLst>
          </p:cNvPr>
          <p:cNvPicPr>
            <a:picLocks noChangeAspect="1"/>
          </p:cNvPicPr>
          <p:nvPr/>
        </p:nvPicPr>
        <p:blipFill>
          <a:blip r:embed="rId2"/>
          <a:stretch>
            <a:fillRect/>
          </a:stretch>
        </p:blipFill>
        <p:spPr>
          <a:xfrm>
            <a:off x="728617" y="1283316"/>
            <a:ext cx="4304432" cy="4479695"/>
          </a:xfrm>
          <a:prstGeom prst="rect">
            <a:avLst/>
          </a:prstGeom>
        </p:spPr>
      </p:pic>
      <p:sp>
        <p:nvSpPr>
          <p:cNvPr id="18" name="文本框 17">
            <a:extLst>
              <a:ext uri="{FF2B5EF4-FFF2-40B4-BE49-F238E27FC236}">
                <a16:creationId xmlns:a16="http://schemas.microsoft.com/office/drawing/2014/main" id="{B6F8D859-F6F5-DF6C-99F6-832495B34020}"/>
              </a:ext>
            </a:extLst>
          </p:cNvPr>
          <p:cNvSpPr txBox="1"/>
          <p:nvPr/>
        </p:nvSpPr>
        <p:spPr>
          <a:xfrm>
            <a:off x="5841812" y="1113017"/>
            <a:ext cx="1620957" cy="523220"/>
          </a:xfrm>
          <a:prstGeom prst="rect">
            <a:avLst/>
          </a:prstGeom>
          <a:noFill/>
        </p:spPr>
        <p:txBody>
          <a:bodyPr wrap="none" rtlCol="0">
            <a:spAutoFit/>
          </a:bodyPr>
          <a:lstStyle/>
          <a:p>
            <a:r>
              <a:rPr lang="zh-CN" altLang="en-US" sz="2800" dirty="0">
                <a:latin typeface="华文琥珀" panose="02010800040101010101" pitchFamily="2" charset="-122"/>
                <a:ea typeface="华文琥珀" panose="02010800040101010101" pitchFamily="2" charset="-122"/>
              </a:rPr>
              <a:t>胜利界面</a:t>
            </a:r>
          </a:p>
        </p:txBody>
      </p:sp>
      <p:sp>
        <p:nvSpPr>
          <p:cNvPr id="6" name="矩形 5">
            <a:extLst>
              <a:ext uri="{FF2B5EF4-FFF2-40B4-BE49-F238E27FC236}">
                <a16:creationId xmlns:a16="http://schemas.microsoft.com/office/drawing/2014/main" id="{A3E4E932-25AB-B336-B6B6-684A45BE2B0C}"/>
              </a:ext>
            </a:extLst>
          </p:cNvPr>
          <p:cNvSpPr/>
          <p:nvPr/>
        </p:nvSpPr>
        <p:spPr>
          <a:xfrm>
            <a:off x="4282333"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34A559D7-8155-0DF5-A6F9-C3D643281D6C}"/>
              </a:ext>
            </a:extLst>
          </p:cNvPr>
          <p:cNvSpPr txBox="1"/>
          <p:nvPr/>
        </p:nvSpPr>
        <p:spPr>
          <a:xfrm>
            <a:off x="5783766" y="1932878"/>
            <a:ext cx="6498355" cy="3693319"/>
          </a:xfrm>
          <a:prstGeom prst="rect">
            <a:avLst/>
          </a:prstGeom>
          <a:noFill/>
        </p:spPr>
        <p:txBody>
          <a:bodyPr wrap="square" rtlCol="0">
            <a:spAutoFit/>
          </a:bodyPr>
          <a:lstStyle/>
          <a:p>
            <a:r>
              <a:rPr lang="zh-CN" altLang="en-US" b="1" dirty="0"/>
              <a:t>🎮 界面内容说明</a:t>
            </a:r>
            <a:endParaRPr lang="en-US" altLang="zh-CN" b="1" dirty="0"/>
          </a:p>
          <a:p>
            <a:endParaRPr lang="zh-CN" altLang="en-US" dirty="0"/>
          </a:p>
          <a:p>
            <a:r>
              <a:rPr lang="zh-CN" altLang="en-US" b="1" dirty="0"/>
              <a:t>游戏成绩</a:t>
            </a:r>
            <a:br>
              <a:rPr lang="zh-CN" altLang="en-US" dirty="0"/>
            </a:br>
            <a:r>
              <a:rPr lang="zh-CN" altLang="en-US" dirty="0"/>
              <a:t>“</a:t>
            </a:r>
            <a:r>
              <a:rPr lang="zh-CN" altLang="en-US" b="1" dirty="0"/>
              <a:t>微笑</a:t>
            </a:r>
            <a:r>
              <a:rPr lang="zh-CN" altLang="en-US" dirty="0"/>
              <a:t>”之后是完成游戏所用的时间：</a:t>
            </a:r>
            <a:br>
              <a:rPr lang="zh-CN" altLang="en-US" dirty="0"/>
            </a:br>
            <a:r>
              <a:rPr lang="zh-CN" altLang="en-US" dirty="0"/>
              <a:t>              </a:t>
            </a:r>
            <a:r>
              <a:rPr lang="en-US" altLang="zh-CN" dirty="0"/>
              <a:t>6</a:t>
            </a:r>
            <a:r>
              <a:rPr lang="zh-CN" altLang="en-US" dirty="0"/>
              <a:t>分</a:t>
            </a:r>
            <a:r>
              <a:rPr lang="en-US" altLang="zh-CN" dirty="0"/>
              <a:t>4</a:t>
            </a:r>
            <a:r>
              <a:rPr lang="en-US" altLang="zh-CN" b="1" dirty="0"/>
              <a:t>2 </a:t>
            </a:r>
            <a:r>
              <a:rPr lang="zh-CN" altLang="en-US" b="1" dirty="0"/>
              <a:t>秒 </a:t>
            </a:r>
            <a:r>
              <a:rPr lang="en-US" altLang="zh-CN" b="1" dirty="0"/>
              <a:t>345 </a:t>
            </a:r>
            <a:r>
              <a:rPr lang="zh-CN" altLang="en-US" b="1" dirty="0"/>
              <a:t>毫秒</a:t>
            </a:r>
            <a:r>
              <a:rPr lang="zh-CN" altLang="en-US" dirty="0"/>
              <a:t>（</a:t>
            </a:r>
            <a:r>
              <a:rPr lang="en-US" altLang="zh-CN" dirty="0"/>
              <a:t>6min42s345ms</a:t>
            </a:r>
            <a:r>
              <a:rPr lang="zh-CN" altLang="en-US" dirty="0"/>
              <a:t>）</a:t>
            </a:r>
            <a:br>
              <a:rPr lang="zh-CN" altLang="en-US" dirty="0"/>
            </a:br>
            <a:r>
              <a:rPr lang="zh-CN" altLang="en-US" dirty="0"/>
              <a:t>表示玩家</a:t>
            </a:r>
            <a:r>
              <a:rPr lang="zh-CN" altLang="en-US" b="1" dirty="0"/>
              <a:t>赢了游戏</a:t>
            </a:r>
            <a:r>
              <a:rPr lang="zh-CN" altLang="en-US" dirty="0"/>
              <a:t>（找到了所有地雷格子）。</a:t>
            </a:r>
            <a:endParaRPr lang="en-US" altLang="zh-CN" dirty="0"/>
          </a:p>
          <a:p>
            <a:endParaRPr lang="zh-CN" altLang="en-US" dirty="0"/>
          </a:p>
          <a:p>
            <a:r>
              <a:rPr lang="zh-CN" altLang="en-US" b="1" dirty="0"/>
              <a:t>是否重试</a:t>
            </a:r>
            <a:br>
              <a:rPr lang="zh-CN" altLang="en-US" dirty="0"/>
            </a:br>
            <a:r>
              <a:rPr lang="zh-CN" altLang="en-US" dirty="0"/>
              <a:t>界面询问：“</a:t>
            </a:r>
            <a:r>
              <a:rPr lang="zh-CN" altLang="en-US" b="1" dirty="0"/>
              <a:t>你想再试一次吗？</a:t>
            </a:r>
            <a:r>
              <a:rPr lang="zh-CN" altLang="en-US" dirty="0"/>
              <a:t>”</a:t>
            </a:r>
            <a:br>
              <a:rPr lang="zh-CN" altLang="en-US" dirty="0"/>
            </a:br>
            <a:r>
              <a:rPr lang="zh-CN" altLang="en-US" dirty="0"/>
              <a:t>并提供了两个选项按钮：</a:t>
            </a:r>
          </a:p>
          <a:p>
            <a:pPr lvl="1"/>
            <a:r>
              <a:rPr lang="zh-CN" altLang="en-US" b="1" dirty="0"/>
              <a:t>是</a:t>
            </a:r>
            <a:r>
              <a:rPr lang="en-US" altLang="zh-CN" b="1" dirty="0"/>
              <a:t>(Y)</a:t>
            </a:r>
            <a:endParaRPr lang="zh-CN" altLang="en-US" dirty="0"/>
          </a:p>
          <a:p>
            <a:pPr lvl="1"/>
            <a:r>
              <a:rPr lang="zh-CN" altLang="en-US" b="1" dirty="0"/>
              <a:t>否</a:t>
            </a:r>
            <a:r>
              <a:rPr lang="en-US" altLang="zh-CN" b="1" dirty="0"/>
              <a:t>(N)</a:t>
            </a:r>
            <a:endParaRPr lang="zh-CN" altLang="en-US" dirty="0"/>
          </a:p>
          <a:p>
            <a:endParaRPr lang="zh-CN" altLang="en-US" dirty="0"/>
          </a:p>
        </p:txBody>
      </p:sp>
    </p:spTree>
    <p:extLst>
      <p:ext uri="{BB962C8B-B14F-4D97-AF65-F5344CB8AC3E}">
        <p14:creationId xmlns:p14="http://schemas.microsoft.com/office/powerpoint/2010/main" val="917324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4460488" y="980579"/>
            <a:ext cx="7731512" cy="2037683"/>
          </a:xfrm>
        </p:spPr>
        <p:txBody>
          <a:bodyPr/>
          <a:lstStyle/>
          <a:p>
            <a:pPr lvl="0"/>
            <a:r>
              <a:rPr lang="zh-CN" altLang="en-US" sz="13800" dirty="0"/>
              <a:t>代码流程</a:t>
            </a:r>
            <a:endParaRPr lang="en-US" sz="13800"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627162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457200" indent="-457200">
              <a:buAutoNum type="arabicPeriod"/>
            </a:pPr>
            <a:r>
              <a:rPr lang="zh-CN" altLang="en-US" sz="3200" b="1" dirty="0"/>
              <a:t>游戏启动与菜单选择 </a:t>
            </a:r>
            <a:r>
              <a:rPr lang="en-US" altLang="zh-CN" sz="3200" b="1" dirty="0"/>
              <a:t>(group)</a:t>
            </a:r>
          </a:p>
          <a:p>
            <a:pPr marL="360000" indent="0">
              <a:buNone/>
            </a:pPr>
            <a:r>
              <a:rPr lang="en-US" altLang="zh-CN" sz="2400" b="1" dirty="0"/>
              <a:t>Driver </a:t>
            </a:r>
            <a:r>
              <a:rPr lang="zh-CN" altLang="en-US" sz="2400" dirty="0"/>
              <a:t>创建 </a:t>
            </a:r>
            <a:r>
              <a:rPr lang="en-US" altLang="zh-CN" sz="2400" b="1" dirty="0"/>
              <a:t>Menu </a:t>
            </a:r>
            <a:r>
              <a:rPr lang="zh-CN" altLang="en-US" sz="2400" dirty="0"/>
              <a:t>实例，向玩家显示菜单。</a:t>
            </a:r>
          </a:p>
          <a:p>
            <a:pPr marL="360000" indent="0">
              <a:buNone/>
            </a:pPr>
            <a:r>
              <a:rPr lang="zh-CN" altLang="en-US" sz="2400" dirty="0"/>
              <a:t>玩家选择难度后，</a:t>
            </a:r>
            <a:r>
              <a:rPr lang="en-US" altLang="zh-CN" sz="2400" b="1" dirty="0"/>
              <a:t>Menu</a:t>
            </a:r>
            <a:r>
              <a:rPr lang="en-US" altLang="zh-CN" sz="2400" dirty="0"/>
              <a:t> </a:t>
            </a:r>
            <a:r>
              <a:rPr lang="zh-CN" altLang="en-US" sz="2400" dirty="0"/>
              <a:t>的 </a:t>
            </a:r>
            <a:r>
              <a:rPr lang="en-US" altLang="zh-CN" sz="2400" i="1" dirty="0" err="1"/>
              <a:t>actionPerformed</a:t>
            </a:r>
            <a:r>
              <a:rPr lang="en-US" altLang="zh-CN" sz="2400" dirty="0"/>
              <a:t> </a:t>
            </a:r>
            <a:r>
              <a:rPr lang="zh-CN" altLang="en-US" sz="2400" dirty="0"/>
              <a:t>方法被触发。</a:t>
            </a:r>
          </a:p>
          <a:p>
            <a:pPr marL="360000" indent="0">
              <a:buNone/>
            </a:pPr>
            <a:r>
              <a:rPr lang="en-US" altLang="zh-CN" sz="2400" b="1" dirty="0"/>
              <a:t>Menu</a:t>
            </a:r>
            <a:r>
              <a:rPr lang="en-US" altLang="zh-CN" sz="2400" dirty="0"/>
              <a:t> </a:t>
            </a:r>
            <a:r>
              <a:rPr lang="zh-CN" altLang="en-US" sz="2400" dirty="0"/>
              <a:t>负责创建 </a:t>
            </a:r>
            <a:r>
              <a:rPr lang="en-US" altLang="zh-CN" sz="2400" b="1" dirty="0" err="1"/>
              <a:t>GameBoard</a:t>
            </a:r>
            <a:r>
              <a:rPr lang="zh-CN" altLang="en-US" sz="2400" dirty="0"/>
              <a:t>，</a:t>
            </a:r>
            <a:r>
              <a:rPr lang="en-US" altLang="zh-CN" sz="2400" b="1" dirty="0" err="1"/>
              <a:t>GameBoard</a:t>
            </a:r>
            <a:r>
              <a:rPr lang="en-US" altLang="zh-CN" sz="2400" b="1" dirty="0"/>
              <a:t> </a:t>
            </a:r>
            <a:r>
              <a:rPr lang="zh-CN" altLang="en-US" sz="2400" dirty="0"/>
              <a:t>则循环创建所有的 </a:t>
            </a:r>
            <a:r>
              <a:rPr lang="en-US" altLang="zh-CN" sz="2400" b="1" dirty="0" err="1"/>
              <a:t>SmartSquare</a:t>
            </a:r>
            <a:r>
              <a:rPr lang="en-US" altLang="zh-CN" sz="2400" dirty="0"/>
              <a:t> </a:t>
            </a:r>
            <a:r>
              <a:rPr lang="zh-CN" altLang="en-US" sz="2400" dirty="0"/>
              <a:t>方块。</a:t>
            </a:r>
          </a:p>
          <a:p>
            <a:pPr marL="360000" indent="0">
              <a:buNone/>
            </a:pPr>
            <a:r>
              <a:rPr lang="zh-CN" altLang="en-US" sz="2400" dirty="0"/>
              <a:t>接着，</a:t>
            </a:r>
            <a:r>
              <a:rPr lang="en-US" altLang="zh-CN" sz="2400" b="1" dirty="0"/>
              <a:t>Menu</a:t>
            </a:r>
            <a:r>
              <a:rPr lang="en-US" altLang="zh-CN" sz="2400" dirty="0"/>
              <a:t> </a:t>
            </a:r>
            <a:r>
              <a:rPr lang="zh-CN" altLang="en-US" sz="2400" dirty="0"/>
              <a:t>创建 </a:t>
            </a:r>
            <a:r>
              <a:rPr lang="en-US" altLang="zh-CN" sz="2400" i="1" dirty="0" err="1"/>
              <a:t>ProduceBombs</a:t>
            </a:r>
            <a:r>
              <a:rPr lang="en-US" altLang="zh-CN" sz="2400" dirty="0"/>
              <a:t> </a:t>
            </a:r>
            <a:r>
              <a:rPr lang="zh-CN" altLang="en-US" sz="2400" dirty="0"/>
              <a:t>来在棋盘上布雷。这个过程涉及到随机选择 </a:t>
            </a:r>
            <a:r>
              <a:rPr lang="en-US" altLang="zh-CN" sz="2400" b="1" dirty="0" err="1"/>
              <a:t>SmartSquare</a:t>
            </a:r>
            <a:r>
              <a:rPr lang="en-US" altLang="zh-CN" sz="2400" dirty="0"/>
              <a:t> </a:t>
            </a:r>
            <a:r>
              <a:rPr lang="zh-CN" altLang="en-US" sz="2400" dirty="0"/>
              <a:t>并调用其 </a:t>
            </a:r>
            <a:r>
              <a:rPr lang="en-US" altLang="zh-CN" sz="2400" i="1" dirty="0" err="1"/>
              <a:t>setBombExist</a:t>
            </a:r>
            <a:r>
              <a:rPr lang="en-US" altLang="zh-CN" sz="2400" i="1" dirty="0"/>
              <a:t>(true) </a:t>
            </a:r>
            <a:r>
              <a:rPr lang="zh-CN" altLang="en-US" sz="2400" dirty="0"/>
              <a:t>方法。</a:t>
            </a:r>
          </a:p>
          <a:p>
            <a:pPr marL="360000" indent="0">
              <a:buNone/>
            </a:pPr>
            <a:r>
              <a:rPr lang="zh-CN" altLang="en-US" sz="2400" dirty="0"/>
              <a:t>最后，</a:t>
            </a:r>
            <a:r>
              <a:rPr lang="en-US" altLang="zh-CN" sz="2400" b="1" dirty="0"/>
              <a:t>Menu</a:t>
            </a:r>
            <a:r>
              <a:rPr lang="en-US" altLang="zh-CN" sz="2400" dirty="0"/>
              <a:t> </a:t>
            </a:r>
            <a:r>
              <a:rPr lang="zh-CN" altLang="en-US" sz="2400" dirty="0"/>
              <a:t>调用一个方块的 </a:t>
            </a:r>
            <a:r>
              <a:rPr lang="en-US" altLang="zh-CN" sz="2400" i="1" dirty="0" err="1"/>
              <a:t>setStartTime</a:t>
            </a:r>
            <a:r>
              <a:rPr lang="en-US" altLang="zh-CN" sz="2400" i="1" dirty="0"/>
              <a:t>() </a:t>
            </a:r>
            <a:r>
              <a:rPr lang="zh-CN" altLang="en-US" sz="2400" dirty="0"/>
              <a:t>来记录开始时间，然后关闭自己，游戏棋盘对玩家可见。</a:t>
            </a:r>
          </a:p>
        </p:txBody>
      </p:sp>
      <p:sp>
        <p:nvSpPr>
          <p:cNvPr id="7" name="矩形 6">
            <a:extLst>
              <a:ext uri="{FF2B5EF4-FFF2-40B4-BE49-F238E27FC236}">
                <a16:creationId xmlns:a16="http://schemas.microsoft.com/office/drawing/2014/main" id="{AA5E59FF-D25F-8DDF-6486-69862F272DF5}"/>
              </a:ext>
            </a:extLst>
          </p:cNvPr>
          <p:cNvSpPr/>
          <p:nvPr/>
        </p:nvSpPr>
        <p:spPr>
          <a:xfrm>
            <a:off x="5845172"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939381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D4215-44A7-AADC-677D-EF77E6A1234F}"/>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FD965786-3A3A-CF5F-79A4-D977C27C89EC}"/>
              </a:ext>
            </a:extLst>
          </p:cNvPr>
          <p:cNvSpPr>
            <a:spLocks noGrp="1"/>
          </p:cNvSpPr>
          <p:nvPr>
            <p:ph idx="1"/>
          </p:nvPr>
        </p:nvSpPr>
        <p:spPr>
          <a:xfrm>
            <a:off x="5703568" y="792095"/>
            <a:ext cx="7954817" cy="6216073"/>
          </a:xfrm>
        </p:spPr>
        <p:txBody>
          <a:bodyPr>
            <a:normAutofit/>
          </a:bodyPr>
          <a:lstStyle/>
          <a:p>
            <a:pPr marL="0" indent="0">
              <a:buNone/>
            </a:pPr>
            <a:r>
              <a:rPr lang="en-US" altLang="zh-CN" sz="4100" b="1" dirty="0"/>
              <a:t>2. </a:t>
            </a:r>
            <a:r>
              <a:rPr lang="zh-CN" altLang="en-US" sz="4100" b="1" dirty="0"/>
              <a:t>玩家进行游戏</a:t>
            </a:r>
            <a:endParaRPr lang="en-US" altLang="zh-CN" sz="4100" b="1" dirty="0"/>
          </a:p>
          <a:p>
            <a:pPr marL="0" indent="0">
              <a:buNone/>
            </a:pPr>
            <a:r>
              <a:rPr lang="zh-CN" altLang="en-US" sz="2000" dirty="0"/>
              <a:t>玩家点击一个 </a:t>
            </a:r>
            <a:r>
              <a:rPr lang="en-US" altLang="zh-CN" sz="2000" dirty="0" err="1"/>
              <a:t>SmartSquare</a:t>
            </a:r>
            <a:r>
              <a:rPr lang="zh-CN" altLang="en-US" sz="2000" dirty="0"/>
              <a:t>（它是一个 </a:t>
            </a:r>
            <a:r>
              <a:rPr lang="en-US" altLang="zh-CN" sz="2000" dirty="0" err="1"/>
              <a:t>JButton</a:t>
            </a:r>
            <a:r>
              <a:rPr lang="zh-CN" altLang="en-US" sz="2000" dirty="0"/>
              <a:t>）。</a:t>
            </a:r>
          </a:p>
          <a:p>
            <a:pPr marL="720000" indent="0">
              <a:buNone/>
            </a:pPr>
            <a:r>
              <a:rPr lang="en-US" altLang="zh-CN" sz="2000" dirty="0"/>
              <a:t>Swing </a:t>
            </a:r>
            <a:r>
              <a:rPr lang="zh-CN" altLang="en-US" sz="2000" dirty="0"/>
              <a:t>的事件处理机制最终会调用到被点击</a:t>
            </a:r>
            <a:endParaRPr lang="en-US" altLang="zh-CN" sz="2000" dirty="0"/>
          </a:p>
          <a:p>
            <a:pPr marL="720000" indent="0">
              <a:buNone/>
            </a:pPr>
            <a:r>
              <a:rPr lang="en-US" altLang="zh-CN" sz="2000" dirty="0" err="1"/>
              <a:t>SmartSquare</a:t>
            </a:r>
            <a:r>
              <a:rPr lang="en-US" altLang="zh-CN" sz="2000" dirty="0"/>
              <a:t> </a:t>
            </a:r>
            <a:r>
              <a:rPr lang="zh-CN" altLang="en-US" sz="2000" dirty="0"/>
              <a:t>实例的 </a:t>
            </a:r>
            <a:r>
              <a:rPr lang="en-US" altLang="zh-CN" sz="2000" dirty="0"/>
              <a:t>clicked() </a:t>
            </a:r>
            <a:r>
              <a:rPr lang="zh-CN" altLang="en-US" sz="2000" dirty="0"/>
              <a:t>方法。</a:t>
            </a:r>
          </a:p>
          <a:p>
            <a:pPr marL="0" indent="0">
              <a:buNone/>
            </a:pPr>
            <a:r>
              <a:rPr lang="zh-CN" altLang="en-US" sz="2000" b="1" u="sng" dirty="0"/>
              <a:t>在 </a:t>
            </a:r>
            <a:r>
              <a:rPr lang="en-US" altLang="zh-CN" sz="2000" b="1" u="sng" dirty="0"/>
              <a:t>clicked() </a:t>
            </a:r>
            <a:r>
              <a:rPr lang="zh-CN" altLang="en-US" sz="2000" b="1" u="sng" dirty="0"/>
              <a:t>方法内部：</a:t>
            </a:r>
          </a:p>
          <a:p>
            <a:pPr marL="0" indent="0">
              <a:buNone/>
            </a:pPr>
            <a:r>
              <a:rPr lang="zh-CN" altLang="en-US" sz="2000" b="1" dirty="0"/>
              <a:t>    分支</a:t>
            </a:r>
            <a:r>
              <a:rPr lang="en-US" altLang="zh-CN" sz="2000" b="1" dirty="0"/>
              <a:t>1 (alt): </a:t>
            </a:r>
            <a:r>
              <a:rPr lang="zh-CN" altLang="en-US" sz="2000" dirty="0"/>
              <a:t>点击到地雷</a:t>
            </a:r>
            <a:endParaRPr lang="en-US" altLang="zh-CN" sz="2000" dirty="0"/>
          </a:p>
          <a:p>
            <a:pPr marL="720000" indent="0">
              <a:buNone/>
            </a:pPr>
            <a:r>
              <a:rPr lang="en-US" altLang="zh-CN" sz="2000" dirty="0" err="1"/>
              <a:t>thisSquareHasBomb</a:t>
            </a:r>
            <a:r>
              <a:rPr lang="zh-CN" altLang="en-US" sz="2000" dirty="0"/>
              <a:t>为 </a:t>
            </a:r>
            <a:r>
              <a:rPr lang="en-US" altLang="zh-CN" sz="2000" dirty="0"/>
              <a:t>true</a:t>
            </a:r>
            <a:r>
              <a:rPr lang="zh-CN" altLang="en-US" sz="2000" dirty="0"/>
              <a:t>。</a:t>
            </a:r>
          </a:p>
          <a:p>
            <a:pPr marL="720000" indent="0">
              <a:buNone/>
            </a:pPr>
            <a:r>
              <a:rPr lang="zh-CN" altLang="en-US" sz="2000" dirty="0"/>
              <a:t>程序调用 </a:t>
            </a:r>
            <a:r>
              <a:rPr lang="en-US" altLang="zh-CN" sz="2000" dirty="0"/>
              <a:t>window() </a:t>
            </a:r>
            <a:r>
              <a:rPr lang="zh-CN" altLang="en-US" sz="2000" dirty="0"/>
              <a:t>方法，向玩家显示一个包含</a:t>
            </a:r>
            <a:r>
              <a:rPr lang="en-US" altLang="zh-CN" sz="2000" dirty="0"/>
              <a:t> </a:t>
            </a:r>
          </a:p>
          <a:p>
            <a:pPr marL="720000" indent="0">
              <a:buNone/>
            </a:pPr>
            <a:r>
              <a:rPr lang="zh-CN" altLang="en-US" sz="2000" dirty="0"/>
              <a:t>“游戏结束”信息和重玩选项的对话框。</a:t>
            </a:r>
            <a:endParaRPr lang="en-US" altLang="zh-CN" sz="2000" dirty="0"/>
          </a:p>
          <a:p>
            <a:pPr marL="720000" indent="0">
              <a:buNone/>
            </a:pPr>
            <a:endParaRPr lang="zh-CN" altLang="en-US" sz="2000" dirty="0"/>
          </a:p>
        </p:txBody>
      </p:sp>
      <p:pic>
        <p:nvPicPr>
          <p:cNvPr id="6" name="内容占位符 5" descr="图示&#10;&#10;AI 生成的内容可能不正确。">
            <a:extLst>
              <a:ext uri="{FF2B5EF4-FFF2-40B4-BE49-F238E27FC236}">
                <a16:creationId xmlns:a16="http://schemas.microsoft.com/office/drawing/2014/main" id="{8802F1E0-1AD6-FD30-C38E-65ED96EB7E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720776"/>
            <a:ext cx="5486665" cy="12574783"/>
          </a:xfrm>
          <a:prstGeom prst="rect">
            <a:avLst/>
          </a:prstGeom>
        </p:spPr>
      </p:pic>
      <p:sp>
        <p:nvSpPr>
          <p:cNvPr id="2" name="矩形 1">
            <a:extLst>
              <a:ext uri="{FF2B5EF4-FFF2-40B4-BE49-F238E27FC236}">
                <a16:creationId xmlns:a16="http://schemas.microsoft.com/office/drawing/2014/main" id="{FF3E86D8-EB3C-CFBF-9BB8-FD23A1D51AC1}"/>
              </a:ext>
            </a:extLst>
          </p:cNvPr>
          <p:cNvSpPr/>
          <p:nvPr/>
        </p:nvSpPr>
        <p:spPr>
          <a:xfrm>
            <a:off x="5845172"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379074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5748172" y="1536495"/>
            <a:ext cx="7954817" cy="6216073"/>
          </a:xfrm>
        </p:spPr>
        <p:txBody>
          <a:bodyPr>
            <a:normAutofit/>
          </a:bodyPr>
          <a:lstStyle/>
          <a:p>
            <a:pPr marL="0" indent="0">
              <a:lnSpc>
                <a:spcPct val="130000"/>
              </a:lnSpc>
              <a:buNone/>
            </a:pPr>
            <a:r>
              <a:rPr lang="zh-CN" altLang="en-US" sz="2000" b="1" dirty="0"/>
              <a:t>分支</a:t>
            </a:r>
            <a:r>
              <a:rPr lang="en-US" altLang="zh-CN" sz="2000" b="1" dirty="0"/>
              <a:t>2 (alt): </a:t>
            </a:r>
            <a:r>
              <a:rPr lang="zh-CN" altLang="en-US" sz="2000" dirty="0"/>
              <a:t>点击到安全方块</a:t>
            </a:r>
          </a:p>
          <a:p>
            <a:pPr marL="720000" indent="0">
              <a:lnSpc>
                <a:spcPct val="130000"/>
              </a:lnSpc>
              <a:buNone/>
            </a:pPr>
            <a:r>
              <a:rPr lang="zh-CN" altLang="en-US" sz="2000" dirty="0"/>
              <a:t>程序创建一个 </a:t>
            </a:r>
            <a:r>
              <a:rPr lang="en-US" altLang="zh-CN" sz="2000" dirty="0" err="1"/>
              <a:t>CheckSquare</a:t>
            </a:r>
            <a:r>
              <a:rPr lang="en-US" altLang="zh-CN" sz="2000" dirty="0"/>
              <a:t> </a:t>
            </a:r>
            <a:r>
              <a:rPr lang="zh-CN" altLang="en-US" sz="2000" dirty="0"/>
              <a:t>对象来处理逻辑。</a:t>
            </a:r>
          </a:p>
          <a:p>
            <a:pPr marL="720000" indent="0">
              <a:lnSpc>
                <a:spcPct val="130000"/>
              </a:lnSpc>
              <a:buNone/>
            </a:pPr>
            <a:r>
              <a:rPr lang="zh-CN" altLang="en-US" sz="2000" dirty="0"/>
              <a:t>调用 </a:t>
            </a:r>
            <a:r>
              <a:rPr lang="en-US" altLang="zh-CN" sz="2000" dirty="0" err="1"/>
              <a:t>countBomb</a:t>
            </a:r>
            <a:r>
              <a:rPr lang="en-US" altLang="zh-CN" sz="2000" dirty="0"/>
              <a:t>() </a:t>
            </a:r>
            <a:r>
              <a:rPr lang="zh-CN" altLang="en-US" sz="2000" dirty="0"/>
              <a:t>来计算周围地雷数并递归地揭</a:t>
            </a:r>
            <a:r>
              <a:rPr lang="en-US" altLang="zh-CN" sz="2000" dirty="0"/>
              <a:t>		</a:t>
            </a:r>
            <a:r>
              <a:rPr lang="zh-CN" altLang="en-US" sz="2000" dirty="0"/>
              <a:t>开相邻的空白区域。</a:t>
            </a:r>
          </a:p>
          <a:p>
            <a:pPr marL="720000" indent="0">
              <a:lnSpc>
                <a:spcPct val="130000"/>
              </a:lnSpc>
              <a:buNone/>
            </a:pPr>
            <a:r>
              <a:rPr lang="zh-CN" altLang="en-US" sz="2000" dirty="0"/>
              <a:t>之后，调用 </a:t>
            </a:r>
            <a:r>
              <a:rPr lang="en-US" altLang="zh-CN" sz="2000" dirty="0" err="1"/>
              <a:t>isSuccess</a:t>
            </a:r>
            <a:r>
              <a:rPr lang="en-US" altLang="zh-CN" sz="2000" dirty="0"/>
              <a:t>() </a:t>
            </a:r>
            <a:r>
              <a:rPr lang="zh-CN" altLang="en-US" sz="2000" dirty="0"/>
              <a:t>检查是否满足胜利条件</a:t>
            </a:r>
            <a:endParaRPr lang="en-US" altLang="zh-CN" sz="2000" dirty="0"/>
          </a:p>
          <a:p>
            <a:pPr marL="720000" indent="0">
              <a:lnSpc>
                <a:spcPct val="130000"/>
              </a:lnSpc>
              <a:buNone/>
            </a:pPr>
            <a:r>
              <a:rPr lang="zh-CN" altLang="en-US" sz="2000" dirty="0"/>
              <a:t>（所有非雷块都已揭开）。</a:t>
            </a:r>
          </a:p>
          <a:p>
            <a:pPr marL="720000" indent="0">
              <a:lnSpc>
                <a:spcPct val="130000"/>
              </a:lnSpc>
              <a:buNone/>
            </a:pPr>
            <a:r>
              <a:rPr lang="zh-CN" altLang="en-US" sz="2000" u="sng" dirty="0"/>
              <a:t>如果</a:t>
            </a:r>
            <a:r>
              <a:rPr lang="zh-CN" altLang="en-US" sz="2000" b="1" dirty="0"/>
              <a:t>胜利 </a:t>
            </a:r>
            <a:r>
              <a:rPr lang="en-US" altLang="zh-CN" sz="2000" b="1" dirty="0"/>
              <a:t>(alt)</a:t>
            </a:r>
            <a:r>
              <a:rPr lang="zh-CN" altLang="en-US" sz="2000" dirty="0"/>
              <a:t>，调用 </a:t>
            </a:r>
            <a:r>
              <a:rPr lang="en-US" altLang="zh-CN" sz="2000" dirty="0"/>
              <a:t>window() </a:t>
            </a:r>
            <a:r>
              <a:rPr lang="zh-CN" altLang="en-US" sz="2000" dirty="0"/>
              <a:t>显示“恭喜”信息。</a:t>
            </a:r>
          </a:p>
          <a:p>
            <a:pPr marL="720000" indent="0">
              <a:lnSpc>
                <a:spcPct val="130000"/>
              </a:lnSpc>
              <a:buNone/>
            </a:pPr>
            <a:r>
              <a:rPr lang="zh-CN" altLang="en-US" sz="2000" u="sng" dirty="0"/>
              <a:t>如果</a:t>
            </a:r>
            <a:r>
              <a:rPr lang="zh-CN" altLang="en-US" sz="2000" b="1" dirty="0"/>
              <a:t>游戏未结束 </a:t>
            </a:r>
            <a:r>
              <a:rPr lang="zh-CN" altLang="en-US" sz="2000" dirty="0"/>
              <a:t>，更新方块视图（显示数字），</a:t>
            </a:r>
            <a:endParaRPr lang="en-US" altLang="zh-CN" sz="2000" dirty="0"/>
          </a:p>
          <a:p>
            <a:pPr marL="720000" indent="0">
              <a:lnSpc>
                <a:spcPct val="130000"/>
              </a:lnSpc>
              <a:buNone/>
            </a:pPr>
            <a:r>
              <a:rPr lang="zh-CN" altLang="en-US" sz="2000" dirty="0"/>
              <a:t>等待玩家下一次操作。</a:t>
            </a:r>
            <a:endParaRPr lang="zh-CN" altLang="en-US" dirty="0"/>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716783"/>
            <a:ext cx="5486665" cy="12574783"/>
          </a:xfrm>
          <a:prstGeom prst="rect">
            <a:avLst/>
          </a:prstGeom>
        </p:spPr>
      </p:pic>
      <p:sp>
        <p:nvSpPr>
          <p:cNvPr id="8" name="矩形 7">
            <a:extLst>
              <a:ext uri="{FF2B5EF4-FFF2-40B4-BE49-F238E27FC236}">
                <a16:creationId xmlns:a16="http://schemas.microsoft.com/office/drawing/2014/main" id="{F1D06765-A7BD-70B7-A67A-728214595449}"/>
              </a:ext>
            </a:extLst>
          </p:cNvPr>
          <p:cNvSpPr/>
          <p:nvPr/>
        </p:nvSpPr>
        <p:spPr>
          <a:xfrm>
            <a:off x="5845172" y="17399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707988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D758-D619-F7F5-0A76-5BDB63897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F50C01-EA32-9E73-B028-D26B9B382DC2}"/>
              </a:ext>
            </a:extLst>
          </p:cNvPr>
          <p:cNvSpPr>
            <a:spLocks noGrp="1"/>
          </p:cNvSpPr>
          <p:nvPr>
            <p:ph type="title"/>
          </p:nvPr>
        </p:nvSpPr>
        <p:spPr>
          <a:xfrm>
            <a:off x="4482439" y="1226634"/>
            <a:ext cx="7253368" cy="1677747"/>
          </a:xfrm>
        </p:spPr>
        <p:txBody>
          <a:bodyPr/>
          <a:lstStyle/>
          <a:p>
            <a:pPr lvl="0"/>
            <a:r>
              <a:rPr lang="zh-CN" altLang="en-US" sz="13800" dirty="0"/>
              <a:t>主要功能</a:t>
            </a:r>
            <a:endParaRPr lang="en-US" sz="13800" dirty="0"/>
          </a:p>
        </p:txBody>
      </p:sp>
      <p:sp>
        <p:nvSpPr>
          <p:cNvPr id="4" name="Slide Number Placeholder 3">
            <a:extLst>
              <a:ext uri="{FF2B5EF4-FFF2-40B4-BE49-F238E27FC236}">
                <a16:creationId xmlns:a16="http://schemas.microsoft.com/office/drawing/2014/main" id="{561966C0-BA12-5CA6-65C6-CA2EA903CDEF}"/>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8677349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43B3C-D7D7-BA39-C0B8-38E0A6879BA8}"/>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BE4B1889-2B7A-1C4B-72BA-B2D39F257314}"/>
              </a:ext>
            </a:extLst>
          </p:cNvPr>
          <p:cNvSpPr txBox="1"/>
          <p:nvPr/>
        </p:nvSpPr>
        <p:spPr>
          <a:xfrm>
            <a:off x="174820" y="1931832"/>
            <a:ext cx="4467890" cy="461665"/>
          </a:xfrm>
          <a:prstGeom prst="rect">
            <a:avLst/>
          </a:prstGeom>
          <a:noFill/>
        </p:spPr>
        <p:txBody>
          <a:bodyPr wrap="none" rtlCol="0">
            <a:spAutoFit/>
          </a:bodyPr>
          <a:lstStyle/>
          <a:p>
            <a:r>
              <a:rPr lang="zh-CN" altLang="en-US" sz="2400" dirty="0"/>
              <a:t>读取</a:t>
            </a:r>
            <a:r>
              <a:rPr lang="en-US" altLang="zh-CN" sz="2400" dirty="0" err="1"/>
              <a:t>bgm</a:t>
            </a:r>
            <a:r>
              <a:rPr lang="zh-CN" altLang="en-US" sz="2400" dirty="0"/>
              <a:t>文件夹中的音乐并播放</a:t>
            </a:r>
          </a:p>
        </p:txBody>
      </p:sp>
      <p:pic>
        <p:nvPicPr>
          <p:cNvPr id="11" name="图片 10">
            <a:extLst>
              <a:ext uri="{FF2B5EF4-FFF2-40B4-BE49-F238E27FC236}">
                <a16:creationId xmlns:a16="http://schemas.microsoft.com/office/drawing/2014/main" id="{DF8B7D3C-4579-7040-0771-B89257123C33}"/>
              </a:ext>
            </a:extLst>
          </p:cNvPr>
          <p:cNvPicPr>
            <a:picLocks noChangeAspect="1"/>
          </p:cNvPicPr>
          <p:nvPr/>
        </p:nvPicPr>
        <p:blipFill>
          <a:blip r:embed="rId2">
            <a:alphaModFix amt="82000"/>
          </a:blip>
          <a:stretch>
            <a:fillRect/>
          </a:stretch>
        </p:blipFill>
        <p:spPr>
          <a:xfrm>
            <a:off x="174820" y="2680752"/>
            <a:ext cx="6463873" cy="1975948"/>
          </a:xfrm>
          <a:prstGeom prst="rect">
            <a:avLst/>
          </a:prstGeom>
        </p:spPr>
      </p:pic>
      <p:sp>
        <p:nvSpPr>
          <p:cNvPr id="15" name="文本框 14">
            <a:extLst>
              <a:ext uri="{FF2B5EF4-FFF2-40B4-BE49-F238E27FC236}">
                <a16:creationId xmlns:a16="http://schemas.microsoft.com/office/drawing/2014/main" id="{C54FE621-8323-8650-4E50-00FB4271E93D}"/>
              </a:ext>
            </a:extLst>
          </p:cNvPr>
          <p:cNvSpPr txBox="1"/>
          <p:nvPr/>
        </p:nvSpPr>
        <p:spPr>
          <a:xfrm>
            <a:off x="7549292" y="1931831"/>
            <a:ext cx="1415772" cy="461665"/>
          </a:xfrm>
          <a:prstGeom prst="rect">
            <a:avLst/>
          </a:prstGeom>
          <a:noFill/>
        </p:spPr>
        <p:txBody>
          <a:bodyPr wrap="none" rtlCol="0">
            <a:spAutoFit/>
          </a:bodyPr>
          <a:lstStyle/>
          <a:p>
            <a:r>
              <a:rPr lang="zh-CN" altLang="en-US" sz="2400" dirty="0"/>
              <a:t>选择界面</a:t>
            </a:r>
          </a:p>
        </p:txBody>
      </p:sp>
      <p:pic>
        <p:nvPicPr>
          <p:cNvPr id="16" name="图片 15">
            <a:extLst>
              <a:ext uri="{FF2B5EF4-FFF2-40B4-BE49-F238E27FC236}">
                <a16:creationId xmlns:a16="http://schemas.microsoft.com/office/drawing/2014/main" id="{E6474AB3-2818-8F4A-99B9-E2147D25BEDA}"/>
              </a:ext>
            </a:extLst>
          </p:cNvPr>
          <p:cNvPicPr>
            <a:picLocks noChangeAspect="1"/>
          </p:cNvPicPr>
          <p:nvPr/>
        </p:nvPicPr>
        <p:blipFill>
          <a:blip r:embed="rId3">
            <a:alphaModFix amt="82000"/>
          </a:blip>
          <a:stretch>
            <a:fillRect/>
          </a:stretch>
        </p:blipFill>
        <p:spPr>
          <a:xfrm>
            <a:off x="7605467" y="2627651"/>
            <a:ext cx="3136874" cy="3726978"/>
          </a:xfrm>
          <a:prstGeom prst="rect">
            <a:avLst/>
          </a:prstGeom>
        </p:spPr>
      </p:pic>
      <p:sp>
        <p:nvSpPr>
          <p:cNvPr id="5" name="Title 1">
            <a:extLst>
              <a:ext uri="{FF2B5EF4-FFF2-40B4-BE49-F238E27FC236}">
                <a16:creationId xmlns:a16="http://schemas.microsoft.com/office/drawing/2014/main" id="{C11058BB-AA2B-E1E7-0EB2-15FD4EF161BF}"/>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endParaRPr lang="en-US" dirty="0"/>
          </a:p>
        </p:txBody>
      </p:sp>
      <p:sp>
        <p:nvSpPr>
          <p:cNvPr id="10" name="矩形 9">
            <a:extLst>
              <a:ext uri="{FF2B5EF4-FFF2-40B4-BE49-F238E27FC236}">
                <a16:creationId xmlns:a16="http://schemas.microsoft.com/office/drawing/2014/main" id="{A9E331DD-CED4-7A4E-171C-69D081DB3FCB}"/>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a:extLst>
              <a:ext uri="{FF2B5EF4-FFF2-40B4-BE49-F238E27FC236}">
                <a16:creationId xmlns:a16="http://schemas.microsoft.com/office/drawing/2014/main" id="{8AA80E5E-18EE-1FE9-7185-94FB013A525F}"/>
              </a:ext>
            </a:extLst>
          </p:cNvPr>
          <p:cNvPicPr>
            <a:picLocks noChangeAspect="1"/>
          </p:cNvPicPr>
          <p:nvPr/>
        </p:nvPicPr>
        <p:blipFill>
          <a:blip r:embed="rId4">
            <a:alphaModFix amt="82000"/>
          </a:blip>
          <a:stretch>
            <a:fillRect/>
          </a:stretch>
        </p:blipFill>
        <p:spPr>
          <a:xfrm>
            <a:off x="7617684" y="2627651"/>
            <a:ext cx="3824205" cy="2233219"/>
          </a:xfrm>
          <a:prstGeom prst="rect">
            <a:avLst/>
          </a:prstGeom>
        </p:spPr>
      </p:pic>
      <p:pic>
        <p:nvPicPr>
          <p:cNvPr id="4" name="图片 3">
            <a:extLst>
              <a:ext uri="{FF2B5EF4-FFF2-40B4-BE49-F238E27FC236}">
                <a16:creationId xmlns:a16="http://schemas.microsoft.com/office/drawing/2014/main" id="{095C4188-1E72-8EE3-593A-F50A37D5BAA2}"/>
              </a:ext>
            </a:extLst>
          </p:cNvPr>
          <p:cNvPicPr>
            <a:picLocks noChangeAspect="1"/>
          </p:cNvPicPr>
          <p:nvPr/>
        </p:nvPicPr>
        <p:blipFill>
          <a:blip r:embed="rId5">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Tree>
    <p:extLst>
      <p:ext uri="{BB962C8B-B14F-4D97-AF65-F5344CB8AC3E}">
        <p14:creationId xmlns:p14="http://schemas.microsoft.com/office/powerpoint/2010/main" val="2471748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a:extLst>
              <a:ext uri="{FF2B5EF4-FFF2-40B4-BE49-F238E27FC236}">
                <a16:creationId xmlns:a16="http://schemas.microsoft.com/office/drawing/2014/main" id="{857DF8CB-07D4-1413-8435-E7E0E87860B5}"/>
              </a:ext>
            </a:extLst>
          </p:cNvPr>
          <p:cNvGraphicFramePr>
            <a:graphicFrameLocks noGrp="1"/>
          </p:cNvGraphicFramePr>
          <p:nvPr>
            <p:extLst>
              <p:ext uri="{D42A27DB-BD31-4B8C-83A1-F6EECF244321}">
                <p14:modId xmlns:p14="http://schemas.microsoft.com/office/powerpoint/2010/main" val="2778951246"/>
              </p:ext>
            </p:extLst>
          </p:nvPr>
        </p:nvGraphicFramePr>
        <p:xfrm>
          <a:off x="174088" y="1727203"/>
          <a:ext cx="9008926" cy="4523425"/>
        </p:xfrm>
        <a:graphic>
          <a:graphicData uri="http://schemas.openxmlformats.org/drawingml/2006/table">
            <a:tbl>
              <a:tblPr firstRow="1" bandRow="1">
                <a:tableStyleId>{5C22544A-7EE6-4342-B048-85BDC9FD1C3A}</a:tableStyleId>
              </a:tblPr>
              <a:tblGrid>
                <a:gridCol w="1592513">
                  <a:extLst>
                    <a:ext uri="{9D8B030D-6E8A-4147-A177-3AD203B41FA5}">
                      <a16:colId xmlns:a16="http://schemas.microsoft.com/office/drawing/2014/main" val="1506973227"/>
                    </a:ext>
                  </a:extLst>
                </a:gridCol>
                <a:gridCol w="1608851">
                  <a:extLst>
                    <a:ext uri="{9D8B030D-6E8A-4147-A177-3AD203B41FA5}">
                      <a16:colId xmlns:a16="http://schemas.microsoft.com/office/drawing/2014/main" val="213374773"/>
                    </a:ext>
                  </a:extLst>
                </a:gridCol>
                <a:gridCol w="2903781">
                  <a:extLst>
                    <a:ext uri="{9D8B030D-6E8A-4147-A177-3AD203B41FA5}">
                      <a16:colId xmlns:a16="http://schemas.microsoft.com/office/drawing/2014/main" val="2321845813"/>
                    </a:ext>
                  </a:extLst>
                </a:gridCol>
                <a:gridCol w="2903781">
                  <a:extLst>
                    <a:ext uri="{9D8B030D-6E8A-4147-A177-3AD203B41FA5}">
                      <a16:colId xmlns:a16="http://schemas.microsoft.com/office/drawing/2014/main" val="3335136129"/>
                    </a:ext>
                  </a:extLst>
                </a:gridCol>
              </a:tblGrid>
              <a:tr h="406369">
                <a:tc>
                  <a:txBody>
                    <a:bodyPr/>
                    <a:lstStyle/>
                    <a:p>
                      <a:r>
                        <a:rPr lang="zh-CN" altLang="en-US" dirty="0">
                          <a:effectLst/>
                        </a:rPr>
                        <a:t>功能</a:t>
                      </a:r>
                    </a:p>
                  </a:txBody>
                  <a:tcPr marL="57150" marR="57150" marT="38100" marB="38100" anchor="ctr"/>
                </a:tc>
                <a:tc>
                  <a:txBody>
                    <a:bodyPr/>
                    <a:lstStyle/>
                    <a:p>
                      <a:r>
                        <a:rPr lang="zh-CN" altLang="en-US" dirty="0">
                          <a:effectLst/>
                        </a:rPr>
                        <a:t>位置</a:t>
                      </a:r>
                    </a:p>
                  </a:txBody>
                  <a:tcPr marL="57150" marR="57150" marT="38100" marB="38100" anchor="ctr"/>
                </a:tc>
                <a:tc>
                  <a:txBody>
                    <a:bodyPr/>
                    <a:lstStyle/>
                    <a:p>
                      <a:r>
                        <a:rPr lang="zh-CN" altLang="en-US" dirty="0">
                          <a:effectLst/>
                        </a:rPr>
                        <a:t>说明</a:t>
                      </a:r>
                    </a:p>
                  </a:txBody>
                  <a:tcPr marL="57150" marR="57150" marT="38100" marB="38100" anchor="ctr"/>
                </a:tc>
                <a:tc>
                  <a:txBody>
                    <a:bodyPr/>
                    <a:lstStyle/>
                    <a:p>
                      <a:r>
                        <a:rPr lang="zh-CN" altLang="en-US" dirty="0">
                          <a:effectLst/>
                        </a:rPr>
                        <a:t>功能</a:t>
                      </a:r>
                    </a:p>
                  </a:txBody>
                  <a:tcPr marL="57150" marR="57150" marT="38100" marB="38100" anchor="ctr"/>
                </a:tc>
                <a:extLst>
                  <a:ext uri="{0D108BD9-81ED-4DB2-BD59-A6C34878D82A}">
                    <a16:rowId xmlns:a16="http://schemas.microsoft.com/office/drawing/2014/main" val="517175920"/>
                  </a:ext>
                </a:extLst>
              </a:tr>
              <a:tr h="682477">
                <a:tc>
                  <a:txBody>
                    <a:bodyPr/>
                    <a:lstStyle/>
                    <a:p>
                      <a:r>
                        <a:rPr lang="zh-CN" altLang="en-US" dirty="0">
                          <a:effectLst/>
                        </a:rPr>
                        <a:t>音乐开关</a:t>
                      </a:r>
                    </a:p>
                  </a:txBody>
                  <a:tcPr marL="57150" marR="57150" marT="38100" marB="38100" anchor="ctr"/>
                </a:tc>
                <a:tc>
                  <a:txBody>
                    <a:bodyPr/>
                    <a:lstStyle/>
                    <a:p>
                      <a:r>
                        <a:rPr lang="en-US" dirty="0">
                          <a:effectLst/>
                        </a:rPr>
                        <a:t>Menu</a:t>
                      </a:r>
                    </a:p>
                  </a:txBody>
                  <a:tcPr marL="57150" marR="57150" marT="38100" marB="38100" anchor="ctr"/>
                </a:tc>
                <a:tc>
                  <a:txBody>
                    <a:bodyPr/>
                    <a:lstStyle/>
                    <a:p>
                      <a:r>
                        <a:rPr lang="zh-CN" altLang="en-US" dirty="0">
                          <a:effectLst/>
                        </a:rPr>
                        <a:t>复选框控制是否播放，默认关闭</a:t>
                      </a:r>
                    </a:p>
                  </a:txBody>
                  <a:tcPr marL="57150" marR="57150" marT="38100" marB="38100" anchor="ctr"/>
                </a:tc>
                <a:tc rowSpan="3">
                  <a:txBody>
                    <a:bodyPr/>
                    <a:lstStyle/>
                    <a:p>
                      <a:r>
                        <a:rPr lang="zh-CN" altLang="en-US" sz="1800" b="0" i="0" kern="1200" dirty="0">
                          <a:solidFill>
                            <a:schemeClr val="dk1"/>
                          </a:solidFill>
                          <a:effectLst/>
                          <a:latin typeface="+mn-lt"/>
                          <a:ea typeface="+mn-ea"/>
                          <a:cs typeface="+mn-cs"/>
                        </a:rPr>
                        <a:t>添加音乐设置界面（复选框、音乐选择、音量滑块</a:t>
                      </a:r>
                      <a:endParaRPr lang="zh-CN" altLang="en-US" dirty="0">
                        <a:effectLst/>
                      </a:endParaRPr>
                    </a:p>
                  </a:txBody>
                  <a:tcPr marL="57150" marR="57150" marT="38100" marB="38100" anchor="ctr"/>
                </a:tc>
                <a:extLst>
                  <a:ext uri="{0D108BD9-81ED-4DB2-BD59-A6C34878D82A}">
                    <a16:rowId xmlns:a16="http://schemas.microsoft.com/office/drawing/2014/main" val="1731933694"/>
                  </a:ext>
                </a:extLst>
              </a:tr>
              <a:tr h="682477">
                <a:tc>
                  <a:txBody>
                    <a:bodyPr/>
                    <a:lstStyle/>
                    <a:p>
                      <a:r>
                        <a:rPr lang="zh-CN" altLang="en-US">
                          <a:effectLst/>
                        </a:rPr>
                        <a:t>音乐选择</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下拉框选择具体曲目或随机播放</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1705314790"/>
                  </a:ext>
                </a:extLst>
              </a:tr>
              <a:tr h="405047">
                <a:tc>
                  <a:txBody>
                    <a:bodyPr/>
                    <a:lstStyle/>
                    <a:p>
                      <a:r>
                        <a:rPr lang="zh-CN" altLang="en-US">
                          <a:effectLst/>
                        </a:rPr>
                        <a:t>音量控制</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滑块调节音量 </a:t>
                      </a:r>
                      <a:r>
                        <a:rPr lang="en-US" altLang="zh-CN" dirty="0">
                          <a:effectLst/>
                        </a:rPr>
                        <a:t>(0-100%)</a:t>
                      </a:r>
                    </a:p>
                  </a:txBody>
                  <a:tcPr marL="57150" marR="57150" marT="38100" marB="38100" anchor="ctr"/>
                </a:tc>
                <a:tc vMerge="1">
                  <a:txBody>
                    <a:bodyPr/>
                    <a:lstStyle/>
                    <a:p>
                      <a:endParaRPr lang="en-US" altLang="zh-CN" dirty="0">
                        <a:effectLst/>
                      </a:endParaRPr>
                    </a:p>
                  </a:txBody>
                  <a:tcPr marL="57150" marR="57150" marT="38100" marB="38100" anchor="ctr"/>
                </a:tc>
                <a:extLst>
                  <a:ext uri="{0D108BD9-81ED-4DB2-BD59-A6C34878D82A}">
                    <a16:rowId xmlns:a16="http://schemas.microsoft.com/office/drawing/2014/main" val="3585465677"/>
                  </a:ext>
                </a:extLst>
              </a:tr>
              <a:tr h="405047">
                <a:tc>
                  <a:txBody>
                    <a:bodyPr/>
                    <a:lstStyle/>
                    <a:p>
                      <a:r>
                        <a:rPr lang="zh-CN" altLang="en-US">
                          <a:effectLst/>
                        </a:rPr>
                        <a:t>播放</a:t>
                      </a:r>
                      <a:r>
                        <a:rPr lang="en-US" altLang="zh-CN">
                          <a:effectLst/>
                        </a:rPr>
                        <a:t>/</a:t>
                      </a:r>
                      <a:r>
                        <a:rPr lang="zh-CN" altLang="en-US">
                          <a:effectLst/>
                        </a:rPr>
                        <a:t>暂停</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a:effectLst/>
                        </a:rPr>
                        <a:t>游戏中切换播放状态</a:t>
                      </a:r>
                    </a:p>
                  </a:txBody>
                  <a:tcPr marL="57150" marR="57150" marT="38100" marB="38100" anchor="ctr"/>
                </a:tc>
                <a:tc rowSpan="2">
                  <a:txBody>
                    <a:bodyPr/>
                    <a:lstStyle/>
                    <a:p>
                      <a:r>
                        <a:rPr lang="zh-CN" altLang="en-US" sz="1800" b="0" i="0" kern="1200" dirty="0">
                          <a:solidFill>
                            <a:schemeClr val="dk1"/>
                          </a:solidFill>
                          <a:effectLst/>
                          <a:latin typeface="+mn-lt"/>
                          <a:ea typeface="+mn-ea"/>
                          <a:cs typeface="+mn-cs"/>
                        </a:rPr>
                        <a:t>添加底部音乐控制面板；新增 </a:t>
                      </a:r>
                      <a:r>
                        <a:rPr lang="en-US" altLang="zh-CN" sz="1800" b="0" i="0" u="none" strike="noStrike" kern="1200" dirty="0" err="1">
                          <a:solidFill>
                            <a:schemeClr val="dk1"/>
                          </a:solidFill>
                          <a:effectLst/>
                          <a:latin typeface="+mn-lt"/>
                          <a:ea typeface="+mn-ea"/>
                          <a:cs typeface="+mn-cs"/>
                        </a:rPr>
                        <a:t>getBoardWidth</a:t>
                      </a:r>
                      <a:r>
                        <a:rPr lang="en-US" altLang="zh-CN" sz="1800" b="0" i="0" u="none" strike="noStrike" kern="1200" dirty="0">
                          <a:solidFill>
                            <a:schemeClr val="dk1"/>
                          </a:solidFill>
                          <a:effectLst/>
                          <a:latin typeface="+mn-lt"/>
                          <a:ea typeface="+mn-ea"/>
                          <a:cs typeface="+mn-cs"/>
                        </a:rPr>
                        <a:t>()</a:t>
                      </a:r>
                      <a:r>
                        <a:rPr lang="zh-CN" altLang="en-US" sz="1800" b="0" i="0" kern="1200" dirty="0">
                          <a:solidFill>
                            <a:schemeClr val="dk1"/>
                          </a:solidFill>
                          <a:effectLst/>
                          <a:latin typeface="+mn-lt"/>
                          <a:ea typeface="+mn-ea"/>
                          <a:cs typeface="+mn-cs"/>
                        </a:rPr>
                        <a:t>和 </a:t>
                      </a:r>
                      <a:r>
                        <a:rPr lang="en-US" altLang="zh-CN" sz="1800" b="0" i="0" u="none" strike="noStrike" kern="1200" dirty="0" err="1">
                          <a:solidFill>
                            <a:schemeClr val="dk1"/>
                          </a:solidFill>
                          <a:effectLst/>
                          <a:latin typeface="+mn-lt"/>
                          <a:ea typeface="+mn-ea"/>
                          <a:cs typeface="+mn-cs"/>
                        </a:rPr>
                        <a:t>getBoardHeight</a:t>
                      </a:r>
                      <a:r>
                        <a:rPr lang="en-US" altLang="zh-CN" sz="1800" b="0" i="0" u="none" strike="noStrike" kern="1200" dirty="0">
                          <a:solidFill>
                            <a:schemeClr val="dk1"/>
                          </a:solidFill>
                          <a:effectLst/>
                          <a:latin typeface="+mn-lt"/>
                          <a:ea typeface="+mn-ea"/>
                          <a:cs typeface="+mn-cs"/>
                        </a:rPr>
                        <a:t>()</a:t>
                      </a:r>
                      <a:endParaRPr lang="zh-CN" altLang="en-US" dirty="0">
                        <a:effectLst/>
                      </a:endParaRPr>
                    </a:p>
                  </a:txBody>
                  <a:tcPr marL="57150" marR="57150" marT="38100" marB="38100" anchor="ctr"/>
                </a:tc>
                <a:extLst>
                  <a:ext uri="{0D108BD9-81ED-4DB2-BD59-A6C34878D82A}">
                    <a16:rowId xmlns:a16="http://schemas.microsoft.com/office/drawing/2014/main" val="4283061161"/>
                  </a:ext>
                </a:extLst>
              </a:tr>
              <a:tr h="577054">
                <a:tc>
                  <a:txBody>
                    <a:bodyPr/>
                    <a:lstStyle/>
                    <a:p>
                      <a:r>
                        <a:rPr lang="zh-CN" altLang="en-US">
                          <a:effectLst/>
                        </a:rPr>
                        <a:t>下一首</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dirty="0">
                          <a:effectLst/>
                        </a:rPr>
                        <a:t>游戏中切换曲目</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3491428631"/>
                  </a:ext>
                </a:extLst>
              </a:tr>
              <a:tr h="682477">
                <a:tc>
                  <a:txBody>
                    <a:bodyPr/>
                    <a:lstStyle/>
                    <a:p>
                      <a:r>
                        <a:rPr lang="zh-CN" altLang="en-US">
                          <a:effectLst/>
                        </a:rPr>
                        <a:t>自动播放</a:t>
                      </a:r>
                    </a:p>
                  </a:txBody>
                  <a:tcPr marL="57150" marR="57150" marT="38100" marB="38100" anchor="ctr"/>
                </a:tc>
                <a:tc>
                  <a:txBody>
                    <a:bodyPr/>
                    <a:lstStyle/>
                    <a:p>
                      <a:r>
                        <a:rPr lang="en-US">
                          <a:effectLst/>
                        </a:rPr>
                        <a:t>MusicPlayer</a:t>
                      </a:r>
                    </a:p>
                  </a:txBody>
                  <a:tcPr marL="57150" marR="57150" marT="38100" marB="38100" anchor="ctr"/>
                </a:tc>
                <a:tc>
                  <a:txBody>
                    <a:bodyPr/>
                    <a:lstStyle/>
                    <a:p>
                      <a:r>
                        <a:rPr lang="zh-CN" altLang="en-US" dirty="0">
                          <a:effectLst/>
                        </a:rPr>
                        <a:t>一首结束后自动播放下一首</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新增的核心音乐播放器类</a:t>
                      </a:r>
                      <a:endParaRPr lang="zh-CN" altLang="en-US" dirty="0">
                        <a:effectLst/>
                      </a:endParaRPr>
                    </a:p>
                  </a:txBody>
                  <a:tcPr marL="57150" marR="57150" marT="38100" marB="38100" anchor="ctr"/>
                </a:tc>
                <a:extLst>
                  <a:ext uri="{0D108BD9-81ED-4DB2-BD59-A6C34878D82A}">
                    <a16:rowId xmlns:a16="http://schemas.microsoft.com/office/drawing/2014/main" val="220169985"/>
                  </a:ext>
                </a:extLst>
              </a:tr>
              <a:tr h="682477">
                <a:tc>
                  <a:txBody>
                    <a:bodyPr/>
                    <a:lstStyle/>
                    <a:p>
                      <a:r>
                        <a:rPr lang="zh-CN" altLang="en-US">
                          <a:effectLst/>
                        </a:rPr>
                        <a:t>游戏结束停止</a:t>
                      </a:r>
                    </a:p>
                  </a:txBody>
                  <a:tcPr marL="57150" marR="57150" marT="38100" marB="38100" anchor="ctr"/>
                </a:tc>
                <a:tc>
                  <a:txBody>
                    <a:bodyPr/>
                    <a:lstStyle/>
                    <a:p>
                      <a:r>
                        <a:rPr lang="en-US">
                          <a:effectLst/>
                        </a:rPr>
                        <a:t>SmartSquare</a:t>
                      </a:r>
                    </a:p>
                  </a:txBody>
                  <a:tcPr marL="57150" marR="57150" marT="38100" marB="38100" anchor="ctr"/>
                </a:tc>
                <a:tc>
                  <a:txBody>
                    <a:bodyPr/>
                    <a:lstStyle/>
                    <a:p>
                      <a:r>
                        <a:rPr lang="zh-CN" altLang="en-US" dirty="0">
                          <a:effectLst/>
                        </a:rPr>
                        <a:t>游戏胜利</a:t>
                      </a:r>
                      <a:r>
                        <a:rPr lang="en-US" altLang="zh-CN" dirty="0">
                          <a:effectLst/>
                        </a:rPr>
                        <a:t>/</a:t>
                      </a:r>
                      <a:r>
                        <a:rPr lang="zh-CN" altLang="en-US" dirty="0">
                          <a:effectLst/>
                        </a:rPr>
                        <a:t>失败时自动停止音乐</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游戏结束时停止音乐</a:t>
                      </a:r>
                      <a:endParaRPr lang="zh-CN" altLang="en-US" dirty="0">
                        <a:effectLst/>
                      </a:endParaRPr>
                    </a:p>
                  </a:txBody>
                  <a:tcPr marL="57150" marR="57150" marT="38100" marB="38100" anchor="ctr"/>
                </a:tc>
                <a:extLst>
                  <a:ext uri="{0D108BD9-81ED-4DB2-BD59-A6C34878D82A}">
                    <a16:rowId xmlns:a16="http://schemas.microsoft.com/office/drawing/2014/main" val="2825539339"/>
                  </a:ext>
                </a:extLst>
              </a:tr>
            </a:tbl>
          </a:graphicData>
        </a:graphic>
      </p:graphicFrame>
      <p:sp>
        <p:nvSpPr>
          <p:cNvPr id="5" name="Title 1">
            <a:extLst>
              <a:ext uri="{FF2B5EF4-FFF2-40B4-BE49-F238E27FC236}">
                <a16:creationId xmlns:a16="http://schemas.microsoft.com/office/drawing/2014/main" id="{D2F64FCC-5933-6E59-5552-E329458E4D5C}"/>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endParaRPr lang="en-US" dirty="0"/>
          </a:p>
        </p:txBody>
      </p:sp>
      <p:pic>
        <p:nvPicPr>
          <p:cNvPr id="12" name="内容占位符 3">
            <a:extLst>
              <a:ext uri="{FF2B5EF4-FFF2-40B4-BE49-F238E27FC236}">
                <a16:creationId xmlns:a16="http://schemas.microsoft.com/office/drawing/2014/main" id="{505FE8B9-FB2E-7AFB-2723-D0A6567190CF}"/>
              </a:ext>
            </a:extLst>
          </p:cNvPr>
          <p:cNvPicPr>
            <a:picLocks noGrp="1" noChangeAspect="1"/>
          </p:cNvPicPr>
          <p:nvPr>
            <p:ph idx="1"/>
          </p:nvPr>
        </p:nvPicPr>
        <p:blipFill>
          <a:blip r:embed="rId2">
            <a:alphaModFix amt="82000"/>
          </a:blip>
          <a:stretch>
            <a:fillRect/>
          </a:stretch>
        </p:blipFill>
        <p:spPr>
          <a:xfrm>
            <a:off x="9656499" y="1118084"/>
            <a:ext cx="2057400" cy="5000625"/>
          </a:xfrm>
          <a:prstGeom prst="rect">
            <a:avLst/>
          </a:prstGeom>
        </p:spPr>
      </p:pic>
      <p:sp>
        <p:nvSpPr>
          <p:cNvPr id="14" name="矩形 13">
            <a:extLst>
              <a:ext uri="{FF2B5EF4-FFF2-40B4-BE49-F238E27FC236}">
                <a16:creationId xmlns:a16="http://schemas.microsoft.com/office/drawing/2014/main" id="{F582A878-1CD1-1345-2ACF-C02A542BF1B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989485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BB711-675D-5052-61DB-5A71A0665D32}"/>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B2FC5424-AD5C-1414-EA6D-E5D038AFC6EC}"/>
              </a:ext>
            </a:extLst>
          </p:cNvPr>
          <p:cNvSpPr>
            <a:spLocks noGrp="1"/>
          </p:cNvSpPr>
          <p:nvPr>
            <p:ph idx="1"/>
          </p:nvPr>
        </p:nvSpPr>
        <p:spPr>
          <a:xfrm>
            <a:off x="335599" y="1619719"/>
            <a:ext cx="5544647" cy="3089818"/>
          </a:xfrm>
        </p:spPr>
        <p:txBody>
          <a:bodyPr>
            <a:normAutofit/>
          </a:bodyPr>
          <a:lstStyle/>
          <a:p>
            <a:pPr marL="342900" indent="-342900">
              <a:buAutoNum type="arabicPeriod"/>
            </a:pPr>
            <a:r>
              <a:rPr lang="zh-CN" altLang="en-US" sz="2400" b="1" dirty="0"/>
              <a:t>单例模式</a:t>
            </a:r>
            <a:endParaRPr lang="en-US" altLang="zh-CN" sz="2400" b="1" dirty="0"/>
          </a:p>
          <a:p>
            <a:pPr marL="0" indent="0">
              <a:buNone/>
            </a:pPr>
            <a:r>
              <a:rPr lang="zh-CN" altLang="en-US" sz="2000" b="0" i="0" dirty="0">
                <a:effectLst/>
                <a:latin typeface="Segoe WPC"/>
              </a:rPr>
              <a:t>确保整个应用程序中只有一个音乐播放器实例</a:t>
            </a:r>
            <a:endParaRPr lang="en-US" altLang="zh-CN" sz="2000" b="0" i="0" dirty="0">
              <a:effectLst/>
              <a:latin typeface="Segoe WPC"/>
            </a:endParaRPr>
          </a:p>
          <a:p>
            <a:pPr marL="0" indent="0">
              <a:buNone/>
            </a:pPr>
            <a:r>
              <a:rPr lang="zh-CN" altLang="en-US" sz="2000" b="0" i="0" dirty="0">
                <a:effectLst/>
                <a:latin typeface="Segoe WPC"/>
              </a:rPr>
              <a:t>所有界面（</a:t>
            </a:r>
            <a:r>
              <a:rPr lang="en-US" altLang="zh-CN" sz="2000" i="0" dirty="0">
                <a:effectLst/>
                <a:latin typeface="Segoe WPC"/>
              </a:rPr>
              <a:t>Menu</a:t>
            </a:r>
            <a:r>
              <a:rPr lang="zh-CN" altLang="en-US" sz="2000" b="0" i="0" dirty="0">
                <a:effectLst/>
                <a:latin typeface="Segoe WPC"/>
              </a:rPr>
              <a:t>、</a:t>
            </a:r>
            <a:r>
              <a:rPr lang="en-US" altLang="zh-CN" sz="2000" i="0" dirty="0" err="1">
                <a:effectLst/>
                <a:latin typeface="Segoe WPC"/>
              </a:rPr>
              <a:t>GameBoard</a:t>
            </a:r>
            <a:r>
              <a:rPr lang="zh-CN" altLang="en-US" sz="2000" b="0" i="0" dirty="0">
                <a:effectLst/>
                <a:latin typeface="Segoe WPC"/>
              </a:rPr>
              <a:t>、</a:t>
            </a:r>
            <a:r>
              <a:rPr lang="en-US" altLang="zh-CN" sz="2000" i="0" dirty="0" err="1">
                <a:effectLst/>
                <a:latin typeface="Segoe WPC"/>
              </a:rPr>
              <a:t>SmartSquare</a:t>
            </a:r>
            <a:r>
              <a:rPr lang="zh-CN" altLang="en-US" sz="2000" b="0" i="0" dirty="0">
                <a:effectLst/>
                <a:latin typeface="Segoe WPC"/>
              </a:rPr>
              <a:t>）都通过 </a:t>
            </a:r>
            <a:r>
              <a:rPr lang="en-US" altLang="zh-CN" sz="2000" dirty="0" err="1">
                <a:latin typeface="Segoe WPC"/>
              </a:rPr>
              <a:t>MusicPlayer.getInstance</a:t>
            </a:r>
            <a:r>
              <a:rPr lang="en-US" altLang="zh-CN" sz="2000" dirty="0">
                <a:latin typeface="Segoe WPC"/>
              </a:rPr>
              <a:t>()</a:t>
            </a:r>
            <a:r>
              <a:rPr lang="zh-CN" altLang="en-US" sz="2000" b="0" i="0" dirty="0">
                <a:effectLst/>
                <a:latin typeface="Segoe WPC"/>
              </a:rPr>
              <a:t>访问同一个播放器</a:t>
            </a:r>
          </a:p>
          <a:p>
            <a:pPr marL="0" indent="0" algn="l">
              <a:buNone/>
            </a:pPr>
            <a:r>
              <a:rPr lang="zh-CN" altLang="en-US" sz="2000" b="0" i="0" dirty="0">
                <a:effectLst/>
                <a:latin typeface="Segoe WPC"/>
              </a:rPr>
              <a:t>避免多个播放器同时播放造成混乱</a:t>
            </a:r>
          </a:p>
          <a:p>
            <a:endParaRPr lang="zh-CN" altLang="en-US" sz="2000" dirty="0"/>
          </a:p>
        </p:txBody>
      </p:sp>
      <p:pic>
        <p:nvPicPr>
          <p:cNvPr id="4" name="图片 3">
            <a:extLst>
              <a:ext uri="{FF2B5EF4-FFF2-40B4-BE49-F238E27FC236}">
                <a16:creationId xmlns:a16="http://schemas.microsoft.com/office/drawing/2014/main" id="{C92C101A-314A-BC2E-878B-ACBFF74C2045}"/>
              </a:ext>
            </a:extLst>
          </p:cNvPr>
          <p:cNvPicPr>
            <a:picLocks noChangeAspect="1"/>
          </p:cNvPicPr>
          <p:nvPr/>
        </p:nvPicPr>
        <p:blipFill>
          <a:blip r:embed="rId2">
            <a:alphaModFix amt="82000"/>
          </a:blip>
          <a:stretch>
            <a:fillRect/>
          </a:stretch>
        </p:blipFill>
        <p:spPr>
          <a:xfrm>
            <a:off x="5969620" y="1619719"/>
            <a:ext cx="5604423" cy="3612681"/>
          </a:xfrm>
          <a:prstGeom prst="rect">
            <a:avLst/>
          </a:prstGeom>
        </p:spPr>
      </p:pic>
      <p:sp>
        <p:nvSpPr>
          <p:cNvPr id="5" name="Title 1">
            <a:extLst>
              <a:ext uri="{FF2B5EF4-FFF2-40B4-BE49-F238E27FC236}">
                <a16:creationId xmlns:a16="http://schemas.microsoft.com/office/drawing/2014/main" id="{0358AAEB-CEB2-BB06-7DE9-F1526AAFD8E9}"/>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r>
              <a:rPr lang="en-US" altLang="zh-CN" dirty="0"/>
              <a:t>.</a:t>
            </a:r>
            <a:r>
              <a:rPr lang="zh-CN" altLang="en-US" dirty="0"/>
              <a:t>模式</a:t>
            </a:r>
            <a:endParaRPr lang="en-US" dirty="0"/>
          </a:p>
        </p:txBody>
      </p:sp>
      <p:pic>
        <p:nvPicPr>
          <p:cNvPr id="2" name="图片 1">
            <a:extLst>
              <a:ext uri="{FF2B5EF4-FFF2-40B4-BE49-F238E27FC236}">
                <a16:creationId xmlns:a16="http://schemas.microsoft.com/office/drawing/2014/main" id="{4BC37CE9-D93C-1A53-D061-7BCF097B05FE}"/>
              </a:ext>
            </a:extLst>
          </p:cNvPr>
          <p:cNvPicPr>
            <a:picLocks noChangeAspect="1"/>
          </p:cNvPicPr>
          <p:nvPr/>
        </p:nvPicPr>
        <p:blipFill>
          <a:blip r:embed="rId3">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
        <p:nvSpPr>
          <p:cNvPr id="10" name="矩形 9">
            <a:extLst>
              <a:ext uri="{FF2B5EF4-FFF2-40B4-BE49-F238E27FC236}">
                <a16:creationId xmlns:a16="http://schemas.microsoft.com/office/drawing/2014/main" id="{DAE0EE1F-0C84-DDFD-2C21-4D7D10D50071}"/>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60462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E3EC151D-A1E7-2BF5-2003-73633E4B27B9}"/>
              </a:ext>
            </a:extLst>
          </p:cNvPr>
          <p:cNvSpPr txBox="1"/>
          <p:nvPr/>
        </p:nvSpPr>
        <p:spPr>
          <a:xfrm>
            <a:off x="399692" y="1319224"/>
            <a:ext cx="6817567" cy="1384995"/>
          </a:xfrm>
          <a:prstGeom prst="rect">
            <a:avLst/>
          </a:prstGeom>
          <a:noFill/>
        </p:spPr>
        <p:txBody>
          <a:bodyPr wrap="square" rtlCol="0">
            <a:spAutoFit/>
          </a:bodyPr>
          <a:lstStyle/>
          <a:p>
            <a:r>
              <a:rPr lang="en-US" altLang="zh-CN" sz="2400" b="1" dirty="0"/>
              <a:t>2. </a:t>
            </a:r>
            <a:r>
              <a:rPr lang="zh-CN" altLang="en-US" sz="2400" b="1" dirty="0"/>
              <a:t>观察者模式</a:t>
            </a:r>
            <a:endParaRPr lang="en-US" altLang="zh-CN" sz="2400" b="1" dirty="0"/>
          </a:p>
          <a:p>
            <a:r>
              <a:rPr lang="zh-CN" altLang="en-US" sz="2000" dirty="0"/>
              <a:t>音频播放器 </a:t>
            </a:r>
            <a:r>
              <a:rPr lang="en-US" altLang="zh-CN" sz="2000" dirty="0"/>
              <a:t>Clip </a:t>
            </a:r>
            <a:r>
              <a:rPr lang="zh-CN" altLang="en-US" sz="2000" dirty="0"/>
              <a:t>作为被观察者</a:t>
            </a:r>
          </a:p>
          <a:p>
            <a:r>
              <a:rPr lang="zh-CN" altLang="en-US" sz="2000" dirty="0"/>
              <a:t>通过 </a:t>
            </a:r>
            <a:r>
              <a:rPr lang="en-US" altLang="zh-CN" sz="2000" dirty="0" err="1"/>
              <a:t>LineListener</a:t>
            </a:r>
            <a:r>
              <a:rPr lang="en-US" altLang="zh-CN" sz="2000" dirty="0"/>
              <a:t> </a:t>
            </a:r>
            <a:r>
              <a:rPr lang="zh-CN" altLang="en-US" sz="2000" dirty="0"/>
              <a:t>监听播放状态变化</a:t>
            </a:r>
          </a:p>
          <a:p>
            <a:r>
              <a:rPr lang="zh-CN" altLang="en-US" sz="2000" dirty="0"/>
              <a:t>当音乐播放结束时自动触发 </a:t>
            </a:r>
            <a:r>
              <a:rPr lang="en-US" altLang="zh-CN" sz="2000" dirty="0" err="1"/>
              <a:t>playNext</a:t>
            </a:r>
            <a:r>
              <a:rPr lang="en-US" altLang="zh-CN" sz="2000" dirty="0"/>
              <a:t>() </a:t>
            </a:r>
            <a:r>
              <a:rPr lang="zh-CN" altLang="en-US" sz="2000" dirty="0"/>
              <a:t>播放下一首</a:t>
            </a:r>
          </a:p>
        </p:txBody>
      </p:sp>
      <p:pic>
        <p:nvPicPr>
          <p:cNvPr id="8" name="图片 7">
            <a:extLst>
              <a:ext uri="{FF2B5EF4-FFF2-40B4-BE49-F238E27FC236}">
                <a16:creationId xmlns:a16="http://schemas.microsoft.com/office/drawing/2014/main" id="{4DBA2928-50B3-50FD-31AF-39879AECFC86}"/>
              </a:ext>
            </a:extLst>
          </p:cNvPr>
          <p:cNvPicPr>
            <a:picLocks noChangeAspect="1"/>
          </p:cNvPicPr>
          <p:nvPr/>
        </p:nvPicPr>
        <p:blipFill>
          <a:blip r:embed="rId2">
            <a:alphaModFix amt="82000"/>
          </a:blip>
          <a:stretch>
            <a:fillRect/>
          </a:stretch>
        </p:blipFill>
        <p:spPr>
          <a:xfrm>
            <a:off x="6293983" y="1263829"/>
            <a:ext cx="5498325" cy="1384995"/>
          </a:xfrm>
          <a:prstGeom prst="rect">
            <a:avLst/>
          </a:prstGeom>
        </p:spPr>
      </p:pic>
      <p:sp>
        <p:nvSpPr>
          <p:cNvPr id="5" name="Title 1">
            <a:extLst>
              <a:ext uri="{FF2B5EF4-FFF2-40B4-BE49-F238E27FC236}">
                <a16:creationId xmlns:a16="http://schemas.microsoft.com/office/drawing/2014/main" id="{265A0F58-745F-3EF6-56E2-EF83859669B3}"/>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音乐播放器</a:t>
            </a:r>
            <a:r>
              <a:rPr lang="en-US" altLang="zh-CN" dirty="0"/>
              <a:t>.</a:t>
            </a:r>
            <a:r>
              <a:rPr lang="zh-CN" altLang="en-US" dirty="0"/>
              <a:t>模式</a:t>
            </a:r>
            <a:endParaRPr lang="en-US" dirty="0"/>
          </a:p>
        </p:txBody>
      </p:sp>
      <p:pic>
        <p:nvPicPr>
          <p:cNvPr id="15" name="图片 14">
            <a:extLst>
              <a:ext uri="{FF2B5EF4-FFF2-40B4-BE49-F238E27FC236}">
                <a16:creationId xmlns:a16="http://schemas.microsoft.com/office/drawing/2014/main" id="{533FB74E-5A49-C9DE-2F23-B589A683BDD9}"/>
              </a:ext>
            </a:extLst>
          </p:cNvPr>
          <p:cNvPicPr>
            <a:picLocks noChangeAspect="1"/>
          </p:cNvPicPr>
          <p:nvPr/>
        </p:nvPicPr>
        <p:blipFill>
          <a:blip r:embed="rId3">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
        <p:nvSpPr>
          <p:cNvPr id="16" name="文本框 15">
            <a:extLst>
              <a:ext uri="{FF2B5EF4-FFF2-40B4-BE49-F238E27FC236}">
                <a16:creationId xmlns:a16="http://schemas.microsoft.com/office/drawing/2014/main" id="{6A6A470A-F8AA-F463-50F2-4246CC04F771}"/>
              </a:ext>
            </a:extLst>
          </p:cNvPr>
          <p:cNvSpPr txBox="1"/>
          <p:nvPr/>
        </p:nvSpPr>
        <p:spPr>
          <a:xfrm>
            <a:off x="399692" y="3400677"/>
            <a:ext cx="6419462" cy="1692771"/>
          </a:xfrm>
          <a:prstGeom prst="rect">
            <a:avLst/>
          </a:prstGeom>
          <a:noFill/>
        </p:spPr>
        <p:txBody>
          <a:bodyPr wrap="square" rtlCol="0">
            <a:spAutoFit/>
          </a:bodyPr>
          <a:lstStyle/>
          <a:p>
            <a:r>
              <a:rPr lang="en-US" altLang="zh-CN" sz="2400" b="1" dirty="0"/>
              <a:t>3. </a:t>
            </a:r>
            <a:r>
              <a:rPr lang="zh-CN" altLang="en-US" sz="2400" b="1" dirty="0"/>
              <a:t>外观模式</a:t>
            </a:r>
            <a:endParaRPr lang="en-US" altLang="zh-CN" sz="2400" b="1" dirty="0"/>
          </a:p>
          <a:p>
            <a:r>
              <a:rPr lang="en-US" altLang="zh-CN" sz="2000" dirty="0" err="1"/>
              <a:t>MusicPlayer</a:t>
            </a:r>
            <a:r>
              <a:rPr lang="en-US" altLang="zh-CN" sz="2000" dirty="0"/>
              <a:t> </a:t>
            </a:r>
            <a:r>
              <a:rPr lang="zh-CN" altLang="en-US" sz="2000" dirty="0"/>
              <a:t>封装了底层 </a:t>
            </a:r>
            <a:r>
              <a:rPr lang="en-US" altLang="zh-CN" sz="2000" dirty="0" err="1"/>
              <a:t>javax.sound.sampled</a:t>
            </a:r>
            <a:r>
              <a:rPr lang="en-US" altLang="zh-CN" sz="2000" dirty="0"/>
              <a:t> API </a:t>
            </a:r>
            <a:r>
              <a:rPr lang="zh-CN" altLang="en-US" sz="2000" dirty="0"/>
              <a:t>的复杂操作</a:t>
            </a:r>
          </a:p>
          <a:p>
            <a:r>
              <a:rPr lang="zh-CN" altLang="en-US" sz="2000" dirty="0"/>
              <a:t>对外提供简单的接口（</a:t>
            </a:r>
            <a:r>
              <a:rPr lang="en-US" altLang="zh-CN" sz="2000" dirty="0"/>
              <a:t>play</a:t>
            </a:r>
            <a:r>
              <a:rPr lang="zh-CN" altLang="en-US" sz="2000" dirty="0"/>
              <a:t>、</a:t>
            </a:r>
            <a:r>
              <a:rPr lang="en-US" altLang="zh-CN" sz="2000" dirty="0"/>
              <a:t>pause</a:t>
            </a:r>
            <a:r>
              <a:rPr lang="zh-CN" altLang="en-US" sz="2000" dirty="0"/>
              <a:t>、</a:t>
            </a:r>
            <a:r>
              <a:rPr lang="en-US" altLang="zh-CN" sz="2000" dirty="0"/>
              <a:t>stop </a:t>
            </a:r>
            <a:r>
              <a:rPr lang="zh-CN" altLang="en-US" sz="2000" dirty="0"/>
              <a:t>等）</a:t>
            </a:r>
          </a:p>
          <a:p>
            <a:r>
              <a:rPr lang="zh-CN" altLang="en-US" sz="2000" dirty="0"/>
              <a:t>其他类无需了解音频播放的底层细节</a:t>
            </a:r>
          </a:p>
        </p:txBody>
      </p:sp>
      <p:pic>
        <p:nvPicPr>
          <p:cNvPr id="17" name="图片 16">
            <a:extLst>
              <a:ext uri="{FF2B5EF4-FFF2-40B4-BE49-F238E27FC236}">
                <a16:creationId xmlns:a16="http://schemas.microsoft.com/office/drawing/2014/main" id="{F8B1DEB0-495D-646E-25C2-E9EE1C080EB0}"/>
              </a:ext>
            </a:extLst>
          </p:cNvPr>
          <p:cNvPicPr>
            <a:picLocks noChangeAspect="1"/>
          </p:cNvPicPr>
          <p:nvPr/>
        </p:nvPicPr>
        <p:blipFill>
          <a:blip r:embed="rId4">
            <a:alphaModFix amt="82000"/>
          </a:blip>
          <a:stretch>
            <a:fillRect/>
          </a:stretch>
        </p:blipFill>
        <p:spPr>
          <a:xfrm>
            <a:off x="6717482" y="3082978"/>
            <a:ext cx="5201451" cy="3256193"/>
          </a:xfrm>
          <a:prstGeom prst="rect">
            <a:avLst/>
          </a:prstGeom>
        </p:spPr>
      </p:pic>
      <p:sp>
        <p:nvSpPr>
          <p:cNvPr id="18" name="矩形 17">
            <a:extLst>
              <a:ext uri="{FF2B5EF4-FFF2-40B4-BE49-F238E27FC236}">
                <a16:creationId xmlns:a16="http://schemas.microsoft.com/office/drawing/2014/main" id="{73B21926-BF89-3EC1-AD29-07A464848D72}"/>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658845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ACD46A58-999C-5FF6-5A48-174B299DDE08}"/>
              </a:ext>
            </a:extLst>
          </p:cNvPr>
          <p:cNvPicPr>
            <a:picLocks noChangeAspect="1"/>
          </p:cNvPicPr>
          <p:nvPr/>
        </p:nvPicPr>
        <p:blipFill>
          <a:blip r:embed="rId2">
            <a:alphaModFix amt="82000"/>
          </a:blip>
          <a:stretch>
            <a:fillRect/>
          </a:stretch>
        </p:blipFill>
        <p:spPr>
          <a:xfrm>
            <a:off x="1554776" y="1313214"/>
            <a:ext cx="4957536" cy="5387189"/>
          </a:xfrm>
          <a:prstGeom prst="rect">
            <a:avLst/>
          </a:prstGeom>
        </p:spPr>
      </p:pic>
      <p:sp>
        <p:nvSpPr>
          <p:cNvPr id="4" name="文本框 3">
            <a:extLst>
              <a:ext uri="{FF2B5EF4-FFF2-40B4-BE49-F238E27FC236}">
                <a16:creationId xmlns:a16="http://schemas.microsoft.com/office/drawing/2014/main" id="{BF1604F8-B818-9F7D-5D1F-FF9470D61500}"/>
              </a:ext>
            </a:extLst>
          </p:cNvPr>
          <p:cNvSpPr txBox="1"/>
          <p:nvPr/>
        </p:nvSpPr>
        <p:spPr>
          <a:xfrm>
            <a:off x="6983753" y="2067816"/>
            <a:ext cx="4457397" cy="1938992"/>
          </a:xfrm>
          <a:prstGeom prst="rect">
            <a:avLst/>
          </a:prstGeom>
          <a:noFill/>
        </p:spPr>
        <p:txBody>
          <a:bodyPr wrap="square" rtlCol="0">
            <a:spAutoFit/>
          </a:bodyPr>
          <a:lstStyle/>
          <a:p>
            <a:r>
              <a:rPr lang="zh-CN" altLang="en-US" sz="2400" b="1" dirty="0"/>
              <a:t>排行榜功能说明：</a:t>
            </a:r>
            <a:endParaRPr lang="en-US" altLang="zh-CN" sz="2400" b="1" dirty="0"/>
          </a:p>
          <a:p>
            <a:r>
              <a:rPr lang="zh-CN" altLang="en-US" sz="2400" dirty="0"/>
              <a:t>        记录通关时间，根据不同难度分别统计</a:t>
            </a:r>
            <a:endParaRPr lang="en-US" altLang="zh-CN" sz="2400" dirty="0"/>
          </a:p>
          <a:p>
            <a:r>
              <a:rPr lang="zh-CN" altLang="en-US" sz="2400" dirty="0"/>
              <a:t>        仅记录每个模式前十的成绩，</a:t>
            </a:r>
            <a:endParaRPr lang="en-US" altLang="zh-CN" sz="2400" dirty="0"/>
          </a:p>
          <a:p>
            <a:r>
              <a:rPr lang="zh-CN" altLang="en-US" sz="2400" dirty="0"/>
              <a:t>成绩记录在</a:t>
            </a:r>
            <a:r>
              <a:rPr lang="en-US" altLang="zh-CN" sz="2400" dirty="0"/>
              <a:t>Records.dat</a:t>
            </a:r>
            <a:r>
              <a:rPr lang="zh-CN" altLang="en-US" sz="2400" dirty="0"/>
              <a:t>文件中</a:t>
            </a:r>
          </a:p>
        </p:txBody>
      </p:sp>
      <p:sp>
        <p:nvSpPr>
          <p:cNvPr id="2" name="Title 1">
            <a:extLst>
              <a:ext uri="{FF2B5EF4-FFF2-40B4-BE49-F238E27FC236}">
                <a16:creationId xmlns:a16="http://schemas.microsoft.com/office/drawing/2014/main" id="{EAC4E03C-40DE-063A-EF75-CDF04C130831}"/>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endParaRPr lang="en-US" dirty="0"/>
          </a:p>
        </p:txBody>
      </p:sp>
      <p:sp>
        <p:nvSpPr>
          <p:cNvPr id="11" name="矩形 10">
            <a:extLst>
              <a:ext uri="{FF2B5EF4-FFF2-40B4-BE49-F238E27FC236}">
                <a16:creationId xmlns:a16="http://schemas.microsoft.com/office/drawing/2014/main" id="{97B8BB7D-88BD-5A85-5667-29ED2233DC79}"/>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9739707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398A-F387-668E-6EED-8608FAA0CB9D}"/>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AEE4DAFF-C163-4F1A-AED8-02F2EB013A5B}"/>
              </a:ext>
            </a:extLst>
          </p:cNvPr>
          <p:cNvSpPr txBox="1"/>
          <p:nvPr/>
        </p:nvSpPr>
        <p:spPr>
          <a:xfrm>
            <a:off x="7166518" y="2742460"/>
            <a:ext cx="4248224" cy="830997"/>
          </a:xfrm>
          <a:prstGeom prst="rect">
            <a:avLst/>
          </a:prstGeom>
          <a:noFill/>
        </p:spPr>
        <p:txBody>
          <a:bodyPr wrap="square" rtlCol="0">
            <a:spAutoFit/>
          </a:bodyPr>
          <a:lstStyle/>
          <a:p>
            <a:r>
              <a:rPr lang="zh-CN" altLang="en-US" sz="2400" dirty="0"/>
              <a:t>左边是记录高级难度的前十名榜单（数据内容由王志城提供）</a:t>
            </a:r>
          </a:p>
        </p:txBody>
      </p:sp>
      <p:pic>
        <p:nvPicPr>
          <p:cNvPr id="5" name="图片 4">
            <a:extLst>
              <a:ext uri="{FF2B5EF4-FFF2-40B4-BE49-F238E27FC236}">
                <a16:creationId xmlns:a16="http://schemas.microsoft.com/office/drawing/2014/main" id="{DABB3181-220B-069D-0BA5-FA4EDD9B5B06}"/>
              </a:ext>
            </a:extLst>
          </p:cNvPr>
          <p:cNvPicPr>
            <a:picLocks noChangeAspect="1"/>
          </p:cNvPicPr>
          <p:nvPr/>
        </p:nvPicPr>
        <p:blipFill>
          <a:blip r:embed="rId2">
            <a:alphaModFix amt="82000"/>
          </a:blip>
          <a:stretch>
            <a:fillRect/>
          </a:stretch>
        </p:blipFill>
        <p:spPr>
          <a:xfrm>
            <a:off x="1554776" y="1313214"/>
            <a:ext cx="4982876" cy="5387188"/>
          </a:xfrm>
          <a:prstGeom prst="rect">
            <a:avLst/>
          </a:prstGeom>
        </p:spPr>
      </p:pic>
      <p:sp>
        <p:nvSpPr>
          <p:cNvPr id="2" name="Title 1">
            <a:extLst>
              <a:ext uri="{FF2B5EF4-FFF2-40B4-BE49-F238E27FC236}">
                <a16:creationId xmlns:a16="http://schemas.microsoft.com/office/drawing/2014/main" id="{C37D2C7A-E9A0-B5E0-EA47-EFCF5A69BD6E}"/>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endParaRPr lang="en-US" dirty="0"/>
          </a:p>
        </p:txBody>
      </p:sp>
      <p:sp>
        <p:nvSpPr>
          <p:cNvPr id="7" name="矩形 6">
            <a:extLst>
              <a:ext uri="{FF2B5EF4-FFF2-40B4-BE49-F238E27FC236}">
                <a16:creationId xmlns:a16="http://schemas.microsoft.com/office/drawing/2014/main" id="{FC7D1553-C683-D0D8-7558-A96B79162909}"/>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9090203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9EE65C16-E33B-B5F4-D31D-F5AD1454B36E}"/>
              </a:ext>
            </a:extLst>
          </p:cNvPr>
          <p:cNvPicPr>
            <a:picLocks noGrp="1" noChangeAspect="1"/>
          </p:cNvPicPr>
          <p:nvPr>
            <p:ph idx="1"/>
          </p:nvPr>
        </p:nvPicPr>
        <p:blipFill>
          <a:blip r:embed="rId2">
            <a:alphaModFix amt="82000"/>
          </a:blip>
          <a:stretch>
            <a:fillRect/>
          </a:stretch>
        </p:blipFill>
        <p:spPr>
          <a:xfrm>
            <a:off x="1006205" y="1570966"/>
            <a:ext cx="3609975" cy="4657725"/>
          </a:xfrm>
          <a:prstGeom prst="rect">
            <a:avLst/>
          </a:prstGeom>
        </p:spPr>
      </p:pic>
      <p:sp>
        <p:nvSpPr>
          <p:cNvPr id="3" name="Title 1">
            <a:extLst>
              <a:ext uri="{FF2B5EF4-FFF2-40B4-BE49-F238E27FC236}">
                <a16:creationId xmlns:a16="http://schemas.microsoft.com/office/drawing/2014/main" id="{A7978343-DD12-A413-26A3-C3783AC710CB}"/>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endParaRPr lang="en-US" dirty="0"/>
          </a:p>
        </p:txBody>
      </p:sp>
      <p:sp>
        <p:nvSpPr>
          <p:cNvPr id="6" name="文本框 5">
            <a:extLst>
              <a:ext uri="{FF2B5EF4-FFF2-40B4-BE49-F238E27FC236}">
                <a16:creationId xmlns:a16="http://schemas.microsoft.com/office/drawing/2014/main" id="{94A334BC-710E-3ECD-9B18-5A6BCEFBAD6A}"/>
              </a:ext>
            </a:extLst>
          </p:cNvPr>
          <p:cNvSpPr txBox="1"/>
          <p:nvPr/>
        </p:nvSpPr>
        <p:spPr>
          <a:xfrm>
            <a:off x="5035550" y="716823"/>
            <a:ext cx="5627649" cy="6463308"/>
          </a:xfrm>
          <a:prstGeom prst="rect">
            <a:avLst/>
          </a:prstGeom>
          <a:noFill/>
        </p:spPr>
        <p:txBody>
          <a:bodyPr wrap="square" rtlCol="0">
            <a:spAutoFit/>
          </a:bodyPr>
          <a:lstStyle/>
          <a:p>
            <a:r>
              <a:rPr lang="zh-CN" altLang="en-US" b="1" dirty="0"/>
              <a:t>🧱 主要模块说明</a:t>
            </a:r>
          </a:p>
          <a:p>
            <a:r>
              <a:rPr lang="en-US" altLang="zh-CN" b="1" dirty="0"/>
              <a:t>1. Menu</a:t>
            </a:r>
          </a:p>
          <a:p>
            <a:r>
              <a:rPr lang="zh-CN" altLang="en-US" dirty="0"/>
              <a:t>代表游戏菜单界面。</a:t>
            </a:r>
          </a:p>
          <a:p>
            <a:r>
              <a:rPr lang="zh-CN" altLang="en-US" dirty="0"/>
              <a:t>它有一个方法：</a:t>
            </a:r>
            <a:r>
              <a:rPr lang="en-US" altLang="zh-CN" dirty="0" err="1"/>
              <a:t>onRecordUpdated</a:t>
            </a:r>
            <a:r>
              <a:rPr lang="en-US" altLang="zh-CN" dirty="0"/>
              <a:t>(String)</a:t>
            </a:r>
            <a:r>
              <a:rPr lang="zh-CN" altLang="en-US" dirty="0"/>
              <a:t>，表示当记录更新时会触发这个方法。</a:t>
            </a:r>
          </a:p>
          <a:p>
            <a:r>
              <a:rPr lang="zh-CN" altLang="en-US" dirty="0"/>
              <a:t>它依赖于 </a:t>
            </a:r>
            <a:r>
              <a:rPr lang="en-US" altLang="zh-CN" dirty="0" err="1"/>
              <a:t>RecordManager</a:t>
            </a:r>
            <a:r>
              <a:rPr lang="en-US" altLang="zh-CN" dirty="0"/>
              <a:t> </a:t>
            </a:r>
            <a:r>
              <a:rPr lang="zh-CN" altLang="en-US" dirty="0"/>
              <a:t>来获取、更新记录。</a:t>
            </a:r>
          </a:p>
          <a:p>
            <a:r>
              <a:rPr lang="en-US" altLang="zh-CN" b="1" dirty="0"/>
              <a:t>2. </a:t>
            </a:r>
            <a:r>
              <a:rPr lang="en-US" altLang="zh-CN" b="1" dirty="0" err="1"/>
              <a:t>RecordManager</a:t>
            </a:r>
            <a:endParaRPr lang="en-US" altLang="zh-CN" b="1" dirty="0"/>
          </a:p>
          <a:p>
            <a:r>
              <a:rPr lang="zh-CN" altLang="en-US" dirty="0"/>
              <a:t>一个单例模式（</a:t>
            </a:r>
            <a:r>
              <a:rPr lang="en-US" altLang="zh-CN" dirty="0" err="1"/>
              <a:t>getInstance</a:t>
            </a:r>
            <a:r>
              <a:rPr lang="en-US" altLang="zh-CN" dirty="0"/>
              <a:t>()</a:t>
            </a:r>
            <a:r>
              <a:rPr lang="zh-CN" altLang="en-US" dirty="0"/>
              <a:t>）的管理器。</a:t>
            </a:r>
          </a:p>
          <a:p>
            <a:r>
              <a:rPr lang="zh-CN" altLang="en-US" dirty="0"/>
              <a:t>包含两个主要属性：</a:t>
            </a:r>
          </a:p>
          <a:p>
            <a:pPr lvl="1"/>
            <a:r>
              <a:rPr lang="en-US" altLang="zh-CN" dirty="0"/>
              <a:t>records: Map&lt;String, List&lt;Long&gt;&gt;</a:t>
            </a:r>
            <a:r>
              <a:rPr lang="zh-CN" altLang="en-US" dirty="0"/>
              <a:t>：存储不同难度下的游戏记录（可能是时间戳或毫秒数）。</a:t>
            </a:r>
          </a:p>
          <a:p>
            <a:pPr lvl="1"/>
            <a:r>
              <a:rPr lang="en-US" altLang="zh-CN" dirty="0"/>
              <a:t>observers: List&lt;</a:t>
            </a:r>
            <a:r>
              <a:rPr lang="en-US" altLang="zh-CN" dirty="0" err="1"/>
              <a:t>RecordObserver</a:t>
            </a:r>
            <a:r>
              <a:rPr lang="en-US" altLang="zh-CN" dirty="0"/>
              <a:t>&gt;</a:t>
            </a:r>
            <a:r>
              <a:rPr lang="zh-CN" altLang="en-US" dirty="0"/>
              <a:t>：存储所有注册的观察者。</a:t>
            </a:r>
          </a:p>
          <a:p>
            <a:r>
              <a:rPr lang="zh-CN" altLang="en-US" dirty="0"/>
              <a:t>主要方法：</a:t>
            </a:r>
          </a:p>
          <a:p>
            <a:pPr lvl="1"/>
            <a:r>
              <a:rPr lang="en-US" altLang="zh-CN" dirty="0" err="1"/>
              <a:t>addObserver</a:t>
            </a:r>
            <a:r>
              <a:rPr lang="en-US" altLang="zh-CN" dirty="0"/>
              <a:t> / </a:t>
            </a:r>
            <a:r>
              <a:rPr lang="en-US" altLang="zh-CN" dirty="0" err="1"/>
              <a:t>removeObserver</a:t>
            </a:r>
            <a:r>
              <a:rPr lang="zh-CN" altLang="en-US" dirty="0"/>
              <a:t>：注册</a:t>
            </a:r>
            <a:r>
              <a:rPr lang="en-US" altLang="zh-CN" dirty="0"/>
              <a:t>/</a:t>
            </a:r>
            <a:r>
              <a:rPr lang="zh-CN" altLang="en-US" dirty="0"/>
              <a:t>移除观察者。</a:t>
            </a:r>
          </a:p>
          <a:p>
            <a:pPr lvl="1"/>
            <a:r>
              <a:rPr lang="en-US" altLang="zh-CN" dirty="0" err="1"/>
              <a:t>updateRecord</a:t>
            </a:r>
            <a:r>
              <a:rPr lang="zh-CN" altLang="en-US" dirty="0"/>
              <a:t>：更新记录并通知所有观察者。</a:t>
            </a:r>
          </a:p>
          <a:p>
            <a:pPr lvl="1"/>
            <a:r>
              <a:rPr lang="en-US" altLang="zh-CN" dirty="0" err="1"/>
              <a:t>getFormattedRecords</a:t>
            </a:r>
            <a:r>
              <a:rPr lang="zh-CN" altLang="en-US" dirty="0"/>
              <a:t>：获取格式化后的记录用于显示。</a:t>
            </a:r>
          </a:p>
          <a:p>
            <a:r>
              <a:rPr lang="en-US" altLang="zh-CN" b="1" dirty="0"/>
              <a:t>3. </a:t>
            </a:r>
            <a:r>
              <a:rPr lang="en-US" altLang="zh-CN" b="1" dirty="0" err="1"/>
              <a:t>RecordObserver</a:t>
            </a:r>
            <a:endParaRPr lang="en-US" altLang="zh-CN" b="1" dirty="0"/>
          </a:p>
          <a:p>
            <a:r>
              <a:rPr lang="zh-CN" altLang="en-US" dirty="0"/>
              <a:t>一个观察者接口。</a:t>
            </a:r>
          </a:p>
          <a:p>
            <a:r>
              <a:rPr lang="zh-CN" altLang="en-US" dirty="0"/>
              <a:t>只包含一个方法：</a:t>
            </a:r>
            <a:r>
              <a:rPr lang="en-US" altLang="zh-CN" dirty="0" err="1"/>
              <a:t>onRecordUpdated</a:t>
            </a:r>
            <a:r>
              <a:rPr lang="en-US" altLang="zh-CN" dirty="0"/>
              <a:t>(String)</a:t>
            </a:r>
            <a:r>
              <a:rPr lang="zh-CN" altLang="en-US" dirty="0"/>
              <a:t>，当记录更新时会被调用。</a:t>
            </a:r>
          </a:p>
          <a:p>
            <a:endParaRPr lang="zh-CN" altLang="en-US" dirty="0"/>
          </a:p>
        </p:txBody>
      </p:sp>
      <p:sp>
        <p:nvSpPr>
          <p:cNvPr id="7" name="矩形 6">
            <a:extLst>
              <a:ext uri="{FF2B5EF4-FFF2-40B4-BE49-F238E27FC236}">
                <a16:creationId xmlns:a16="http://schemas.microsoft.com/office/drawing/2014/main" id="{AB92E911-87A3-7E4E-3088-4F95490E8534}"/>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1769628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CF7AF75-F8A2-5858-C0D3-322577EEFDF9}"/>
              </a:ext>
            </a:extLst>
          </p:cNvPr>
          <p:cNvSpPr>
            <a:spLocks noGrp="1"/>
          </p:cNvSpPr>
          <p:nvPr>
            <p:ph idx="1"/>
          </p:nvPr>
        </p:nvSpPr>
        <p:spPr>
          <a:xfrm>
            <a:off x="7761746" y="2168651"/>
            <a:ext cx="3211467" cy="561129"/>
          </a:xfrm>
        </p:spPr>
        <p:txBody>
          <a:bodyPr>
            <a:normAutofit/>
          </a:bodyPr>
          <a:lstStyle/>
          <a:p>
            <a:pPr marL="0" indent="0">
              <a:buNone/>
            </a:pPr>
            <a:r>
              <a:rPr lang="zh-CN" altLang="en-US" sz="2400" i="0" dirty="0">
                <a:effectLst/>
                <a:latin typeface="Segoe WPC"/>
              </a:rPr>
              <a:t>单例模式</a:t>
            </a:r>
            <a:endParaRPr lang="en-US" altLang="zh-CN" sz="2400" i="0" dirty="0">
              <a:effectLst/>
              <a:latin typeface="Segoe WPC"/>
            </a:endParaRPr>
          </a:p>
        </p:txBody>
      </p:sp>
      <p:pic>
        <p:nvPicPr>
          <p:cNvPr id="4" name="图片 3">
            <a:extLst>
              <a:ext uri="{FF2B5EF4-FFF2-40B4-BE49-F238E27FC236}">
                <a16:creationId xmlns:a16="http://schemas.microsoft.com/office/drawing/2014/main" id="{E2102CF8-98CF-8252-1660-9B52BB03405B}"/>
              </a:ext>
            </a:extLst>
          </p:cNvPr>
          <p:cNvPicPr>
            <a:picLocks noChangeAspect="1"/>
          </p:cNvPicPr>
          <p:nvPr/>
        </p:nvPicPr>
        <p:blipFill>
          <a:blip r:embed="rId2">
            <a:alphaModFix amt="82000"/>
          </a:blip>
          <a:stretch>
            <a:fillRect/>
          </a:stretch>
        </p:blipFill>
        <p:spPr>
          <a:xfrm>
            <a:off x="548540" y="1425392"/>
            <a:ext cx="5440932" cy="2537315"/>
          </a:xfrm>
          <a:prstGeom prst="rect">
            <a:avLst/>
          </a:prstGeom>
        </p:spPr>
      </p:pic>
      <p:sp>
        <p:nvSpPr>
          <p:cNvPr id="5" name="文本框 4">
            <a:extLst>
              <a:ext uri="{FF2B5EF4-FFF2-40B4-BE49-F238E27FC236}">
                <a16:creationId xmlns:a16="http://schemas.microsoft.com/office/drawing/2014/main" id="{21934271-84CF-670A-3107-B9AC769985B9}"/>
              </a:ext>
            </a:extLst>
          </p:cNvPr>
          <p:cNvSpPr txBox="1"/>
          <p:nvPr/>
        </p:nvSpPr>
        <p:spPr>
          <a:xfrm>
            <a:off x="1946506" y="5082226"/>
            <a:ext cx="1723549" cy="461665"/>
          </a:xfrm>
          <a:prstGeom prst="rect">
            <a:avLst/>
          </a:prstGeom>
          <a:noFill/>
        </p:spPr>
        <p:txBody>
          <a:bodyPr wrap="none" rtlCol="0">
            <a:spAutoFit/>
          </a:bodyPr>
          <a:lstStyle/>
          <a:p>
            <a:r>
              <a:rPr lang="zh-CN" altLang="en-US" sz="2400" dirty="0"/>
              <a:t>观察者模式</a:t>
            </a:r>
          </a:p>
        </p:txBody>
      </p:sp>
      <p:pic>
        <p:nvPicPr>
          <p:cNvPr id="6" name="图片 5">
            <a:extLst>
              <a:ext uri="{FF2B5EF4-FFF2-40B4-BE49-F238E27FC236}">
                <a16:creationId xmlns:a16="http://schemas.microsoft.com/office/drawing/2014/main" id="{35C40862-529F-6830-8B71-5B573102CAAD}"/>
              </a:ext>
            </a:extLst>
          </p:cNvPr>
          <p:cNvPicPr>
            <a:picLocks noChangeAspect="1"/>
          </p:cNvPicPr>
          <p:nvPr/>
        </p:nvPicPr>
        <p:blipFill>
          <a:blip r:embed="rId3">
            <a:alphaModFix amt="82000"/>
          </a:blip>
          <a:stretch>
            <a:fillRect/>
          </a:stretch>
        </p:blipFill>
        <p:spPr>
          <a:xfrm>
            <a:off x="5989472" y="3356599"/>
            <a:ext cx="5161057" cy="3185838"/>
          </a:xfrm>
          <a:prstGeom prst="rect">
            <a:avLst/>
          </a:prstGeom>
        </p:spPr>
      </p:pic>
      <p:sp>
        <p:nvSpPr>
          <p:cNvPr id="2" name="Title 1">
            <a:extLst>
              <a:ext uri="{FF2B5EF4-FFF2-40B4-BE49-F238E27FC236}">
                <a16:creationId xmlns:a16="http://schemas.microsoft.com/office/drawing/2014/main" id="{DB141620-5F7F-64C6-E957-1B22F69C9A80}"/>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r>
              <a:rPr lang="en-US" altLang="zh-CN" dirty="0"/>
              <a:t>.</a:t>
            </a:r>
            <a:r>
              <a:rPr lang="zh-CN" altLang="en-US" dirty="0"/>
              <a:t>模式</a:t>
            </a:r>
            <a:endParaRPr lang="en-US" dirty="0"/>
          </a:p>
        </p:txBody>
      </p:sp>
      <p:sp>
        <p:nvSpPr>
          <p:cNvPr id="11" name="矩形 10">
            <a:extLst>
              <a:ext uri="{FF2B5EF4-FFF2-40B4-BE49-F238E27FC236}">
                <a16:creationId xmlns:a16="http://schemas.microsoft.com/office/drawing/2014/main" id="{D80578E8-5738-EF21-6D01-76EBE37AFEC2}"/>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531383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DA05C-77AA-9AC4-B574-665EC8F81BD7}"/>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2452D247-AD23-6435-E219-2F8F0D0D58C3}"/>
              </a:ext>
            </a:extLst>
          </p:cNvPr>
          <p:cNvSpPr txBox="1"/>
          <p:nvPr/>
        </p:nvSpPr>
        <p:spPr>
          <a:xfrm>
            <a:off x="1205583" y="2967335"/>
            <a:ext cx="2031325" cy="461665"/>
          </a:xfrm>
          <a:prstGeom prst="rect">
            <a:avLst/>
          </a:prstGeom>
          <a:noFill/>
        </p:spPr>
        <p:txBody>
          <a:bodyPr wrap="none" rtlCol="0">
            <a:spAutoFit/>
          </a:bodyPr>
          <a:lstStyle/>
          <a:p>
            <a:r>
              <a:rPr lang="zh-CN" altLang="en-US" sz="2400" dirty="0"/>
              <a:t>工厂方法模式</a:t>
            </a:r>
          </a:p>
        </p:txBody>
      </p:sp>
      <p:pic>
        <p:nvPicPr>
          <p:cNvPr id="8" name="图片 7">
            <a:extLst>
              <a:ext uri="{FF2B5EF4-FFF2-40B4-BE49-F238E27FC236}">
                <a16:creationId xmlns:a16="http://schemas.microsoft.com/office/drawing/2014/main" id="{AC7C083E-EF6E-5A28-02FF-E2BB0C7E885D}"/>
              </a:ext>
            </a:extLst>
          </p:cNvPr>
          <p:cNvPicPr>
            <a:picLocks noChangeAspect="1"/>
          </p:cNvPicPr>
          <p:nvPr/>
        </p:nvPicPr>
        <p:blipFill>
          <a:blip r:embed="rId2">
            <a:alphaModFix amt="82000"/>
          </a:blip>
          <a:stretch>
            <a:fillRect/>
          </a:stretch>
        </p:blipFill>
        <p:spPr>
          <a:xfrm>
            <a:off x="4573401" y="825089"/>
            <a:ext cx="6088565" cy="6032911"/>
          </a:xfrm>
          <a:prstGeom prst="rect">
            <a:avLst/>
          </a:prstGeom>
        </p:spPr>
      </p:pic>
      <p:sp>
        <p:nvSpPr>
          <p:cNvPr id="2" name="Title 1">
            <a:extLst>
              <a:ext uri="{FF2B5EF4-FFF2-40B4-BE49-F238E27FC236}">
                <a16:creationId xmlns:a16="http://schemas.microsoft.com/office/drawing/2014/main" id="{C6A23253-56E8-3D37-CB2E-159443F447DF}"/>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排行榜</a:t>
            </a:r>
            <a:r>
              <a:rPr lang="en-US" altLang="zh-CN" dirty="0"/>
              <a:t>.</a:t>
            </a:r>
            <a:r>
              <a:rPr lang="zh-CN" altLang="en-US" dirty="0"/>
              <a:t>模式</a:t>
            </a:r>
            <a:endParaRPr lang="en-US" dirty="0"/>
          </a:p>
        </p:txBody>
      </p:sp>
      <p:sp>
        <p:nvSpPr>
          <p:cNvPr id="12" name="矩形 11">
            <a:extLst>
              <a:ext uri="{FF2B5EF4-FFF2-40B4-BE49-F238E27FC236}">
                <a16:creationId xmlns:a16="http://schemas.microsoft.com/office/drawing/2014/main" id="{27BDCB5E-A253-7250-50F6-8ABE5E5DDA80}"/>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9254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61554552-A42E-B0A0-30A2-8B6C53CE1BFA}"/>
              </a:ext>
            </a:extLst>
          </p:cNvPr>
          <p:cNvSpPr>
            <a:spLocks noGrp="1"/>
          </p:cNvSpPr>
          <p:nvPr>
            <p:ph idx="1"/>
          </p:nvPr>
        </p:nvSpPr>
        <p:spPr>
          <a:xfrm>
            <a:off x="291076" y="888766"/>
            <a:ext cx="4742026" cy="5270499"/>
          </a:xfrm>
        </p:spPr>
        <p:txBody>
          <a:bodyPr>
            <a:normAutofit fontScale="92500" lnSpcReduction="10000"/>
          </a:bodyPr>
          <a:lstStyle/>
          <a:p>
            <a:pPr marL="0" indent="0">
              <a:buNone/>
            </a:pPr>
            <a:r>
              <a:rPr lang="en-US" altLang="zh-CN" sz="1500" dirty="0"/>
              <a:t>DAO</a:t>
            </a:r>
            <a:r>
              <a:rPr lang="zh-CN" altLang="en-US" sz="1500" dirty="0"/>
              <a:t>模式是为了将低级的数据访问</a:t>
            </a:r>
            <a:r>
              <a:rPr lang="en-US" altLang="zh-CN" sz="1500" dirty="0"/>
              <a:t>API</a:t>
            </a:r>
            <a:r>
              <a:rPr lang="zh-CN" altLang="en-US" sz="1500" dirty="0"/>
              <a:t>从高级的业务服务中分离出来，也是为了实现低耦合、高复用。</a:t>
            </a:r>
            <a:r>
              <a:rPr lang="en-US" altLang="zh-CN" sz="1500" dirty="0"/>
              <a:t>DAO</a:t>
            </a:r>
            <a:r>
              <a:rPr lang="zh-CN" altLang="en-US" sz="1500" dirty="0"/>
              <a:t>模式属于</a:t>
            </a:r>
            <a:r>
              <a:rPr lang="en-US" altLang="zh-CN" sz="1500" dirty="0"/>
              <a:t>J2EE</a:t>
            </a:r>
            <a:r>
              <a:rPr lang="zh-CN" altLang="en-US" sz="1500" dirty="0"/>
              <a:t>设计模式的一种，特别关注表示层。</a:t>
            </a:r>
            <a:r>
              <a:rPr lang="en-US" altLang="zh-CN" sz="1500" dirty="0"/>
              <a:t>DAO</a:t>
            </a:r>
            <a:r>
              <a:rPr lang="zh-CN" altLang="en-US" sz="1500" dirty="0"/>
              <a:t>模式主要有三个参与者：数据访问对象接口： 定义在一个模型对象上要执行的标准操作数据访问对象实体类：实现数据访问对象接口，负责从数据库等存储机制中获取数据模型对象</a:t>
            </a:r>
            <a:r>
              <a:rPr lang="en-US" altLang="zh-CN" sz="1500" dirty="0"/>
              <a:t>/</a:t>
            </a:r>
            <a:r>
              <a:rPr lang="zh-CN" altLang="en-US" sz="1500" dirty="0"/>
              <a:t>数值对象：用来存储获取到的数据的类对象</a:t>
            </a:r>
            <a:endParaRPr lang="en-US" altLang="zh-CN" sz="1500" dirty="0"/>
          </a:p>
          <a:p>
            <a:pPr marL="0" indent="0">
              <a:buNone/>
            </a:pPr>
            <a:r>
              <a:rPr lang="zh-CN" altLang="en-US" sz="1500" dirty="0"/>
              <a:t>优点：</a:t>
            </a:r>
            <a:endParaRPr lang="en-US" altLang="zh-CN" sz="1500" dirty="0"/>
          </a:p>
          <a:p>
            <a:pPr marL="0" indent="0">
              <a:buNone/>
            </a:pPr>
            <a:r>
              <a:rPr lang="en-US" altLang="zh-CN" sz="1500" dirty="0"/>
              <a:t>1. </a:t>
            </a:r>
            <a:r>
              <a:rPr lang="zh-CN" altLang="en-US" sz="1500" dirty="0"/>
              <a:t>分离关注点：业务逻辑与数据访问逻辑完全分离</a:t>
            </a:r>
            <a:endParaRPr lang="en-US" altLang="zh-CN" sz="1500" dirty="0"/>
          </a:p>
          <a:p>
            <a:pPr marL="0" indent="0">
              <a:buNone/>
            </a:pPr>
            <a:r>
              <a:rPr lang="en-US" altLang="zh-CN" sz="1500" dirty="0"/>
              <a:t>2. </a:t>
            </a:r>
            <a:r>
              <a:rPr lang="zh-CN" altLang="en-US" sz="1500" dirty="0"/>
              <a:t>降低耦合度：业务层不依赖具体存储实现，更换存储方式（如改用数据库）只需修改 </a:t>
            </a:r>
            <a:r>
              <a:rPr lang="en-US" altLang="zh-CN" sz="1500" dirty="0"/>
              <a:t>DAO</a:t>
            </a:r>
          </a:p>
          <a:p>
            <a:pPr marL="0" indent="0">
              <a:buNone/>
            </a:pPr>
            <a:r>
              <a:rPr lang="en-US" altLang="zh-CN" sz="1500" dirty="0"/>
              <a:t>3. </a:t>
            </a:r>
            <a:r>
              <a:rPr lang="zh-CN" altLang="en-US" sz="1500" dirty="0"/>
              <a:t>提高可维护性：数据访问代码集中在一处，修改方便</a:t>
            </a:r>
          </a:p>
          <a:p>
            <a:pPr marL="0" indent="0">
              <a:buNone/>
            </a:pPr>
            <a:r>
              <a:rPr lang="en-US" altLang="zh-CN" sz="1500" dirty="0"/>
              <a:t>4. </a:t>
            </a:r>
            <a:r>
              <a:rPr lang="zh-CN" altLang="en-US" sz="1500" dirty="0"/>
              <a:t>提高可测试性：可以 </a:t>
            </a:r>
            <a:r>
              <a:rPr lang="en-US" altLang="zh-CN" sz="1500" dirty="0"/>
              <a:t>Mock DAO </a:t>
            </a:r>
            <a:r>
              <a:rPr lang="zh-CN" altLang="en-US" sz="1500" dirty="0"/>
              <a:t>进行单元测试，无需真实文件</a:t>
            </a:r>
          </a:p>
          <a:p>
            <a:pPr marL="0" indent="0">
              <a:buNone/>
            </a:pPr>
            <a:r>
              <a:rPr lang="en-US" altLang="zh-CN" sz="1500" dirty="0"/>
              <a:t>5. </a:t>
            </a:r>
            <a:r>
              <a:rPr lang="zh-CN" altLang="en-US" sz="1500" dirty="0"/>
              <a:t>代码复用：多个组件（</a:t>
            </a:r>
            <a:r>
              <a:rPr lang="en-US" altLang="zh-CN" sz="1500" dirty="0"/>
              <a:t>Menu</a:t>
            </a:r>
            <a:r>
              <a:rPr lang="zh-CN" altLang="en-US" sz="1500" dirty="0"/>
              <a:t>、</a:t>
            </a:r>
            <a:r>
              <a:rPr lang="en-US" altLang="zh-CN" sz="1500" dirty="0" err="1"/>
              <a:t>SmartSquare</a:t>
            </a:r>
            <a:r>
              <a:rPr lang="zh-CN" altLang="en-US" sz="1500" dirty="0"/>
              <a:t>）共享同一个 </a:t>
            </a:r>
            <a:r>
              <a:rPr lang="en-US" altLang="zh-CN" sz="1500" dirty="0"/>
              <a:t>DAO</a:t>
            </a:r>
          </a:p>
          <a:p>
            <a:pPr marL="0" indent="0">
              <a:buNone/>
            </a:pPr>
            <a:r>
              <a:rPr lang="en-US" altLang="zh-CN" sz="1500" dirty="0"/>
              <a:t>6. </a:t>
            </a:r>
            <a:r>
              <a:rPr lang="zh-CN" altLang="en-US" sz="1500" dirty="0"/>
              <a:t>统一接口：标准化的 </a:t>
            </a:r>
            <a:r>
              <a:rPr lang="en-US" altLang="zh-CN" sz="1500" dirty="0"/>
              <a:t>CRUD </a:t>
            </a:r>
            <a:r>
              <a:rPr lang="zh-CN" altLang="en-US" sz="1500" dirty="0"/>
              <a:t>操作，便于理解和协作</a:t>
            </a:r>
          </a:p>
        </p:txBody>
      </p:sp>
      <p:pic>
        <p:nvPicPr>
          <p:cNvPr id="6" name="图片 5">
            <a:extLst>
              <a:ext uri="{FF2B5EF4-FFF2-40B4-BE49-F238E27FC236}">
                <a16:creationId xmlns:a16="http://schemas.microsoft.com/office/drawing/2014/main" id="{A6763D02-1810-150E-5571-9BC7F4F25F58}"/>
              </a:ext>
            </a:extLst>
          </p:cNvPr>
          <p:cNvPicPr>
            <a:picLocks noChangeAspect="1"/>
          </p:cNvPicPr>
          <p:nvPr/>
        </p:nvPicPr>
        <p:blipFill>
          <a:blip r:embed="rId2">
            <a:alphaModFix amt="82000"/>
          </a:blip>
          <a:stretch>
            <a:fillRect/>
          </a:stretch>
        </p:blipFill>
        <p:spPr>
          <a:xfrm>
            <a:off x="5114144" y="640874"/>
            <a:ext cx="7077856" cy="6217126"/>
          </a:xfrm>
          <a:prstGeom prst="rect">
            <a:avLst/>
          </a:prstGeom>
        </p:spPr>
      </p:pic>
      <p:sp>
        <p:nvSpPr>
          <p:cNvPr id="7" name="文本框 6">
            <a:extLst>
              <a:ext uri="{FF2B5EF4-FFF2-40B4-BE49-F238E27FC236}">
                <a16:creationId xmlns:a16="http://schemas.microsoft.com/office/drawing/2014/main" id="{A526D021-CBA2-15B0-9002-483990520602}"/>
              </a:ext>
            </a:extLst>
          </p:cNvPr>
          <p:cNvSpPr txBox="1"/>
          <p:nvPr/>
        </p:nvSpPr>
        <p:spPr>
          <a:xfrm>
            <a:off x="8910734" y="3789260"/>
            <a:ext cx="3140751" cy="1477328"/>
          </a:xfrm>
          <a:prstGeom prst="rect">
            <a:avLst/>
          </a:prstGeom>
          <a:noFill/>
        </p:spPr>
        <p:txBody>
          <a:bodyPr wrap="square" rtlCol="0">
            <a:spAutoFit/>
          </a:bodyPr>
          <a:lstStyle/>
          <a:p>
            <a:r>
              <a:rPr lang="en-US" altLang="zh-CN" sz="1500" dirty="0"/>
              <a:t>DAO </a:t>
            </a:r>
            <a:r>
              <a:rPr lang="zh-CN" altLang="en-US" sz="1500" dirty="0"/>
              <a:t>模式要素：对应实现</a:t>
            </a:r>
          </a:p>
          <a:p>
            <a:r>
              <a:rPr lang="en-US" altLang="zh-CN" sz="1500" dirty="0"/>
              <a:t>DAO </a:t>
            </a:r>
            <a:r>
              <a:rPr lang="zh-CN" altLang="en-US" sz="1500" dirty="0"/>
              <a:t>接口	：</a:t>
            </a:r>
            <a:r>
              <a:rPr lang="en-US" altLang="zh-CN" sz="1500" dirty="0" err="1"/>
              <a:t>RecordDAO</a:t>
            </a:r>
            <a:r>
              <a:rPr lang="zh-CN" altLang="en-US" sz="1500" dirty="0"/>
              <a:t>（概念上，提供 </a:t>
            </a:r>
            <a:r>
              <a:rPr lang="en-US" altLang="zh-CN" sz="1500" dirty="0"/>
              <a:t>CRUD </a:t>
            </a:r>
            <a:r>
              <a:rPr lang="zh-CN" altLang="en-US" sz="1500" dirty="0"/>
              <a:t>方法）</a:t>
            </a:r>
          </a:p>
          <a:p>
            <a:r>
              <a:rPr lang="en-US" altLang="zh-CN" sz="1500" dirty="0"/>
              <a:t>DAO </a:t>
            </a:r>
            <a:r>
              <a:rPr lang="zh-CN" altLang="en-US" sz="1500" dirty="0"/>
              <a:t>实现：</a:t>
            </a:r>
            <a:r>
              <a:rPr lang="en-US" altLang="zh-CN" sz="1500" dirty="0" err="1"/>
              <a:t>RecordManager</a:t>
            </a:r>
            <a:endParaRPr lang="en-US" altLang="zh-CN" sz="1500" dirty="0"/>
          </a:p>
          <a:p>
            <a:r>
              <a:rPr lang="zh-CN" altLang="en-US" sz="1500" dirty="0"/>
              <a:t>数据源：</a:t>
            </a:r>
            <a:r>
              <a:rPr lang="en-US" altLang="zh-CN" sz="1500" dirty="0"/>
              <a:t>records.dat </a:t>
            </a:r>
            <a:r>
              <a:rPr lang="zh-CN" altLang="en-US" sz="1500" dirty="0"/>
              <a:t>文件</a:t>
            </a:r>
          </a:p>
          <a:p>
            <a:r>
              <a:rPr lang="zh-CN" altLang="en-US" sz="1500" dirty="0"/>
              <a:t>客户端：</a:t>
            </a:r>
            <a:r>
              <a:rPr lang="en-US" altLang="zh-CN" sz="1500" dirty="0"/>
              <a:t>Menu</a:t>
            </a:r>
            <a:r>
              <a:rPr lang="zh-CN" altLang="en-US" sz="1500" dirty="0"/>
              <a:t>、</a:t>
            </a:r>
            <a:r>
              <a:rPr lang="en-US" altLang="zh-CN" sz="1500" dirty="0" err="1"/>
              <a:t>SmartSquare</a:t>
            </a:r>
            <a:endParaRPr lang="zh-CN" altLang="en-US" sz="1500" dirty="0"/>
          </a:p>
        </p:txBody>
      </p:sp>
      <p:sp>
        <p:nvSpPr>
          <p:cNvPr id="4" name="矩形 3">
            <a:extLst>
              <a:ext uri="{FF2B5EF4-FFF2-40B4-BE49-F238E27FC236}">
                <a16:creationId xmlns:a16="http://schemas.microsoft.com/office/drawing/2014/main" id="{523AD8B2-ACB3-9C42-1459-A4A6E47184A4}"/>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7644648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3964B9A1-D16D-C52E-B1E0-90233D66D36B}"/>
              </a:ext>
            </a:extLst>
          </p:cNvPr>
          <p:cNvSpPr>
            <a:spLocks noGrp="1"/>
          </p:cNvSpPr>
          <p:nvPr>
            <p:ph idx="1"/>
          </p:nvPr>
        </p:nvSpPr>
        <p:spPr>
          <a:xfrm>
            <a:off x="400204" y="1577307"/>
            <a:ext cx="5695795" cy="4478426"/>
          </a:xfrm>
        </p:spPr>
        <p:txBody>
          <a:bodyPr>
            <a:noAutofit/>
          </a:bodyPr>
          <a:lstStyle/>
          <a:p>
            <a:pPr marL="0" indent="0">
              <a:buNone/>
            </a:pPr>
            <a:r>
              <a:rPr lang="zh-CN" altLang="en-US" sz="2400" b="1" dirty="0"/>
              <a:t>多主题皮肤系统</a:t>
            </a:r>
          </a:p>
          <a:p>
            <a:pPr marL="0" indent="0">
              <a:buNone/>
            </a:pPr>
            <a:r>
              <a:rPr lang="en-US" altLang="zh-CN" sz="2000" dirty="0" err="1"/>
              <a:t>ThemeManager</a:t>
            </a:r>
            <a:r>
              <a:rPr lang="en-US" altLang="zh-CN" sz="2000" dirty="0"/>
              <a:t> - </a:t>
            </a:r>
            <a:r>
              <a:rPr lang="zh-CN" altLang="en-US" sz="2000" dirty="0"/>
              <a:t>主题管理器</a:t>
            </a:r>
          </a:p>
          <a:p>
            <a:pPr marL="0" indent="0">
              <a:buNone/>
            </a:pPr>
            <a:r>
              <a:rPr lang="en-US" altLang="zh-CN" sz="2000" dirty="0" err="1"/>
              <a:t>ThemeGenerator</a:t>
            </a:r>
            <a:r>
              <a:rPr lang="en-US" altLang="zh-CN" sz="2000" dirty="0"/>
              <a:t> - </a:t>
            </a:r>
            <a:r>
              <a:rPr lang="zh-CN" altLang="en-US" sz="2000" dirty="0"/>
              <a:t>主题图片生成器</a:t>
            </a:r>
          </a:p>
          <a:p>
            <a:pPr marL="0" indent="0">
              <a:buNone/>
            </a:pPr>
            <a:r>
              <a:rPr lang="zh-CN" altLang="en-US" sz="2000" dirty="0"/>
              <a:t>支持 </a:t>
            </a:r>
            <a:r>
              <a:rPr lang="en-US" altLang="zh-CN" sz="2000" dirty="0"/>
              <a:t>6</a:t>
            </a:r>
            <a:r>
              <a:rPr lang="zh-CN" altLang="en-US" sz="2000" dirty="0"/>
              <a:t>种主题：经典、暗黑、海洋、数学、森林、像素</a:t>
            </a:r>
          </a:p>
          <a:p>
            <a:pPr marL="0" indent="0">
              <a:buNone/>
            </a:pPr>
            <a:r>
              <a:rPr lang="zh-CN" altLang="en-US" sz="2000" dirty="0"/>
              <a:t>自动扫描 </a:t>
            </a:r>
            <a:r>
              <a:rPr lang="en-US" altLang="zh-CN" sz="2000" dirty="0"/>
              <a:t>themes </a:t>
            </a:r>
            <a:r>
              <a:rPr lang="zh-CN" altLang="en-US" sz="2000" dirty="0"/>
              <a:t>文件夹</a:t>
            </a:r>
            <a:endParaRPr lang="en-US" altLang="zh-CN" sz="2000" dirty="0"/>
          </a:p>
          <a:p>
            <a:pPr marL="0" indent="0">
              <a:buNone/>
            </a:pPr>
            <a:r>
              <a:rPr lang="zh-CN" altLang="en-US" sz="2000" dirty="0"/>
              <a:t>每次导入主题时都会根据当前主题的</a:t>
            </a:r>
            <a:r>
              <a:rPr lang="en-US" altLang="zh-CN" sz="2000" dirty="0"/>
              <a:t>block.png</a:t>
            </a:r>
            <a:r>
              <a:rPr lang="zh-CN" altLang="en-US" sz="2000" dirty="0"/>
              <a:t>的尺寸修改格子大小</a:t>
            </a:r>
          </a:p>
          <a:p>
            <a:pPr marL="0" indent="0">
              <a:buNone/>
            </a:pPr>
            <a:r>
              <a:rPr lang="zh-CN" altLang="en-US" sz="2000" dirty="0"/>
              <a:t>主题图片回退机制（缺失图片使用默认主题）</a:t>
            </a:r>
          </a:p>
        </p:txBody>
      </p:sp>
      <p:pic>
        <p:nvPicPr>
          <p:cNvPr id="6" name="图片 5">
            <a:extLst>
              <a:ext uri="{FF2B5EF4-FFF2-40B4-BE49-F238E27FC236}">
                <a16:creationId xmlns:a16="http://schemas.microsoft.com/office/drawing/2014/main" id="{F4891DFD-65AE-95F1-3085-F23C78858817}"/>
              </a:ext>
            </a:extLst>
          </p:cNvPr>
          <p:cNvPicPr>
            <a:picLocks noChangeAspect="1"/>
          </p:cNvPicPr>
          <p:nvPr/>
        </p:nvPicPr>
        <p:blipFill>
          <a:blip r:embed="rId2"/>
          <a:stretch>
            <a:fillRect/>
          </a:stretch>
        </p:blipFill>
        <p:spPr>
          <a:xfrm>
            <a:off x="9537081" y="3731309"/>
            <a:ext cx="1943371" cy="2333951"/>
          </a:xfrm>
          <a:prstGeom prst="rect">
            <a:avLst/>
          </a:prstGeom>
        </p:spPr>
      </p:pic>
      <p:pic>
        <p:nvPicPr>
          <p:cNvPr id="2" name="图片 1">
            <a:extLst>
              <a:ext uri="{FF2B5EF4-FFF2-40B4-BE49-F238E27FC236}">
                <a16:creationId xmlns:a16="http://schemas.microsoft.com/office/drawing/2014/main" id="{9B6F2E1E-BCF2-B840-74A8-012AC13C6822}"/>
              </a:ext>
            </a:extLst>
          </p:cNvPr>
          <p:cNvPicPr>
            <a:picLocks noChangeAspect="1"/>
          </p:cNvPicPr>
          <p:nvPr/>
        </p:nvPicPr>
        <p:blipFill>
          <a:blip r:embed="rId3"/>
          <a:stretch>
            <a:fillRect/>
          </a:stretch>
        </p:blipFill>
        <p:spPr>
          <a:xfrm>
            <a:off x="6923380" y="3731309"/>
            <a:ext cx="1905266" cy="2324424"/>
          </a:xfrm>
          <a:prstGeom prst="rect">
            <a:avLst/>
          </a:prstGeom>
        </p:spPr>
      </p:pic>
      <p:sp>
        <p:nvSpPr>
          <p:cNvPr id="7" name="文本框 6">
            <a:extLst>
              <a:ext uri="{FF2B5EF4-FFF2-40B4-BE49-F238E27FC236}">
                <a16:creationId xmlns:a16="http://schemas.microsoft.com/office/drawing/2014/main" id="{A6D4A2F3-28F8-234E-970E-D02F24439484}"/>
              </a:ext>
            </a:extLst>
          </p:cNvPr>
          <p:cNvSpPr txBox="1"/>
          <p:nvPr/>
        </p:nvSpPr>
        <p:spPr>
          <a:xfrm>
            <a:off x="7514625" y="6236437"/>
            <a:ext cx="569387" cy="323165"/>
          </a:xfrm>
          <a:prstGeom prst="rect">
            <a:avLst/>
          </a:prstGeom>
          <a:noFill/>
        </p:spPr>
        <p:txBody>
          <a:bodyPr wrap="none" rtlCol="0">
            <a:spAutoFit/>
          </a:bodyPr>
          <a:lstStyle/>
          <a:p>
            <a:r>
              <a:rPr lang="zh-CN" altLang="en-US" sz="1500" dirty="0"/>
              <a:t>经典</a:t>
            </a:r>
          </a:p>
        </p:txBody>
      </p:sp>
      <p:sp>
        <p:nvSpPr>
          <p:cNvPr id="8" name="文本框 7">
            <a:extLst>
              <a:ext uri="{FF2B5EF4-FFF2-40B4-BE49-F238E27FC236}">
                <a16:creationId xmlns:a16="http://schemas.microsoft.com/office/drawing/2014/main" id="{F85380DC-7F84-8747-3F4A-1A524B7F9534}"/>
              </a:ext>
            </a:extLst>
          </p:cNvPr>
          <p:cNvSpPr txBox="1"/>
          <p:nvPr/>
        </p:nvSpPr>
        <p:spPr>
          <a:xfrm>
            <a:off x="10224072" y="6236436"/>
            <a:ext cx="569387" cy="323165"/>
          </a:xfrm>
          <a:prstGeom prst="rect">
            <a:avLst/>
          </a:prstGeom>
          <a:noFill/>
        </p:spPr>
        <p:txBody>
          <a:bodyPr wrap="none" rtlCol="0">
            <a:spAutoFit/>
          </a:bodyPr>
          <a:lstStyle/>
          <a:p>
            <a:r>
              <a:rPr lang="zh-CN" altLang="en-US" sz="1500" dirty="0"/>
              <a:t>森林</a:t>
            </a:r>
          </a:p>
        </p:txBody>
      </p:sp>
      <p:sp>
        <p:nvSpPr>
          <p:cNvPr id="9" name="Title 1">
            <a:extLst>
              <a:ext uri="{FF2B5EF4-FFF2-40B4-BE49-F238E27FC236}">
                <a16:creationId xmlns:a16="http://schemas.microsoft.com/office/drawing/2014/main" id="{365CC564-CC84-79F9-C863-6B0EED6E7F15}"/>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endParaRPr lang="en-US" dirty="0"/>
          </a:p>
        </p:txBody>
      </p:sp>
      <p:pic>
        <p:nvPicPr>
          <p:cNvPr id="14" name="图片 13" descr="图片包含 表格&#10;&#10;AI 生成的内容可能不正确。">
            <a:extLst>
              <a:ext uri="{FF2B5EF4-FFF2-40B4-BE49-F238E27FC236}">
                <a16:creationId xmlns:a16="http://schemas.microsoft.com/office/drawing/2014/main" id="{D7D10ABD-D66E-5072-36FA-8B549978CE8B}"/>
              </a:ext>
            </a:extLst>
          </p:cNvPr>
          <p:cNvPicPr>
            <a:picLocks noChangeAspect="1"/>
          </p:cNvPicPr>
          <p:nvPr/>
        </p:nvPicPr>
        <p:blipFill>
          <a:blip r:embed="rId4"/>
          <a:stretch>
            <a:fillRect/>
          </a:stretch>
        </p:blipFill>
        <p:spPr>
          <a:xfrm>
            <a:off x="7451197" y="1118084"/>
            <a:ext cx="3567939" cy="2252519"/>
          </a:xfrm>
          <a:prstGeom prst="rect">
            <a:avLst/>
          </a:prstGeom>
        </p:spPr>
      </p:pic>
      <p:sp>
        <p:nvSpPr>
          <p:cNvPr id="15" name="矩形 14">
            <a:extLst>
              <a:ext uri="{FF2B5EF4-FFF2-40B4-BE49-F238E27FC236}">
                <a16:creationId xmlns:a16="http://schemas.microsoft.com/office/drawing/2014/main" id="{6225D533-6DAC-831A-CB56-E85CE6463E9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765867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B6840114-64BD-1316-3315-A655FA36B9E0}"/>
              </a:ext>
            </a:extLst>
          </p:cNvPr>
          <p:cNvPicPr>
            <a:picLocks noGrp="1" noChangeAspect="1"/>
          </p:cNvPicPr>
          <p:nvPr>
            <p:ph idx="1"/>
          </p:nvPr>
        </p:nvPicPr>
        <p:blipFill>
          <a:blip r:embed="rId2">
            <a:alphaModFix amt="82000"/>
          </a:blip>
          <a:stretch>
            <a:fillRect/>
          </a:stretch>
        </p:blipFill>
        <p:spPr>
          <a:xfrm>
            <a:off x="14022" y="1487980"/>
            <a:ext cx="5018421" cy="4244588"/>
          </a:xfrm>
          <a:prstGeom prst="rect">
            <a:avLst/>
          </a:prstGeom>
        </p:spPr>
      </p:pic>
      <p:sp>
        <p:nvSpPr>
          <p:cNvPr id="3" name="Title 1">
            <a:extLst>
              <a:ext uri="{FF2B5EF4-FFF2-40B4-BE49-F238E27FC236}">
                <a16:creationId xmlns:a16="http://schemas.microsoft.com/office/drawing/2014/main" id="{342D632A-A945-945D-B8A4-45AEA58958EF}"/>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endParaRPr lang="en-US" dirty="0"/>
          </a:p>
        </p:txBody>
      </p:sp>
      <p:sp>
        <p:nvSpPr>
          <p:cNvPr id="6" name="文本框 5">
            <a:extLst>
              <a:ext uri="{FF2B5EF4-FFF2-40B4-BE49-F238E27FC236}">
                <a16:creationId xmlns:a16="http://schemas.microsoft.com/office/drawing/2014/main" id="{C51391B7-77FF-1B4A-6FAA-EDCBDBBCF033}"/>
              </a:ext>
            </a:extLst>
          </p:cNvPr>
          <p:cNvSpPr txBox="1"/>
          <p:nvPr/>
        </p:nvSpPr>
        <p:spPr>
          <a:xfrm>
            <a:off x="5032443" y="772696"/>
            <a:ext cx="6980662" cy="8402300"/>
          </a:xfrm>
          <a:prstGeom prst="rect">
            <a:avLst/>
          </a:prstGeom>
          <a:noFill/>
        </p:spPr>
        <p:txBody>
          <a:bodyPr wrap="square" rtlCol="0">
            <a:spAutoFit/>
          </a:bodyPr>
          <a:lstStyle/>
          <a:p>
            <a:r>
              <a:rPr lang="zh-CN" altLang="en-US" b="1" dirty="0"/>
              <a:t>🧱 主要模块说明</a:t>
            </a:r>
          </a:p>
          <a:p>
            <a:r>
              <a:rPr lang="en-US" altLang="zh-CN" b="1" dirty="0"/>
              <a:t>1. Menu</a:t>
            </a:r>
          </a:p>
          <a:p>
            <a:r>
              <a:rPr lang="zh-CN" altLang="en-US" dirty="0"/>
              <a:t>代表游戏菜单界面。</a:t>
            </a:r>
          </a:p>
          <a:p>
            <a:r>
              <a:rPr lang="zh-CN" altLang="en-US" dirty="0"/>
              <a:t>负责触发</a:t>
            </a:r>
            <a:r>
              <a:rPr lang="zh-CN" altLang="en-US" b="1" dirty="0"/>
              <a:t>主题切换</a:t>
            </a:r>
            <a:r>
              <a:rPr lang="zh-CN" altLang="en-US" dirty="0"/>
              <a:t>，并获取当前主题信息。</a:t>
            </a:r>
          </a:p>
          <a:p>
            <a:r>
              <a:rPr lang="en-US" altLang="zh-CN" b="1" dirty="0"/>
              <a:t>2. </a:t>
            </a:r>
            <a:r>
              <a:rPr lang="en-US" altLang="zh-CN" b="1" dirty="0" err="1"/>
              <a:t>ThemeManager</a:t>
            </a:r>
            <a:endParaRPr lang="en-US" altLang="zh-CN" b="1" dirty="0"/>
          </a:p>
          <a:p>
            <a:r>
              <a:rPr lang="zh-CN" altLang="en-US" dirty="0"/>
              <a:t>一个单例模式（</a:t>
            </a:r>
            <a:r>
              <a:rPr lang="en-US" altLang="zh-CN" dirty="0" err="1"/>
              <a:t>getInstance</a:t>
            </a:r>
            <a:r>
              <a:rPr lang="en-US" altLang="zh-CN" dirty="0"/>
              <a:t>()</a:t>
            </a:r>
            <a:r>
              <a:rPr lang="zh-CN" altLang="en-US" dirty="0"/>
              <a:t>）的主题管理器。</a:t>
            </a:r>
          </a:p>
          <a:p>
            <a:r>
              <a:rPr lang="zh-CN" altLang="en-US" dirty="0"/>
              <a:t>主要属性：</a:t>
            </a:r>
          </a:p>
          <a:p>
            <a:pPr lvl="1"/>
            <a:r>
              <a:rPr lang="en-US" altLang="zh-CN" dirty="0" err="1"/>
              <a:t>currentTheme</a:t>
            </a:r>
            <a:r>
              <a:rPr lang="en-US" altLang="zh-CN" dirty="0"/>
              <a:t>: String</a:t>
            </a:r>
            <a:r>
              <a:rPr lang="zh-CN" altLang="en-US" dirty="0"/>
              <a:t>：当前使用的主题。</a:t>
            </a:r>
          </a:p>
          <a:p>
            <a:pPr lvl="1"/>
            <a:r>
              <a:rPr lang="en-US" altLang="zh-CN" dirty="0" err="1"/>
              <a:t>availableThemes</a:t>
            </a:r>
            <a:r>
              <a:rPr lang="en-US" altLang="zh-CN" dirty="0"/>
              <a:t>: List&lt;String&gt;</a:t>
            </a:r>
            <a:r>
              <a:rPr lang="zh-CN" altLang="en-US" dirty="0"/>
              <a:t>：可用主题列表。</a:t>
            </a:r>
          </a:p>
          <a:p>
            <a:pPr lvl="1"/>
            <a:r>
              <a:rPr lang="en-US" altLang="zh-CN" dirty="0" err="1"/>
              <a:t>imageFlyweight</a:t>
            </a:r>
            <a:r>
              <a:rPr lang="en-US" altLang="zh-CN" dirty="0"/>
              <a:t>: </a:t>
            </a:r>
            <a:r>
              <a:rPr lang="en-US" altLang="zh-CN" dirty="0" err="1"/>
              <a:t>ImageFlyweightFactory</a:t>
            </a:r>
            <a:r>
              <a:rPr lang="zh-CN" altLang="en-US" dirty="0"/>
              <a:t>：享元工厂，用于复用图片资源。</a:t>
            </a:r>
          </a:p>
          <a:p>
            <a:pPr lvl="1"/>
            <a:r>
              <a:rPr lang="en-US" altLang="zh-CN" dirty="0" err="1"/>
              <a:t>factoryProvider</a:t>
            </a:r>
            <a:r>
              <a:rPr lang="en-US" altLang="zh-CN" dirty="0"/>
              <a:t>: </a:t>
            </a:r>
            <a:r>
              <a:rPr lang="en-US" altLang="zh-CN" dirty="0" err="1"/>
              <a:t>ThemeFactoryProvider</a:t>
            </a:r>
            <a:r>
              <a:rPr lang="zh-CN" altLang="en-US" dirty="0"/>
              <a:t>：主题工厂提供者。</a:t>
            </a:r>
          </a:p>
          <a:p>
            <a:pPr lvl="1"/>
            <a:r>
              <a:rPr lang="en-US" altLang="zh-CN" dirty="0" err="1"/>
              <a:t>themeDirector</a:t>
            </a:r>
            <a:r>
              <a:rPr lang="en-US" altLang="zh-CN" dirty="0"/>
              <a:t>: </a:t>
            </a:r>
            <a:r>
              <a:rPr lang="en-US" altLang="zh-CN" dirty="0" err="1"/>
              <a:t>ThemeDirector</a:t>
            </a:r>
            <a:r>
              <a:rPr lang="zh-CN" altLang="en-US" dirty="0"/>
              <a:t>：主题构建导演，负责组装主题。</a:t>
            </a:r>
          </a:p>
          <a:p>
            <a:r>
              <a:rPr lang="zh-CN" altLang="en-US" dirty="0"/>
              <a:t>主要方法：</a:t>
            </a:r>
          </a:p>
          <a:p>
            <a:pPr lvl="1"/>
            <a:r>
              <a:rPr lang="en-US" altLang="zh-CN" dirty="0" err="1"/>
              <a:t>getAvailableThemes</a:t>
            </a:r>
            <a:r>
              <a:rPr lang="en-US" altLang="zh-CN" dirty="0"/>
              <a:t>()</a:t>
            </a:r>
            <a:r>
              <a:rPr lang="zh-CN" altLang="en-US" dirty="0"/>
              <a:t>：获取所有可用主题。</a:t>
            </a:r>
          </a:p>
          <a:p>
            <a:pPr lvl="1"/>
            <a:r>
              <a:rPr lang="en-US" altLang="zh-CN" dirty="0" err="1"/>
              <a:t>getCurrentTheme</a:t>
            </a:r>
            <a:r>
              <a:rPr lang="en-US" altLang="zh-CN" dirty="0"/>
              <a:t>()</a:t>
            </a:r>
            <a:r>
              <a:rPr lang="zh-CN" altLang="en-US" dirty="0"/>
              <a:t>：获取当前主题。</a:t>
            </a:r>
          </a:p>
          <a:p>
            <a:pPr lvl="1"/>
            <a:r>
              <a:rPr lang="en-US" altLang="zh-CN" dirty="0" err="1"/>
              <a:t>setCurrentTheme</a:t>
            </a:r>
            <a:r>
              <a:rPr lang="en-US" altLang="zh-CN" dirty="0"/>
              <a:t>(String)</a:t>
            </a:r>
            <a:r>
              <a:rPr lang="zh-CN" altLang="en-US" dirty="0"/>
              <a:t>：设置并切换主题。</a:t>
            </a:r>
          </a:p>
          <a:p>
            <a:r>
              <a:rPr lang="en-US" altLang="zh-CN" b="1" dirty="0"/>
              <a:t>3. </a:t>
            </a:r>
            <a:r>
              <a:rPr lang="en-US" altLang="zh-CN" b="1" dirty="0" err="1"/>
              <a:t>ThemeFactoryProvider</a:t>
            </a:r>
            <a:endParaRPr lang="en-US" altLang="zh-CN" b="1" dirty="0"/>
          </a:p>
          <a:p>
            <a:r>
              <a:rPr lang="zh-CN" altLang="en-US" dirty="0"/>
              <a:t>单例模式。</a:t>
            </a:r>
          </a:p>
          <a:p>
            <a:r>
              <a:rPr lang="zh-CN" altLang="en-US" dirty="0"/>
              <a:t>负责根据主题名称获取对应的</a:t>
            </a:r>
            <a:r>
              <a:rPr lang="zh-CN" altLang="en-US" b="1" dirty="0"/>
              <a:t>主题工厂</a:t>
            </a:r>
            <a:r>
              <a:rPr lang="zh-CN" altLang="en-US" dirty="0"/>
              <a:t>。</a:t>
            </a:r>
            <a:endParaRPr lang="en-US" altLang="zh-CN" b="1" dirty="0"/>
          </a:p>
          <a:p>
            <a:r>
              <a:rPr lang="en-US" altLang="zh-CN" b="1" dirty="0"/>
              <a:t>4. </a:t>
            </a:r>
            <a:r>
              <a:rPr lang="en-US" altLang="zh-CN" b="1" dirty="0" err="1"/>
              <a:t>ThemeDirector</a:t>
            </a:r>
            <a:endParaRPr lang="en-US" altLang="zh-CN" b="1" dirty="0"/>
          </a:p>
          <a:p>
            <a:r>
              <a:rPr lang="zh-CN" altLang="en-US" dirty="0"/>
              <a:t>负责具体主题的构建。</a:t>
            </a:r>
          </a:p>
          <a:p>
            <a:r>
              <a:rPr lang="zh-CN" altLang="en-US" dirty="0"/>
              <a:t>包含如 </a:t>
            </a:r>
            <a:r>
              <a:rPr lang="en-US" altLang="zh-CN" dirty="0" err="1"/>
              <a:t>constructDarkTheme</a:t>
            </a:r>
            <a:r>
              <a:rPr lang="en-US" altLang="zh-CN" dirty="0"/>
              <a:t>()</a:t>
            </a:r>
            <a:r>
              <a:rPr lang="zh-CN" altLang="en-US" dirty="0"/>
              <a:t>、</a:t>
            </a:r>
            <a:r>
              <a:rPr lang="en-US" altLang="zh-CN" dirty="0" err="1"/>
              <a:t>constructDefaultTheme</a:t>
            </a:r>
            <a:r>
              <a:rPr lang="en-US" altLang="zh-CN" dirty="0"/>
              <a:t>() </a:t>
            </a:r>
            <a:r>
              <a:rPr lang="zh-CN" altLang="en-US" dirty="0"/>
              <a:t>等方法，用于组装不同主题的界面元素。</a:t>
            </a:r>
          </a:p>
          <a:p>
            <a:r>
              <a:rPr lang="en-US" altLang="zh-CN" b="1" dirty="0"/>
              <a:t>5. </a:t>
            </a:r>
            <a:r>
              <a:rPr lang="en-US" altLang="zh-CN" b="1" dirty="0" err="1"/>
              <a:t>ImageFlyweightFactory</a:t>
            </a:r>
            <a:endParaRPr lang="en-US" altLang="zh-CN" b="1" dirty="0"/>
          </a:p>
          <a:p>
            <a:r>
              <a:rPr lang="zh-CN" altLang="en-US" dirty="0"/>
              <a:t>单例模式。</a:t>
            </a:r>
          </a:p>
          <a:p>
            <a:r>
              <a:rPr lang="zh-CN" altLang="en-US" dirty="0"/>
              <a:t>享元工厂，用于</a:t>
            </a:r>
            <a:r>
              <a:rPr lang="zh-CN" altLang="en-US" b="1" dirty="0"/>
              <a:t>复用图片资源</a:t>
            </a:r>
            <a:r>
              <a:rPr lang="zh-CN" altLang="en-US" dirty="0"/>
              <a:t>，避免重复加载相同图片，提升性能。</a:t>
            </a:r>
          </a:p>
          <a:p>
            <a:r>
              <a:rPr lang="zh-CN" altLang="en-US" dirty="0"/>
              <a:t>方法：</a:t>
            </a:r>
            <a:r>
              <a:rPr lang="en-US" altLang="zh-CN" dirty="0" err="1"/>
              <a:t>getImage</a:t>
            </a:r>
            <a:r>
              <a:rPr lang="en-US" altLang="zh-CN" dirty="0"/>
              <a:t>(String) </a:t>
            </a:r>
            <a:r>
              <a:rPr lang="zh-CN" altLang="en-US" dirty="0"/>
              <a:t>根据图片名称获取图片对象。</a:t>
            </a:r>
          </a:p>
          <a:p>
            <a:endParaRPr lang="zh-CN" altLang="en-US" dirty="0"/>
          </a:p>
        </p:txBody>
      </p:sp>
      <p:sp>
        <p:nvSpPr>
          <p:cNvPr id="7" name="矩形 6">
            <a:extLst>
              <a:ext uri="{FF2B5EF4-FFF2-40B4-BE49-F238E27FC236}">
                <a16:creationId xmlns:a16="http://schemas.microsoft.com/office/drawing/2014/main" id="{B50C5244-12DE-029F-B2C8-C06C73F6E4D0}"/>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066182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grpId="0" nodeType="clickEffect">
                                  <p:stCondLst>
                                    <p:cond delay="0"/>
                                  </p:stCondLst>
                                  <p:childTnLst>
                                    <p:animMotion origin="layout" path="M 1.66667E-6 -1.48148E-6 L 1.66667E-6 -0.25 " pathEditMode="relative" rAng="0" ptsTypes="AA">
                                      <p:cBhvr>
                                        <p:cTn id="6" dur="2000" fill="hold"/>
                                        <p:tgtEl>
                                          <p:spTgt spid="6"/>
                                        </p:tgtEl>
                                        <p:attrNameLst>
                                          <p:attrName>ppt_x</p:attrName>
                                          <p:attrName>ppt_y</p:attrName>
                                        </p:attrNameLst>
                                      </p:cBhvr>
                                      <p:rCtr x="0" y="-1250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D791D0E1-D492-B029-BCB2-E56A3BB1B5C8}"/>
              </a:ext>
            </a:extLst>
          </p:cNvPr>
          <p:cNvSpPr>
            <a:spLocks noGrp="1"/>
          </p:cNvSpPr>
          <p:nvPr>
            <p:ph idx="1"/>
          </p:nvPr>
        </p:nvSpPr>
        <p:spPr>
          <a:xfrm>
            <a:off x="396441" y="2158898"/>
            <a:ext cx="4933842" cy="2398234"/>
          </a:xfrm>
        </p:spPr>
        <p:txBody>
          <a:bodyPr>
            <a:noAutofit/>
          </a:bodyPr>
          <a:lstStyle/>
          <a:p>
            <a:pPr marL="0" indent="0">
              <a:buNone/>
            </a:pPr>
            <a:r>
              <a:rPr lang="en-US" altLang="zh-CN" sz="2400" b="1" i="0" dirty="0">
                <a:effectLst/>
                <a:latin typeface="Segoe WPC"/>
              </a:rPr>
              <a:t>1. </a:t>
            </a:r>
            <a:r>
              <a:rPr lang="zh-CN" altLang="en-US" sz="2400" b="1" i="0" dirty="0">
                <a:effectLst/>
                <a:latin typeface="Segoe WPC"/>
              </a:rPr>
              <a:t>单例模式</a:t>
            </a:r>
            <a:r>
              <a:rPr lang="zh-CN" altLang="en-US" sz="2400" b="1" dirty="0">
                <a:latin typeface="Segoe WPC"/>
              </a:rPr>
              <a:t>：</a:t>
            </a:r>
            <a:r>
              <a:rPr lang="zh-CN" altLang="en-US" sz="2400" b="1" i="0" dirty="0">
                <a:effectLst/>
                <a:latin typeface="Segoe WPC"/>
              </a:rPr>
              <a:t>在以下 </a:t>
            </a:r>
            <a:r>
              <a:rPr lang="en-US" altLang="zh-CN" sz="2400" b="1" i="0" dirty="0">
                <a:effectLst/>
                <a:latin typeface="Segoe WPC"/>
              </a:rPr>
              <a:t>3 </a:t>
            </a:r>
            <a:r>
              <a:rPr lang="zh-CN" altLang="en-US" sz="2400" b="1" i="0" dirty="0">
                <a:effectLst/>
                <a:latin typeface="Segoe WPC"/>
              </a:rPr>
              <a:t>个类中使用：</a:t>
            </a:r>
          </a:p>
          <a:p>
            <a:pPr marL="720000" indent="0">
              <a:buNone/>
            </a:pPr>
            <a:r>
              <a:rPr lang="en-US" altLang="zh-CN" sz="2000" i="0" dirty="0">
                <a:effectLst/>
                <a:latin typeface="Segoe WPC"/>
              </a:rPr>
              <a:t>ThemeManager.java</a:t>
            </a:r>
          </a:p>
          <a:p>
            <a:pPr marL="720000" indent="0">
              <a:buNone/>
            </a:pPr>
            <a:r>
              <a:rPr lang="en-US" altLang="zh-CN" sz="2000" i="0" dirty="0">
                <a:effectLst/>
                <a:latin typeface="Segoe WPC"/>
              </a:rPr>
              <a:t>ImageFlyweightFactory.java</a:t>
            </a:r>
          </a:p>
          <a:p>
            <a:pPr marL="720000" indent="0">
              <a:buNone/>
            </a:pPr>
            <a:r>
              <a:rPr lang="en-US" altLang="zh-CN" sz="2000" i="0" dirty="0">
                <a:effectLst/>
                <a:latin typeface="Segoe WPC"/>
              </a:rPr>
              <a:t>ThemeFactoryProvider.java</a:t>
            </a:r>
          </a:p>
          <a:p>
            <a:pPr marL="342900" indent="-342900">
              <a:buAutoNum type="arabicPeriod"/>
            </a:pPr>
            <a:endParaRPr lang="en-US" altLang="zh-CN" sz="1500" i="0" dirty="0">
              <a:effectLst/>
              <a:latin typeface="Segoe WPC"/>
            </a:endParaRPr>
          </a:p>
        </p:txBody>
      </p:sp>
      <p:pic>
        <p:nvPicPr>
          <p:cNvPr id="5" name="图片 4">
            <a:extLst>
              <a:ext uri="{FF2B5EF4-FFF2-40B4-BE49-F238E27FC236}">
                <a16:creationId xmlns:a16="http://schemas.microsoft.com/office/drawing/2014/main" id="{E7D85FE2-EE30-BAC7-DD3D-DFB84B6A9B30}"/>
              </a:ext>
            </a:extLst>
          </p:cNvPr>
          <p:cNvPicPr>
            <a:picLocks noChangeAspect="1"/>
          </p:cNvPicPr>
          <p:nvPr/>
        </p:nvPicPr>
        <p:blipFill>
          <a:blip r:embed="rId2">
            <a:alphaModFix amt="82000"/>
          </a:blip>
          <a:stretch>
            <a:fillRect/>
          </a:stretch>
        </p:blipFill>
        <p:spPr>
          <a:xfrm>
            <a:off x="5818644" y="1454488"/>
            <a:ext cx="5410955" cy="4496427"/>
          </a:xfrm>
          <a:prstGeom prst="rect">
            <a:avLst/>
          </a:prstGeom>
        </p:spPr>
      </p:pic>
      <p:sp>
        <p:nvSpPr>
          <p:cNvPr id="7" name="Title 1">
            <a:extLst>
              <a:ext uri="{FF2B5EF4-FFF2-40B4-BE49-F238E27FC236}">
                <a16:creationId xmlns:a16="http://schemas.microsoft.com/office/drawing/2014/main" id="{4279AA80-D2DE-F33B-6911-E278DFCC5017}"/>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12" name="矩形 11">
            <a:extLst>
              <a:ext uri="{FF2B5EF4-FFF2-40B4-BE49-F238E27FC236}">
                <a16:creationId xmlns:a16="http://schemas.microsoft.com/office/drawing/2014/main" id="{39D975ED-6B89-0148-1553-EE413E06C6D1}"/>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510773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0E650-3CA2-08F2-9B45-1DECF8065E96}"/>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63A46F0A-7E79-D97E-03F0-CB3D80C86835}"/>
              </a:ext>
            </a:extLst>
          </p:cNvPr>
          <p:cNvSpPr txBox="1"/>
          <p:nvPr/>
        </p:nvSpPr>
        <p:spPr>
          <a:xfrm>
            <a:off x="261257" y="1996543"/>
            <a:ext cx="4946774" cy="1077218"/>
          </a:xfrm>
          <a:prstGeom prst="rect">
            <a:avLst/>
          </a:prstGeom>
          <a:noFill/>
        </p:spPr>
        <p:txBody>
          <a:bodyPr wrap="square" rtlCol="0">
            <a:spAutoFit/>
          </a:bodyPr>
          <a:lstStyle/>
          <a:p>
            <a:r>
              <a:rPr lang="en-US" altLang="zh-CN" sz="2400" b="1" dirty="0"/>
              <a:t>2. </a:t>
            </a:r>
            <a:r>
              <a:rPr lang="zh-CN" altLang="en-US" sz="2400" b="1" dirty="0"/>
              <a:t>模板方法模式：</a:t>
            </a:r>
            <a:endParaRPr lang="en-US" altLang="zh-CN" sz="2400" b="1" dirty="0"/>
          </a:p>
          <a:p>
            <a:r>
              <a:rPr lang="zh-CN" altLang="en-US" sz="2000" dirty="0"/>
              <a:t>模板方法模式在 </a:t>
            </a:r>
            <a:r>
              <a:rPr lang="en-US" altLang="zh-CN" sz="2000" dirty="0"/>
              <a:t>AbstractThemeFactory.java </a:t>
            </a:r>
            <a:r>
              <a:rPr lang="zh-CN" altLang="en-US" sz="2000" dirty="0"/>
              <a:t>中体现</a:t>
            </a:r>
          </a:p>
        </p:txBody>
      </p:sp>
      <p:sp>
        <p:nvSpPr>
          <p:cNvPr id="6" name="文本框 5">
            <a:extLst>
              <a:ext uri="{FF2B5EF4-FFF2-40B4-BE49-F238E27FC236}">
                <a16:creationId xmlns:a16="http://schemas.microsoft.com/office/drawing/2014/main" id="{2BC5FF33-7859-4D8C-862B-B3FAD4A11137}"/>
              </a:ext>
            </a:extLst>
          </p:cNvPr>
          <p:cNvSpPr txBox="1"/>
          <p:nvPr/>
        </p:nvSpPr>
        <p:spPr>
          <a:xfrm>
            <a:off x="261257" y="3323403"/>
            <a:ext cx="5523722" cy="769441"/>
          </a:xfrm>
          <a:prstGeom prst="rect">
            <a:avLst/>
          </a:prstGeom>
          <a:noFill/>
        </p:spPr>
        <p:txBody>
          <a:bodyPr wrap="square" rtlCol="0">
            <a:spAutoFit/>
          </a:bodyPr>
          <a:lstStyle/>
          <a:p>
            <a:r>
              <a:rPr lang="en-US" altLang="zh-CN" sz="2400" b="1" dirty="0"/>
              <a:t>3. </a:t>
            </a:r>
            <a:r>
              <a:rPr lang="zh-CN" altLang="en-US" sz="2400" b="1" dirty="0"/>
              <a:t>抽象工厂模式</a:t>
            </a:r>
            <a:r>
              <a:rPr lang="zh-CN" altLang="en-US" sz="2400" dirty="0"/>
              <a:t>：</a:t>
            </a:r>
            <a:endParaRPr lang="en-US" altLang="zh-CN" sz="2400" dirty="0"/>
          </a:p>
          <a:p>
            <a:r>
              <a:rPr lang="zh-CN" altLang="en-US" sz="2000" dirty="0"/>
              <a:t>创建一系列相关的主题元素</a:t>
            </a:r>
          </a:p>
        </p:txBody>
      </p:sp>
      <p:pic>
        <p:nvPicPr>
          <p:cNvPr id="9" name="图片 8">
            <a:extLst>
              <a:ext uri="{FF2B5EF4-FFF2-40B4-BE49-F238E27FC236}">
                <a16:creationId xmlns:a16="http://schemas.microsoft.com/office/drawing/2014/main" id="{A44676E5-C347-4CD1-73F2-393BA5F66BAC}"/>
              </a:ext>
            </a:extLst>
          </p:cNvPr>
          <p:cNvPicPr>
            <a:picLocks noChangeAspect="1"/>
          </p:cNvPicPr>
          <p:nvPr/>
        </p:nvPicPr>
        <p:blipFill>
          <a:blip r:embed="rId2">
            <a:alphaModFix amt="82000"/>
          </a:blip>
          <a:stretch>
            <a:fillRect/>
          </a:stretch>
        </p:blipFill>
        <p:spPr>
          <a:xfrm>
            <a:off x="4300789" y="1118084"/>
            <a:ext cx="7891211" cy="5739916"/>
          </a:xfrm>
          <a:prstGeom prst="rect">
            <a:avLst/>
          </a:prstGeom>
        </p:spPr>
      </p:pic>
      <p:sp>
        <p:nvSpPr>
          <p:cNvPr id="7" name="Title 1">
            <a:extLst>
              <a:ext uri="{FF2B5EF4-FFF2-40B4-BE49-F238E27FC236}">
                <a16:creationId xmlns:a16="http://schemas.microsoft.com/office/drawing/2014/main" id="{4B693F8B-375A-1A54-55BB-7284E3C61401}"/>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10" name="矩形 9">
            <a:extLst>
              <a:ext uri="{FF2B5EF4-FFF2-40B4-BE49-F238E27FC236}">
                <a16:creationId xmlns:a16="http://schemas.microsoft.com/office/drawing/2014/main" id="{FFC632C3-52BD-80F7-05DE-DB6F3E4590E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8539760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0740A7A4-51F3-751E-0769-3E5D43234D41}"/>
              </a:ext>
            </a:extLst>
          </p:cNvPr>
          <p:cNvPicPr>
            <a:picLocks noChangeAspect="1"/>
          </p:cNvPicPr>
          <p:nvPr/>
        </p:nvPicPr>
        <p:blipFill>
          <a:blip r:embed="rId2">
            <a:alphaModFix amt="82000"/>
          </a:blip>
          <a:stretch>
            <a:fillRect/>
          </a:stretch>
        </p:blipFill>
        <p:spPr>
          <a:xfrm>
            <a:off x="6096000" y="1392265"/>
            <a:ext cx="6096000" cy="5465736"/>
          </a:xfrm>
          <a:prstGeom prst="rect">
            <a:avLst/>
          </a:prstGeom>
        </p:spPr>
      </p:pic>
      <p:sp>
        <p:nvSpPr>
          <p:cNvPr id="2" name="Title 1">
            <a:extLst>
              <a:ext uri="{FF2B5EF4-FFF2-40B4-BE49-F238E27FC236}">
                <a16:creationId xmlns:a16="http://schemas.microsoft.com/office/drawing/2014/main" id="{3ACA0D71-55A0-71C3-223E-4F6325EAC8F2}"/>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6" name="文本框 5">
            <a:extLst>
              <a:ext uri="{FF2B5EF4-FFF2-40B4-BE49-F238E27FC236}">
                <a16:creationId xmlns:a16="http://schemas.microsoft.com/office/drawing/2014/main" id="{0857FB0E-C453-5B10-A891-61E09F2E50B9}"/>
              </a:ext>
            </a:extLst>
          </p:cNvPr>
          <p:cNvSpPr txBox="1"/>
          <p:nvPr/>
        </p:nvSpPr>
        <p:spPr>
          <a:xfrm>
            <a:off x="158198" y="1174596"/>
            <a:ext cx="5493835" cy="5909310"/>
          </a:xfrm>
          <a:prstGeom prst="rect">
            <a:avLst/>
          </a:prstGeom>
          <a:noFill/>
        </p:spPr>
        <p:txBody>
          <a:bodyPr wrap="square" rtlCol="0">
            <a:spAutoFit/>
          </a:bodyPr>
          <a:lstStyle/>
          <a:p>
            <a:r>
              <a:rPr lang="zh-CN" altLang="en-US" b="1" dirty="0"/>
              <a:t>🧱 主要模块说明</a:t>
            </a:r>
          </a:p>
          <a:p>
            <a:r>
              <a:rPr lang="en-US" altLang="zh-CN" b="1" dirty="0"/>
              <a:t>1. </a:t>
            </a:r>
            <a:r>
              <a:rPr lang="en-US" altLang="zh-CN" b="1" dirty="0" err="1"/>
              <a:t>UserInterface</a:t>
            </a:r>
            <a:endParaRPr lang="en-US" altLang="zh-CN" b="1" dirty="0"/>
          </a:p>
          <a:p>
            <a:r>
              <a:rPr lang="zh-CN" altLang="en-US" dirty="0"/>
              <a:t>代表用户界面，包含 </a:t>
            </a:r>
            <a:r>
              <a:rPr lang="en-US" altLang="zh-CN" dirty="0" err="1"/>
              <a:t>GameBoard</a:t>
            </a:r>
            <a:r>
              <a:rPr lang="zh-CN" altLang="en-US" dirty="0"/>
              <a:t>（游戏棋盘）。</a:t>
            </a:r>
          </a:p>
          <a:p>
            <a:r>
              <a:rPr lang="en-US" altLang="zh-CN" dirty="0" err="1"/>
              <a:t>GameBoard</a:t>
            </a:r>
            <a:r>
              <a:rPr lang="en-US" altLang="zh-CN" dirty="0"/>
              <a:t> </a:t>
            </a:r>
            <a:r>
              <a:rPr lang="zh-CN" altLang="en-US" dirty="0"/>
              <a:t>包含多个 </a:t>
            </a:r>
            <a:r>
              <a:rPr lang="en-US" altLang="zh-CN" dirty="0" err="1"/>
              <a:t>SmartSquare</a:t>
            </a:r>
            <a:r>
              <a:rPr lang="zh-CN" altLang="en-US" dirty="0"/>
              <a:t>（智能格子），每个格子显示图片。</a:t>
            </a:r>
          </a:p>
          <a:p>
            <a:r>
              <a:rPr lang="en-US" altLang="zh-CN" b="1" dirty="0"/>
              <a:t>2. Library / Theme</a:t>
            </a:r>
          </a:p>
          <a:p>
            <a:r>
              <a:rPr lang="zh-CN" altLang="en-US" dirty="0"/>
              <a:t>主题库，其中包含一个关键组件：</a:t>
            </a:r>
          </a:p>
          <a:p>
            <a:pPr lvl="1"/>
            <a:r>
              <a:rPr lang="en-US" altLang="zh-CN" b="1" dirty="0" err="1"/>
              <a:t>ImageFlyweightFactory</a:t>
            </a:r>
            <a:r>
              <a:rPr lang="zh-CN" altLang="en-US" b="1" dirty="0"/>
              <a:t>（图片享元工厂）</a:t>
            </a:r>
            <a:r>
              <a:rPr lang="zh-CN" altLang="en-US" dirty="0"/>
              <a:t>：</a:t>
            </a:r>
          </a:p>
          <a:p>
            <a:pPr lvl="2"/>
            <a:r>
              <a:rPr lang="zh-CN" altLang="en-US" dirty="0"/>
              <a:t>单例模式（</a:t>
            </a:r>
            <a:r>
              <a:rPr lang="en-US" altLang="zh-CN" dirty="0"/>
              <a:t>&lt;Singleton&gt;</a:t>
            </a:r>
            <a:r>
              <a:rPr lang="zh-CN" altLang="en-US" dirty="0"/>
              <a:t>）。</a:t>
            </a:r>
          </a:p>
          <a:p>
            <a:pPr lvl="2"/>
            <a:r>
              <a:rPr lang="zh-CN" altLang="en-US" dirty="0"/>
              <a:t>维护一个 </a:t>
            </a:r>
            <a:r>
              <a:rPr lang="en-US" altLang="zh-CN" dirty="0" err="1"/>
              <a:t>imageCache</a:t>
            </a:r>
            <a:r>
              <a:rPr lang="en-US" altLang="zh-CN" dirty="0"/>
              <a:t>: Map&lt;String, </a:t>
            </a:r>
            <a:r>
              <a:rPr lang="en-US" altLang="zh-CN" dirty="0" err="1"/>
              <a:t>ImageIcon</a:t>
            </a:r>
            <a:r>
              <a:rPr lang="en-US" altLang="zh-CN" dirty="0"/>
              <a:t>&gt; </a:t>
            </a:r>
            <a:r>
              <a:rPr lang="zh-CN" altLang="en-US" dirty="0"/>
              <a:t>缓存图片。</a:t>
            </a:r>
          </a:p>
          <a:p>
            <a:pPr lvl="2"/>
            <a:r>
              <a:rPr lang="zh-CN" altLang="en-US" dirty="0"/>
              <a:t>记录缓存命中与未命中次数（</a:t>
            </a:r>
            <a:r>
              <a:rPr lang="en-US" altLang="zh-CN" dirty="0" err="1"/>
              <a:t>cacheHits</a:t>
            </a:r>
            <a:r>
              <a:rPr lang="en-US" altLang="zh-CN" dirty="0"/>
              <a:t> / </a:t>
            </a:r>
            <a:r>
              <a:rPr lang="en-US" altLang="zh-CN" dirty="0" err="1"/>
              <a:t>cacheMisses</a:t>
            </a:r>
            <a:r>
              <a:rPr lang="zh-CN" altLang="en-US" dirty="0"/>
              <a:t>）。</a:t>
            </a:r>
          </a:p>
          <a:p>
            <a:r>
              <a:rPr lang="en-US" altLang="zh-CN" b="1" dirty="0"/>
              <a:t>3. </a:t>
            </a:r>
            <a:r>
              <a:rPr lang="en-US" altLang="zh-CN" b="1" dirty="0" err="1"/>
              <a:t>ImageFlyweightFactory</a:t>
            </a:r>
            <a:r>
              <a:rPr lang="en-US" altLang="zh-CN" b="1" dirty="0"/>
              <a:t> </a:t>
            </a:r>
            <a:r>
              <a:rPr lang="zh-CN" altLang="en-US" b="1" dirty="0"/>
              <a:t>方法</a:t>
            </a:r>
          </a:p>
          <a:p>
            <a:r>
              <a:rPr lang="en-US" altLang="zh-CN" dirty="0" err="1"/>
              <a:t>getImage</a:t>
            </a:r>
            <a:r>
              <a:rPr lang="en-US" altLang="zh-CN" dirty="0"/>
              <a:t>()</a:t>
            </a:r>
            <a:r>
              <a:rPr lang="zh-CN" altLang="en-US" dirty="0"/>
              <a:t>：根据路径或主题名</a:t>
            </a:r>
            <a:r>
              <a:rPr lang="en-US" altLang="zh-CN" dirty="0"/>
              <a:t>+</a:t>
            </a:r>
            <a:r>
              <a:rPr lang="zh-CN" altLang="en-US" dirty="0"/>
              <a:t>图片名获取图片（优先从缓存读取）。</a:t>
            </a:r>
          </a:p>
          <a:p>
            <a:r>
              <a:rPr lang="en-US" altLang="zh-CN" dirty="0" err="1"/>
              <a:t>preloadTheme</a:t>
            </a:r>
            <a:r>
              <a:rPr lang="en-US" altLang="zh-CN" dirty="0"/>
              <a:t>()</a:t>
            </a:r>
            <a:r>
              <a:rPr lang="zh-CN" altLang="en-US" dirty="0"/>
              <a:t>：预加载某个主题的所有图片。</a:t>
            </a:r>
          </a:p>
          <a:p>
            <a:r>
              <a:rPr lang="en-US" altLang="zh-CN" dirty="0" err="1"/>
              <a:t>clearThemeCache</a:t>
            </a:r>
            <a:r>
              <a:rPr lang="en-US" altLang="zh-CN" dirty="0"/>
              <a:t>() / </a:t>
            </a:r>
            <a:r>
              <a:rPr lang="en-US" altLang="zh-CN" dirty="0" err="1"/>
              <a:t>clearAllCache</a:t>
            </a:r>
            <a:r>
              <a:rPr lang="en-US" altLang="zh-CN" dirty="0"/>
              <a:t>()</a:t>
            </a:r>
            <a:r>
              <a:rPr lang="zh-CN" altLang="en-US" dirty="0"/>
              <a:t>：清理缓存。</a:t>
            </a:r>
          </a:p>
          <a:p>
            <a:r>
              <a:rPr lang="en-US" altLang="zh-CN" dirty="0" err="1"/>
              <a:t>getCacheStats</a:t>
            </a:r>
            <a:r>
              <a:rPr lang="en-US" altLang="zh-CN" dirty="0"/>
              <a:t>() / </a:t>
            </a:r>
            <a:r>
              <a:rPr lang="en-US" altLang="zh-CN" dirty="0" err="1"/>
              <a:t>getCacheHitRate</a:t>
            </a:r>
            <a:r>
              <a:rPr lang="en-US" altLang="zh-CN" dirty="0"/>
              <a:t>()</a:t>
            </a:r>
            <a:r>
              <a:rPr lang="zh-CN" altLang="en-US" dirty="0"/>
              <a:t>：获取缓存统计信息。</a:t>
            </a:r>
          </a:p>
          <a:p>
            <a:endParaRPr lang="zh-CN" altLang="en-US" dirty="0"/>
          </a:p>
        </p:txBody>
      </p:sp>
      <p:sp>
        <p:nvSpPr>
          <p:cNvPr id="3" name="内容占位符 2">
            <a:extLst>
              <a:ext uri="{FF2B5EF4-FFF2-40B4-BE49-F238E27FC236}">
                <a16:creationId xmlns:a16="http://schemas.microsoft.com/office/drawing/2014/main" id="{02E95EE5-4797-61F7-EDC8-DEE8B35E0A15}"/>
              </a:ext>
            </a:extLst>
          </p:cNvPr>
          <p:cNvSpPr>
            <a:spLocks noGrp="1"/>
          </p:cNvSpPr>
          <p:nvPr>
            <p:ph idx="1"/>
          </p:nvPr>
        </p:nvSpPr>
        <p:spPr>
          <a:xfrm>
            <a:off x="5780417" y="716823"/>
            <a:ext cx="6379301" cy="570830"/>
          </a:xfrm>
        </p:spPr>
        <p:txBody>
          <a:bodyPr>
            <a:noAutofit/>
          </a:bodyPr>
          <a:lstStyle/>
          <a:p>
            <a:pPr marL="0" indent="0">
              <a:buNone/>
            </a:pPr>
            <a:r>
              <a:rPr lang="en-US" altLang="zh-CN" sz="2400" dirty="0"/>
              <a:t>4. </a:t>
            </a:r>
            <a:r>
              <a:rPr lang="zh-CN" altLang="en-US" sz="2400" dirty="0"/>
              <a:t>享元模式：</a:t>
            </a:r>
            <a:r>
              <a:rPr lang="zh-CN" altLang="en-US" sz="2000" dirty="0"/>
              <a:t>共享图片资源，减少内存占用</a:t>
            </a:r>
          </a:p>
        </p:txBody>
      </p:sp>
      <p:sp>
        <p:nvSpPr>
          <p:cNvPr id="7" name="矩形 6">
            <a:extLst>
              <a:ext uri="{FF2B5EF4-FFF2-40B4-BE49-F238E27FC236}">
                <a16:creationId xmlns:a16="http://schemas.microsoft.com/office/drawing/2014/main" id="{6160074D-8073-7D79-33E5-95D8AFC6BA4A}"/>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0582489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A60B4D-4513-2B27-F4F8-DAF5165F9841}"/>
              </a:ext>
            </a:extLst>
          </p:cNvPr>
          <p:cNvSpPr>
            <a:spLocks noGrp="1"/>
          </p:cNvSpPr>
          <p:nvPr>
            <p:ph idx="1"/>
          </p:nvPr>
        </p:nvSpPr>
        <p:spPr>
          <a:xfrm>
            <a:off x="37941" y="1118084"/>
            <a:ext cx="6365423" cy="5739916"/>
          </a:xfrm>
        </p:spPr>
        <p:txBody>
          <a:bodyPr>
            <a:normAutofit fontScale="85000" lnSpcReduction="10000"/>
          </a:bodyPr>
          <a:lstStyle/>
          <a:p>
            <a:pPr marL="0" indent="0">
              <a:buNone/>
            </a:pPr>
            <a:r>
              <a:rPr lang="en-US" altLang="zh-CN" dirty="0"/>
              <a:t>5. </a:t>
            </a:r>
            <a:r>
              <a:rPr lang="zh-CN" altLang="en-US" dirty="0"/>
              <a:t>建造者模式</a:t>
            </a:r>
            <a:endParaRPr lang="en-US" altLang="zh-CN" dirty="0"/>
          </a:p>
          <a:p>
            <a:pPr marL="0" indent="0">
              <a:buNone/>
            </a:pPr>
            <a:r>
              <a:rPr lang="zh-CN" altLang="en-US" sz="1700" dirty="0"/>
              <a:t>一、什么是建造者模式</a:t>
            </a:r>
            <a:endParaRPr lang="en-US" altLang="zh-CN" sz="1700" dirty="0"/>
          </a:p>
          <a:p>
            <a:pPr marL="0" indent="0">
              <a:buNone/>
            </a:pPr>
            <a:r>
              <a:rPr lang="zh-CN" altLang="en-US" sz="1700" dirty="0"/>
              <a:t>建造者模式是一种创建型设计模式，也叫生成器模式。</a:t>
            </a:r>
            <a:endParaRPr lang="en-US" altLang="zh-CN" sz="1700" dirty="0"/>
          </a:p>
          <a:p>
            <a:pPr marL="0" indent="0">
              <a:buNone/>
            </a:pPr>
            <a:r>
              <a:rPr lang="zh-CN" altLang="en-US" sz="1700" dirty="0"/>
              <a:t>定义：封装一个复杂对象构造过程，并允许按步骤构造。解释：就是将复杂对象的创建过程拆分成多个简单对象的创建过程，并将这些简单对象组合起来构建出复杂对象。</a:t>
            </a:r>
            <a:endParaRPr lang="en-US" altLang="zh-CN" sz="1700" dirty="0"/>
          </a:p>
          <a:p>
            <a:pPr marL="0" indent="0">
              <a:buNone/>
            </a:pPr>
            <a:r>
              <a:rPr lang="zh-CN" altLang="en-US" sz="1700" dirty="0"/>
              <a:t>二、角色组成产品类（</a:t>
            </a:r>
            <a:r>
              <a:rPr lang="en-US" altLang="zh-CN" sz="1700" dirty="0"/>
              <a:t>Product</a:t>
            </a:r>
            <a:r>
              <a:rPr lang="zh-CN" altLang="en-US" sz="1700" dirty="0"/>
              <a:t>）：表示被创建的复杂对象。它通常包含多个部分或者组成，并由具体的建造者逐步构建而成。抽象建造者类（</a:t>
            </a:r>
            <a:r>
              <a:rPr lang="en-US" altLang="zh-CN" sz="1700" dirty="0"/>
              <a:t>Builder</a:t>
            </a:r>
            <a:r>
              <a:rPr lang="zh-CN" altLang="en-US" sz="1700" dirty="0"/>
              <a:t>）：定义了建造复杂对象所需要的各个部分的创建方法。它通常包括多个构建方法和一个返回产品的方法。具体建造者类（</a:t>
            </a:r>
            <a:r>
              <a:rPr lang="en-US" altLang="zh-CN" sz="1700" dirty="0" err="1"/>
              <a:t>ConcreteBuilder</a:t>
            </a:r>
            <a:r>
              <a:rPr lang="zh-CN" altLang="en-US" sz="1700" dirty="0"/>
              <a:t>）：实现</a:t>
            </a:r>
            <a:r>
              <a:rPr lang="en-US" altLang="zh-CN" sz="1700" dirty="0"/>
              <a:t>Builder</a:t>
            </a:r>
            <a:r>
              <a:rPr lang="zh-CN" altLang="en-US" sz="1700" dirty="0"/>
              <a:t>接口，并提供各个部分或者组成的构建方法。指挥者类（</a:t>
            </a:r>
            <a:r>
              <a:rPr lang="en-US" altLang="zh-CN" sz="1700" dirty="0"/>
              <a:t>Director</a:t>
            </a:r>
            <a:r>
              <a:rPr lang="zh-CN" altLang="en-US" sz="1700" dirty="0"/>
              <a:t>）：负责控制建造者的构建顺序，指挥建造者如何构建复杂对象。</a:t>
            </a:r>
            <a:endParaRPr lang="en-US" altLang="zh-CN" sz="1700" dirty="0"/>
          </a:p>
          <a:p>
            <a:pPr marL="0" indent="0">
              <a:buNone/>
            </a:pPr>
            <a:r>
              <a:rPr lang="zh-CN" altLang="en-US" sz="1700" dirty="0"/>
              <a:t>三、优缺点优点：</a:t>
            </a:r>
            <a:endParaRPr lang="en-US" altLang="zh-CN" sz="1700" dirty="0"/>
          </a:p>
          <a:p>
            <a:pPr marL="0" indent="0">
              <a:buNone/>
            </a:pPr>
            <a:r>
              <a:rPr lang="zh-CN" altLang="en-US" sz="17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700" dirty="0"/>
          </a:p>
          <a:p>
            <a:pPr marL="0" indent="0">
              <a:buNone/>
            </a:pPr>
            <a:r>
              <a:rPr lang="zh-CN" altLang="en-US" sz="1700" dirty="0"/>
              <a:t>缺点：增加工作量：需要额外的代码来创建和管理具体建造者类，增加了程序员的工作量。效率低：相比于其他创建型模式，在运行时效率较低，特别是对象太复杂时。</a:t>
            </a:r>
          </a:p>
        </p:txBody>
      </p:sp>
      <p:pic>
        <p:nvPicPr>
          <p:cNvPr id="4" name="图片 3">
            <a:extLst>
              <a:ext uri="{FF2B5EF4-FFF2-40B4-BE49-F238E27FC236}">
                <a16:creationId xmlns:a16="http://schemas.microsoft.com/office/drawing/2014/main" id="{41C40D37-5CE5-BA9B-DD16-065817A724CC}"/>
              </a:ext>
            </a:extLst>
          </p:cNvPr>
          <p:cNvPicPr>
            <a:picLocks noChangeAspect="1"/>
          </p:cNvPicPr>
          <p:nvPr/>
        </p:nvPicPr>
        <p:blipFill>
          <a:blip r:embed="rId2"/>
          <a:stretch>
            <a:fillRect/>
          </a:stretch>
        </p:blipFill>
        <p:spPr>
          <a:xfrm>
            <a:off x="7361658" y="0"/>
            <a:ext cx="4830341" cy="6882718"/>
          </a:xfrm>
          <a:prstGeom prst="rect">
            <a:avLst/>
          </a:prstGeom>
        </p:spPr>
      </p:pic>
      <p:sp>
        <p:nvSpPr>
          <p:cNvPr id="2" name="Title 1">
            <a:extLst>
              <a:ext uri="{FF2B5EF4-FFF2-40B4-BE49-F238E27FC236}">
                <a16:creationId xmlns:a16="http://schemas.microsoft.com/office/drawing/2014/main" id="{855AFFEC-09E3-45C2-F705-9CF0DB30BC88}"/>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
        <p:nvSpPr>
          <p:cNvPr id="6" name="矩形 5">
            <a:extLst>
              <a:ext uri="{FF2B5EF4-FFF2-40B4-BE49-F238E27FC236}">
                <a16:creationId xmlns:a16="http://schemas.microsoft.com/office/drawing/2014/main" id="{1BCBF8CB-492D-787C-FADE-EFFDF09A6C07}"/>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605724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7F11C-24EF-35AC-708C-135D80A0B3D5}"/>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288CD81E-2F6D-5AFF-CA3C-1A270AE5B71E}"/>
              </a:ext>
            </a:extLst>
          </p:cNvPr>
          <p:cNvSpPr>
            <a:spLocks noGrp="1"/>
          </p:cNvSpPr>
          <p:nvPr>
            <p:ph idx="1"/>
          </p:nvPr>
        </p:nvSpPr>
        <p:spPr>
          <a:xfrm>
            <a:off x="0" y="1022505"/>
            <a:ext cx="6365423" cy="6184900"/>
          </a:xfrm>
        </p:spPr>
        <p:txBody>
          <a:bodyPr>
            <a:normAutofit fontScale="92500" lnSpcReduction="20000"/>
          </a:bodyPr>
          <a:lstStyle/>
          <a:p>
            <a:pPr marL="0" indent="0">
              <a:buNone/>
            </a:pPr>
            <a:r>
              <a:rPr lang="zh-CN" altLang="en-US" sz="1700" dirty="0"/>
              <a:t>一、什么是建造者模式</a:t>
            </a:r>
            <a:endParaRPr lang="en-US" altLang="zh-CN" sz="1700" dirty="0"/>
          </a:p>
          <a:p>
            <a:pPr marL="0" indent="0">
              <a:buNone/>
            </a:pPr>
            <a:r>
              <a:rPr lang="zh-CN" altLang="en-US" sz="1700" dirty="0"/>
              <a:t>建造者模式是一种创建型设计模式，也叫生成器模式。</a:t>
            </a:r>
            <a:endParaRPr lang="en-US" altLang="zh-CN" sz="1700" dirty="0"/>
          </a:p>
          <a:p>
            <a:pPr marL="0" indent="0">
              <a:buNone/>
            </a:pPr>
            <a:r>
              <a:rPr lang="zh-CN" altLang="en-US" sz="1700" dirty="0"/>
              <a:t>定义：封装一个复杂对象构造过程，并允许按步骤构造。解释：就是将复杂对象的创建过程拆分成多个简单对象的创建过程，并将这些简单对象组合起来构建出复杂对象。</a:t>
            </a:r>
            <a:endParaRPr lang="en-US" altLang="zh-CN" sz="1700" dirty="0"/>
          </a:p>
          <a:p>
            <a:pPr marL="0" indent="0">
              <a:buNone/>
            </a:pPr>
            <a:r>
              <a:rPr lang="zh-CN" altLang="en-US" sz="1700" dirty="0"/>
              <a:t>二、角色组成产品类（</a:t>
            </a:r>
            <a:r>
              <a:rPr lang="en-US" altLang="zh-CN" sz="1700" dirty="0"/>
              <a:t>Product</a:t>
            </a:r>
            <a:r>
              <a:rPr lang="zh-CN" altLang="en-US" sz="1700" dirty="0"/>
              <a:t>）：表示被创建的复杂对象。它通常包含多个部分或者组成，并由具体的建造者逐步构建而成。抽象建造者类（</a:t>
            </a:r>
            <a:r>
              <a:rPr lang="en-US" altLang="zh-CN" sz="1700" dirty="0"/>
              <a:t>Builder</a:t>
            </a:r>
            <a:r>
              <a:rPr lang="zh-CN" altLang="en-US" sz="1700" dirty="0"/>
              <a:t>）：定义了建造复杂对象所需要的各个部分的创建方法。它通常包括多个构建方法和一个返回产品的方法。具体建造者类（</a:t>
            </a:r>
            <a:r>
              <a:rPr lang="en-US" altLang="zh-CN" sz="1700" dirty="0" err="1"/>
              <a:t>ConcreteBuilder</a:t>
            </a:r>
            <a:r>
              <a:rPr lang="zh-CN" altLang="en-US" sz="1700" dirty="0"/>
              <a:t>）：实现</a:t>
            </a:r>
            <a:r>
              <a:rPr lang="en-US" altLang="zh-CN" sz="1700" dirty="0"/>
              <a:t>Builder</a:t>
            </a:r>
            <a:r>
              <a:rPr lang="zh-CN" altLang="en-US" sz="1700" dirty="0"/>
              <a:t>接口，并提供各个部分或者组成的构建方法。指挥者类（</a:t>
            </a:r>
            <a:r>
              <a:rPr lang="en-US" altLang="zh-CN" sz="1700" dirty="0"/>
              <a:t>Director</a:t>
            </a:r>
            <a:r>
              <a:rPr lang="zh-CN" altLang="en-US" sz="1700" dirty="0"/>
              <a:t>）：负责控制建造者的构建顺序，指挥建造者如何构建复杂对象。</a:t>
            </a:r>
            <a:endParaRPr lang="en-US" altLang="zh-CN" sz="1700" dirty="0"/>
          </a:p>
          <a:p>
            <a:pPr marL="0" indent="0">
              <a:buNone/>
            </a:pPr>
            <a:r>
              <a:rPr lang="zh-CN" altLang="en-US" sz="1700" dirty="0"/>
              <a:t>三、优缺点优点：</a:t>
            </a:r>
            <a:endParaRPr lang="en-US" altLang="zh-CN" sz="1700" dirty="0"/>
          </a:p>
          <a:p>
            <a:pPr marL="0" indent="0">
              <a:buNone/>
            </a:pPr>
            <a:r>
              <a:rPr lang="zh-CN" altLang="en-US" sz="17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700" dirty="0"/>
          </a:p>
          <a:p>
            <a:pPr marL="0" indent="0">
              <a:buNone/>
            </a:pPr>
            <a:r>
              <a:rPr lang="zh-CN" altLang="en-US" sz="1700" dirty="0"/>
              <a:t>缺点：增加工作量：需要额外的代码来创建和管理具体建造者类，增加了程序员的工作量。效率低：相比于其他创建型模式，在运行时效率较低，特别是对象太复杂时。</a:t>
            </a:r>
          </a:p>
        </p:txBody>
      </p:sp>
      <p:sp>
        <p:nvSpPr>
          <p:cNvPr id="6" name="矩形 5">
            <a:extLst>
              <a:ext uri="{FF2B5EF4-FFF2-40B4-BE49-F238E27FC236}">
                <a16:creationId xmlns:a16="http://schemas.microsoft.com/office/drawing/2014/main" id="{922041E3-7058-89C5-DF0F-5A42820A2CB6}"/>
              </a:ext>
            </a:extLst>
          </p:cNvPr>
          <p:cNvSpPr/>
          <p:nvPr/>
        </p:nvSpPr>
        <p:spPr>
          <a:xfrm>
            <a:off x="7361659" y="159510"/>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a:extLst>
              <a:ext uri="{FF2B5EF4-FFF2-40B4-BE49-F238E27FC236}">
                <a16:creationId xmlns:a16="http://schemas.microsoft.com/office/drawing/2014/main" id="{776DE80A-5123-A4BC-D2F9-4E2FB3B214A6}"/>
              </a:ext>
            </a:extLst>
          </p:cNvPr>
          <p:cNvPicPr>
            <a:picLocks noChangeAspect="1"/>
          </p:cNvPicPr>
          <p:nvPr/>
        </p:nvPicPr>
        <p:blipFill>
          <a:blip r:embed="rId2"/>
          <a:stretch>
            <a:fillRect/>
          </a:stretch>
        </p:blipFill>
        <p:spPr>
          <a:xfrm>
            <a:off x="6991546" y="0"/>
            <a:ext cx="4812993" cy="6858000"/>
          </a:xfrm>
          <a:prstGeom prst="rect">
            <a:avLst/>
          </a:prstGeom>
        </p:spPr>
      </p:pic>
      <p:sp>
        <p:nvSpPr>
          <p:cNvPr id="2" name="Title 1">
            <a:extLst>
              <a:ext uri="{FF2B5EF4-FFF2-40B4-BE49-F238E27FC236}">
                <a16:creationId xmlns:a16="http://schemas.microsoft.com/office/drawing/2014/main" id="{2FE2C7C0-A3A3-74FC-E9B6-B8192D2C8F18}"/>
              </a:ext>
            </a:extLst>
          </p:cNvPr>
          <p:cNvSpPr txBox="1">
            <a:spLocks/>
          </p:cNvSpPr>
          <p:nvPr/>
        </p:nvSpPr>
        <p:spPr>
          <a:xfrm>
            <a:off x="261257" y="315563"/>
            <a:ext cx="7253368" cy="802521"/>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dirty="0"/>
              <a:t>功能展示</a:t>
            </a:r>
            <a:r>
              <a:rPr lang="en-US" altLang="zh-CN" dirty="0"/>
              <a:t>.</a:t>
            </a:r>
            <a:r>
              <a:rPr lang="zh-CN" altLang="en-US" dirty="0"/>
              <a:t>主题选择</a:t>
            </a:r>
            <a:r>
              <a:rPr lang="en-US" altLang="zh-CN" dirty="0"/>
              <a:t>.</a:t>
            </a:r>
            <a:r>
              <a:rPr lang="zh-CN" altLang="en-US" dirty="0"/>
              <a:t>模式</a:t>
            </a:r>
            <a:endParaRPr lang="en-US" dirty="0"/>
          </a:p>
        </p:txBody>
      </p:sp>
    </p:spTree>
    <p:extLst>
      <p:ext uri="{BB962C8B-B14F-4D97-AF65-F5344CB8AC3E}">
        <p14:creationId xmlns:p14="http://schemas.microsoft.com/office/powerpoint/2010/main" val="38547013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4646341" y="0"/>
            <a:ext cx="9262946" cy="3055434"/>
          </a:xfrm>
        </p:spPr>
        <p:txBody>
          <a:bodyPr/>
          <a:lstStyle/>
          <a:p>
            <a:pPr lvl="0"/>
            <a:r>
              <a:rPr lang="zh-CN" altLang="en-US" sz="13800" dirty="0"/>
              <a:t>类图比较</a:t>
            </a:r>
            <a:endParaRPr lang="en-US" sz="13800"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1"/>
            <a:ext cx="5248204" cy="6892451"/>
          </a:xfrm>
          <a:prstGeom prst="rect">
            <a:avLst/>
          </a:prstGeom>
        </p:spPr>
      </p:pic>
      <p:sp>
        <p:nvSpPr>
          <p:cNvPr id="2" name="文本框 1">
            <a:extLst>
              <a:ext uri="{FF2B5EF4-FFF2-40B4-BE49-F238E27FC236}">
                <a16:creationId xmlns:a16="http://schemas.microsoft.com/office/drawing/2014/main" id="{0745A0CA-5D0C-C704-BB51-36338D121505}"/>
              </a:ext>
            </a:extLst>
          </p:cNvPr>
          <p:cNvSpPr txBox="1"/>
          <p:nvPr/>
        </p:nvSpPr>
        <p:spPr>
          <a:xfrm>
            <a:off x="5248204" y="935919"/>
            <a:ext cx="6780244" cy="6186309"/>
          </a:xfrm>
          <a:prstGeom prst="rect">
            <a:avLst/>
          </a:prstGeom>
          <a:noFill/>
        </p:spPr>
        <p:txBody>
          <a:bodyPr wrap="square" rtlCol="0">
            <a:spAutoFit/>
          </a:bodyPr>
          <a:lstStyle/>
          <a:p>
            <a:r>
              <a:rPr lang="en-US" altLang="zh-CN" b="1" dirty="0"/>
              <a:t>1. </a:t>
            </a:r>
            <a:r>
              <a:rPr lang="en-US" altLang="zh-CN" b="1" dirty="0" err="1"/>
              <a:t>BombPlacer</a:t>
            </a:r>
            <a:r>
              <a:rPr lang="zh-CN" altLang="en-US" b="1" dirty="0"/>
              <a:t>和</a:t>
            </a:r>
            <a:r>
              <a:rPr lang="en-US" altLang="zh-CN" b="1" dirty="0" err="1"/>
              <a:t>GameBoard</a:t>
            </a:r>
            <a:r>
              <a:rPr lang="zh-CN" altLang="en-US" b="1" dirty="0"/>
              <a:t>之间存在紧密耦合</a:t>
            </a:r>
            <a:r>
              <a:rPr lang="en-US" altLang="zh-CN" b="1" dirty="0"/>
              <a:t>: </a:t>
            </a:r>
            <a:r>
              <a:rPr lang="en-US" altLang="zh-CN" dirty="0" err="1"/>
              <a:t>BombPlacer</a:t>
            </a:r>
            <a:r>
              <a:rPr lang="zh-CN" altLang="en-US" dirty="0"/>
              <a:t>在其构造函数中直接接收一个</a:t>
            </a:r>
            <a:r>
              <a:rPr lang="en-US" altLang="zh-CN" dirty="0" err="1"/>
              <a:t>GameBoard</a:t>
            </a:r>
            <a:r>
              <a:rPr lang="zh-CN" altLang="en-US" dirty="0"/>
              <a:t>实例。它直接调用</a:t>
            </a:r>
            <a:r>
              <a:rPr lang="en-US" altLang="zh-CN" dirty="0" err="1"/>
              <a:t>board.getSquareAt</a:t>
            </a:r>
            <a:r>
              <a:rPr lang="en-US" altLang="zh-CN" dirty="0"/>
              <a:t>()</a:t>
            </a:r>
            <a:r>
              <a:rPr lang="zh-CN" altLang="en-US" dirty="0"/>
              <a:t>和</a:t>
            </a:r>
            <a:r>
              <a:rPr lang="en-US" altLang="zh-CN" dirty="0" err="1"/>
              <a:t>square.setBombExist</a:t>
            </a:r>
            <a:r>
              <a:rPr lang="en-US" altLang="zh-CN" dirty="0"/>
              <a:t>()</a:t>
            </a:r>
            <a:r>
              <a:rPr lang="zh-CN" altLang="en-US" dirty="0"/>
              <a:t>来修改</a:t>
            </a:r>
            <a:r>
              <a:rPr lang="en-US" altLang="zh-CN" dirty="0" err="1"/>
              <a:t>GameBoard</a:t>
            </a:r>
            <a:r>
              <a:rPr lang="zh-CN" altLang="en-US" dirty="0"/>
              <a:t>的内部状态。这种紧密耦合使得</a:t>
            </a:r>
            <a:r>
              <a:rPr lang="en-US" altLang="zh-CN" dirty="0" err="1"/>
              <a:t>BombPlacer</a:t>
            </a:r>
            <a:r>
              <a:rPr lang="zh-CN" altLang="en-US" dirty="0"/>
              <a:t>无法独立于</a:t>
            </a:r>
            <a:r>
              <a:rPr lang="en-US" altLang="zh-CN" dirty="0" err="1"/>
              <a:t>GameBoard</a:t>
            </a:r>
            <a:r>
              <a:rPr lang="zh-CN" altLang="en-US" dirty="0"/>
              <a:t>进行测试或重用。如果</a:t>
            </a:r>
            <a:r>
              <a:rPr lang="en-US" altLang="zh-CN" dirty="0" err="1"/>
              <a:t>GameBoard</a:t>
            </a:r>
            <a:r>
              <a:rPr lang="zh-CN" altLang="en-US" dirty="0"/>
              <a:t>的实现发生变化（例如，改变其存储</a:t>
            </a:r>
            <a:r>
              <a:rPr lang="en-US" altLang="zh-CN" dirty="0" err="1"/>
              <a:t>GameSquare</a:t>
            </a:r>
            <a:r>
              <a:rPr lang="zh-CN" altLang="en-US" dirty="0"/>
              <a:t>的方式），</a:t>
            </a:r>
            <a:r>
              <a:rPr lang="en-US" altLang="zh-CN" dirty="0" err="1"/>
              <a:t>BombPlacer</a:t>
            </a:r>
            <a:r>
              <a:rPr lang="zh-CN" altLang="en-US" dirty="0"/>
              <a:t>的代码也可能需要修改。</a:t>
            </a:r>
            <a:endParaRPr lang="en-US" altLang="zh-CN" dirty="0"/>
          </a:p>
          <a:p>
            <a:endParaRPr lang="en-US" altLang="zh-CN" dirty="0"/>
          </a:p>
          <a:p>
            <a:r>
              <a:rPr lang="en-US" altLang="zh-CN" b="1" dirty="0"/>
              <a:t>2. </a:t>
            </a:r>
            <a:r>
              <a:rPr lang="zh-CN" altLang="en-US" b="1" dirty="0"/>
              <a:t>职责分散，逻辑混乱</a:t>
            </a:r>
            <a:r>
              <a:rPr lang="en-US" altLang="zh-CN" b="1" dirty="0"/>
              <a:t>: </a:t>
            </a:r>
            <a:r>
              <a:rPr lang="zh-CN" altLang="en-US" dirty="0"/>
              <a:t>在</a:t>
            </a:r>
            <a:r>
              <a:rPr lang="en-US" altLang="zh-CN" dirty="0"/>
              <a:t>BombPlacer.java</a:t>
            </a:r>
            <a:r>
              <a:rPr lang="zh-CN" altLang="en-US" dirty="0"/>
              <a:t>中，布雷逻辑 </a:t>
            </a:r>
            <a:r>
              <a:rPr lang="en-US" altLang="zh-CN" dirty="0" err="1"/>
              <a:t>placeBombs</a:t>
            </a:r>
            <a:r>
              <a:rPr lang="en-US" altLang="zh-CN" dirty="0"/>
              <a:t>()</a:t>
            </a:r>
            <a:r>
              <a:rPr lang="zh-CN" altLang="en-US" dirty="0"/>
              <a:t>被放在了构造函数里。这通常不是一个好的实践，构造函数应该只负责对象的初始化。将核心逻辑放在构造函数中会使类的行为变得不明确，并且难以测试。   </a:t>
            </a:r>
            <a:r>
              <a:rPr lang="en-US" altLang="zh-CN" dirty="0" err="1"/>
              <a:t>BombPlacer</a:t>
            </a:r>
            <a:r>
              <a:rPr lang="zh-CN" altLang="en-US" dirty="0"/>
              <a:t>中有一行可疑的代码</a:t>
            </a:r>
            <a:r>
              <a:rPr lang="en-US" altLang="zh-CN" dirty="0" err="1"/>
              <a:t>square.setTraverse</a:t>
            </a:r>
            <a:r>
              <a:rPr lang="en-US" altLang="zh-CN" dirty="0"/>
              <a:t>(true)</a:t>
            </a:r>
            <a:r>
              <a:rPr lang="zh-CN" altLang="en-US" dirty="0"/>
              <a:t>。这似乎是一个 </a:t>
            </a:r>
            <a:r>
              <a:rPr lang="en-US" altLang="zh-CN" dirty="0"/>
              <a:t>bug</a:t>
            </a:r>
            <a:r>
              <a:rPr lang="zh-CN" altLang="en-US" dirty="0"/>
              <a:t>，因为有炸弹的方块不应该被设置为“已遍历”。这反映出</a:t>
            </a:r>
            <a:r>
              <a:rPr lang="en-US" altLang="zh-CN" dirty="0" err="1"/>
              <a:t>BombPlacer</a:t>
            </a:r>
            <a:r>
              <a:rPr lang="zh-CN" altLang="en-US" dirty="0"/>
              <a:t>承担了它不应该承担的责任（修改方块的遍历状态），从而导致了潜在的错误。</a:t>
            </a:r>
            <a:endParaRPr lang="en-US" altLang="zh-CN" dirty="0"/>
          </a:p>
          <a:p>
            <a:endParaRPr lang="en-US" altLang="zh-CN" dirty="0"/>
          </a:p>
          <a:p>
            <a:r>
              <a:rPr lang="en-US" altLang="zh-CN" b="1" dirty="0"/>
              <a:t>3. </a:t>
            </a:r>
            <a:r>
              <a:rPr lang="zh-CN" altLang="en-US" b="1" dirty="0"/>
              <a:t>缺乏清晰的抽象和接口</a:t>
            </a:r>
            <a:r>
              <a:rPr lang="en-US" altLang="zh-CN" b="1" dirty="0"/>
              <a:t>: </a:t>
            </a:r>
            <a:r>
              <a:rPr lang="zh-CN" altLang="en-US" dirty="0"/>
              <a:t>类之间直接通过它们的具体实现进行交互，而不是通过抽象的接口。例如，</a:t>
            </a:r>
            <a:r>
              <a:rPr lang="en-US" altLang="zh-CN" dirty="0" err="1"/>
              <a:t>BombPlacer</a:t>
            </a:r>
            <a:r>
              <a:rPr lang="zh-CN" altLang="en-US" dirty="0"/>
              <a:t>直接依赖于</a:t>
            </a:r>
            <a:r>
              <a:rPr lang="en-US" altLang="zh-CN" dirty="0" err="1"/>
              <a:t>GameBoard</a:t>
            </a:r>
            <a:r>
              <a:rPr lang="zh-CN" altLang="en-US" dirty="0"/>
              <a:t>的具体类。如果使用接口（例如</a:t>
            </a:r>
            <a:r>
              <a:rPr lang="en-US" altLang="zh-CN" dirty="0" err="1"/>
              <a:t>IBoard</a:t>
            </a:r>
            <a:r>
              <a:rPr lang="zh-CN" altLang="en-US" dirty="0"/>
              <a:t>），我们可以为</a:t>
            </a:r>
            <a:r>
              <a:rPr lang="en-US" altLang="zh-CN" dirty="0" err="1"/>
              <a:t>GameBoard</a:t>
            </a:r>
            <a:r>
              <a:rPr lang="zh-CN" altLang="en-US" dirty="0"/>
              <a:t>提供不同的实现（例如，用于测试的模拟棋盘），而无需更改</a:t>
            </a:r>
            <a:r>
              <a:rPr lang="en-US" altLang="zh-CN" dirty="0" err="1"/>
              <a:t>BombPlacer</a:t>
            </a:r>
            <a:r>
              <a:rPr lang="zh-CN" altLang="en-US" dirty="0"/>
              <a:t>。</a:t>
            </a:r>
            <a:endParaRPr lang="en-US" altLang="zh-CN" dirty="0"/>
          </a:p>
          <a:p>
            <a:endParaRPr lang="en-US" altLang="zh-CN" dirty="0"/>
          </a:p>
        </p:txBody>
      </p:sp>
      <p:sp>
        <p:nvSpPr>
          <p:cNvPr id="5" name="文本框 4">
            <a:extLst>
              <a:ext uri="{FF2B5EF4-FFF2-40B4-BE49-F238E27FC236}">
                <a16:creationId xmlns:a16="http://schemas.microsoft.com/office/drawing/2014/main" id="{2FCA7AB7-77E5-6692-3B1B-8DD2755815D8}"/>
              </a:ext>
            </a:extLst>
          </p:cNvPr>
          <p:cNvSpPr txBox="1"/>
          <p:nvPr/>
        </p:nvSpPr>
        <p:spPr>
          <a:xfrm>
            <a:off x="3593720" y="1030674"/>
            <a:ext cx="553998" cy="2034395"/>
          </a:xfrm>
          <a:prstGeom prst="rect">
            <a:avLst/>
          </a:prstGeom>
          <a:noFill/>
        </p:spPr>
        <p:txBody>
          <a:bodyPr vert="eaVert" wrap="square" rtlCol="0">
            <a:spAutoFit/>
          </a:bodyPr>
          <a:lstStyle/>
          <a:p>
            <a:r>
              <a:rPr lang="zh-CN" altLang="en-US" sz="2400" dirty="0"/>
              <a:t>更改之前类图</a:t>
            </a:r>
          </a:p>
        </p:txBody>
      </p:sp>
      <p:sp>
        <p:nvSpPr>
          <p:cNvPr id="6" name="矩形 5">
            <a:extLst>
              <a:ext uri="{FF2B5EF4-FFF2-40B4-BE49-F238E27FC236}">
                <a16:creationId xmlns:a16="http://schemas.microsoft.com/office/drawing/2014/main" id="{908CE2FA-F6A5-79EB-C86E-433E9E502928}"/>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849752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AB0AE-6148-6393-8F63-2E5AB1BD07A0}"/>
            </a:ext>
          </a:extLst>
        </p:cNvPr>
        <p:cNvGrpSpPr/>
        <p:nvPr/>
      </p:nvGrpSpPr>
      <p:grpSpPr>
        <a:xfrm>
          <a:off x="0" y="0"/>
          <a:ext cx="0" cy="0"/>
          <a:chOff x="0" y="0"/>
          <a:chExt cx="0" cy="0"/>
        </a:xfrm>
      </p:grpSpPr>
      <p:pic>
        <p:nvPicPr>
          <p:cNvPr id="4" name="内容占位符 3">
            <a:extLst>
              <a:ext uri="{FF2B5EF4-FFF2-40B4-BE49-F238E27FC236}">
                <a16:creationId xmlns:a16="http://schemas.microsoft.com/office/drawing/2014/main" id="{8B0A609D-FC3F-30A8-B3E5-F83500FE8D07}"/>
              </a:ext>
            </a:extLst>
          </p:cNvPr>
          <p:cNvPicPr>
            <a:picLocks noGrp="1" noChangeAspect="1"/>
          </p:cNvPicPr>
          <p:nvPr>
            <p:ph idx="1"/>
          </p:nvPr>
        </p:nvPicPr>
        <p:blipFill>
          <a:blip r:embed="rId2"/>
          <a:stretch>
            <a:fillRect/>
          </a:stretch>
        </p:blipFill>
        <p:spPr>
          <a:xfrm>
            <a:off x="150143" y="0"/>
            <a:ext cx="5223136" cy="6859529"/>
          </a:xfrm>
          <a:prstGeom prst="rect">
            <a:avLst/>
          </a:prstGeom>
        </p:spPr>
      </p:pic>
      <p:sp>
        <p:nvSpPr>
          <p:cNvPr id="2" name="文本框 1">
            <a:extLst>
              <a:ext uri="{FF2B5EF4-FFF2-40B4-BE49-F238E27FC236}">
                <a16:creationId xmlns:a16="http://schemas.microsoft.com/office/drawing/2014/main" id="{259D5F5B-C3AD-FA3B-D1D6-C3EC4D9C35C4}"/>
              </a:ext>
            </a:extLst>
          </p:cNvPr>
          <p:cNvSpPr txBox="1"/>
          <p:nvPr/>
        </p:nvSpPr>
        <p:spPr>
          <a:xfrm>
            <a:off x="5515833" y="671691"/>
            <a:ext cx="6780244" cy="6186309"/>
          </a:xfrm>
          <a:prstGeom prst="rect">
            <a:avLst/>
          </a:prstGeom>
          <a:noFill/>
        </p:spPr>
        <p:txBody>
          <a:bodyPr wrap="square" rtlCol="0">
            <a:spAutoFit/>
          </a:bodyPr>
          <a:lstStyle/>
          <a:p>
            <a:r>
              <a:rPr lang="en-US" altLang="zh-CN" b="1" dirty="0"/>
              <a:t>1. </a:t>
            </a:r>
            <a:r>
              <a:rPr lang="en-US" altLang="zh-CN" b="1" dirty="0" err="1"/>
              <a:t>BombPlacer</a:t>
            </a:r>
            <a:r>
              <a:rPr lang="zh-CN" altLang="en-US" b="1" dirty="0"/>
              <a:t>和</a:t>
            </a:r>
            <a:r>
              <a:rPr lang="en-US" altLang="zh-CN" b="1" dirty="0" err="1"/>
              <a:t>GameBoard</a:t>
            </a:r>
            <a:r>
              <a:rPr lang="zh-CN" altLang="en-US" b="1" dirty="0"/>
              <a:t>之间存在紧密耦合</a:t>
            </a:r>
            <a:r>
              <a:rPr lang="en-US" altLang="zh-CN" b="1" dirty="0"/>
              <a:t>: </a:t>
            </a:r>
            <a:r>
              <a:rPr lang="en-US" altLang="zh-CN" dirty="0" err="1"/>
              <a:t>BombPlacer</a:t>
            </a:r>
            <a:r>
              <a:rPr lang="zh-CN" altLang="en-US" dirty="0"/>
              <a:t>在其构造函数中直接接收一个</a:t>
            </a:r>
            <a:r>
              <a:rPr lang="en-US" altLang="zh-CN" dirty="0" err="1"/>
              <a:t>GameBoard</a:t>
            </a:r>
            <a:r>
              <a:rPr lang="zh-CN" altLang="en-US" dirty="0"/>
              <a:t>实例。它直接调用</a:t>
            </a:r>
            <a:r>
              <a:rPr lang="en-US" altLang="zh-CN" dirty="0" err="1"/>
              <a:t>board.getSquareAt</a:t>
            </a:r>
            <a:r>
              <a:rPr lang="en-US" altLang="zh-CN" dirty="0"/>
              <a:t>()</a:t>
            </a:r>
            <a:r>
              <a:rPr lang="zh-CN" altLang="en-US" dirty="0"/>
              <a:t>和</a:t>
            </a:r>
            <a:r>
              <a:rPr lang="en-US" altLang="zh-CN" dirty="0" err="1"/>
              <a:t>square.setBombExist</a:t>
            </a:r>
            <a:r>
              <a:rPr lang="en-US" altLang="zh-CN" dirty="0"/>
              <a:t>()</a:t>
            </a:r>
            <a:r>
              <a:rPr lang="zh-CN" altLang="en-US" dirty="0"/>
              <a:t>来修改</a:t>
            </a:r>
            <a:r>
              <a:rPr lang="en-US" altLang="zh-CN" dirty="0" err="1"/>
              <a:t>GameBoard</a:t>
            </a:r>
            <a:r>
              <a:rPr lang="zh-CN" altLang="en-US" dirty="0"/>
              <a:t>的内部状态。这种紧密耦合使得</a:t>
            </a:r>
            <a:r>
              <a:rPr lang="en-US" altLang="zh-CN" dirty="0" err="1"/>
              <a:t>BombPlacer</a:t>
            </a:r>
            <a:r>
              <a:rPr lang="zh-CN" altLang="en-US" dirty="0"/>
              <a:t>无法独立于</a:t>
            </a:r>
            <a:r>
              <a:rPr lang="en-US" altLang="zh-CN" dirty="0" err="1"/>
              <a:t>GameBoard</a:t>
            </a:r>
            <a:r>
              <a:rPr lang="zh-CN" altLang="en-US" dirty="0"/>
              <a:t>进行测试或重用。如果</a:t>
            </a:r>
            <a:r>
              <a:rPr lang="en-US" altLang="zh-CN" dirty="0" err="1"/>
              <a:t>GameBoard</a:t>
            </a:r>
            <a:r>
              <a:rPr lang="zh-CN" altLang="en-US" dirty="0"/>
              <a:t>的实现发生变化（例如，改变其存储</a:t>
            </a:r>
            <a:r>
              <a:rPr lang="en-US" altLang="zh-CN" dirty="0" err="1"/>
              <a:t>GameSquare</a:t>
            </a:r>
            <a:r>
              <a:rPr lang="zh-CN" altLang="en-US" dirty="0"/>
              <a:t>的方式），</a:t>
            </a:r>
            <a:r>
              <a:rPr lang="en-US" altLang="zh-CN" dirty="0" err="1"/>
              <a:t>BombPlacer</a:t>
            </a:r>
            <a:r>
              <a:rPr lang="zh-CN" altLang="en-US" dirty="0"/>
              <a:t>的代码也可能需要修改。</a:t>
            </a:r>
            <a:endParaRPr lang="en-US" altLang="zh-CN" dirty="0"/>
          </a:p>
          <a:p>
            <a:endParaRPr lang="en-US" altLang="zh-CN" dirty="0"/>
          </a:p>
          <a:p>
            <a:r>
              <a:rPr lang="en-US" altLang="zh-CN" b="1" dirty="0"/>
              <a:t>2. </a:t>
            </a:r>
            <a:r>
              <a:rPr lang="zh-CN" altLang="en-US" b="1" dirty="0"/>
              <a:t>职责分散，逻辑混乱</a:t>
            </a:r>
            <a:r>
              <a:rPr lang="en-US" altLang="zh-CN" b="1" dirty="0"/>
              <a:t>: </a:t>
            </a:r>
            <a:r>
              <a:rPr lang="zh-CN" altLang="en-US" dirty="0"/>
              <a:t>在</a:t>
            </a:r>
            <a:r>
              <a:rPr lang="en-US" altLang="zh-CN" dirty="0"/>
              <a:t>BombPlacer.java</a:t>
            </a:r>
            <a:r>
              <a:rPr lang="zh-CN" altLang="en-US" dirty="0"/>
              <a:t>中，布雷逻辑 </a:t>
            </a:r>
            <a:r>
              <a:rPr lang="en-US" altLang="zh-CN" dirty="0" err="1"/>
              <a:t>placeBombs</a:t>
            </a:r>
            <a:r>
              <a:rPr lang="en-US" altLang="zh-CN" dirty="0"/>
              <a:t>()</a:t>
            </a:r>
            <a:r>
              <a:rPr lang="zh-CN" altLang="en-US" dirty="0"/>
              <a:t>被放在了构造函数里。这通常不是一个好的实践，构造函数应该只负责对象的初始化。将核心逻辑放在构造函数中会使类的行为变得不明确，并且难以测试。   </a:t>
            </a:r>
            <a:r>
              <a:rPr lang="en-US" altLang="zh-CN" dirty="0" err="1"/>
              <a:t>BombPlacer</a:t>
            </a:r>
            <a:r>
              <a:rPr lang="zh-CN" altLang="en-US" dirty="0"/>
              <a:t>中有一行可疑的代码</a:t>
            </a:r>
            <a:r>
              <a:rPr lang="en-US" altLang="zh-CN" dirty="0" err="1"/>
              <a:t>square.setTraverse</a:t>
            </a:r>
            <a:r>
              <a:rPr lang="en-US" altLang="zh-CN" dirty="0"/>
              <a:t>(true)</a:t>
            </a:r>
            <a:r>
              <a:rPr lang="zh-CN" altLang="en-US" dirty="0"/>
              <a:t>。这似乎是一个 </a:t>
            </a:r>
            <a:r>
              <a:rPr lang="en-US" altLang="zh-CN" dirty="0"/>
              <a:t>bug</a:t>
            </a:r>
            <a:r>
              <a:rPr lang="zh-CN" altLang="en-US" dirty="0"/>
              <a:t>，因为有炸弹的方块不应该被设置为“已遍历”。这反映出</a:t>
            </a:r>
            <a:r>
              <a:rPr lang="en-US" altLang="zh-CN" dirty="0" err="1"/>
              <a:t>BombPlacer</a:t>
            </a:r>
            <a:r>
              <a:rPr lang="zh-CN" altLang="en-US" dirty="0"/>
              <a:t>承担了它不应该承担的责任（修改方块的遍历状态），从而导致了潜在的错误。</a:t>
            </a:r>
            <a:endParaRPr lang="en-US" altLang="zh-CN" dirty="0"/>
          </a:p>
          <a:p>
            <a:endParaRPr lang="en-US" altLang="zh-CN" dirty="0"/>
          </a:p>
          <a:p>
            <a:r>
              <a:rPr lang="en-US" altLang="zh-CN" b="1" dirty="0"/>
              <a:t>3. </a:t>
            </a:r>
            <a:r>
              <a:rPr lang="zh-CN" altLang="en-US" b="1" dirty="0"/>
              <a:t>缺乏清晰的抽象和接口</a:t>
            </a:r>
            <a:r>
              <a:rPr lang="en-US" altLang="zh-CN" b="1" dirty="0"/>
              <a:t>: </a:t>
            </a:r>
            <a:r>
              <a:rPr lang="zh-CN" altLang="en-US" dirty="0"/>
              <a:t>类之间直接通过它们的具体实现进行交互，而不是通过抽象的接口。例如，</a:t>
            </a:r>
            <a:r>
              <a:rPr lang="en-US" altLang="zh-CN" dirty="0" err="1"/>
              <a:t>BombPlacer</a:t>
            </a:r>
            <a:r>
              <a:rPr lang="zh-CN" altLang="en-US" dirty="0"/>
              <a:t>直接依赖于</a:t>
            </a:r>
            <a:r>
              <a:rPr lang="en-US" altLang="zh-CN" dirty="0" err="1"/>
              <a:t>GameBoard</a:t>
            </a:r>
            <a:r>
              <a:rPr lang="zh-CN" altLang="en-US" dirty="0"/>
              <a:t>的具体类。如果使用接口（例如</a:t>
            </a:r>
            <a:r>
              <a:rPr lang="en-US" altLang="zh-CN" dirty="0" err="1"/>
              <a:t>IBoard</a:t>
            </a:r>
            <a:r>
              <a:rPr lang="zh-CN" altLang="en-US" dirty="0"/>
              <a:t>），我们可以为</a:t>
            </a:r>
            <a:r>
              <a:rPr lang="en-US" altLang="zh-CN" dirty="0" err="1"/>
              <a:t>GameBoard</a:t>
            </a:r>
            <a:r>
              <a:rPr lang="zh-CN" altLang="en-US" dirty="0"/>
              <a:t>提供不同的实现（例如，用于测试的模拟棋盘），而无需更改</a:t>
            </a:r>
            <a:r>
              <a:rPr lang="en-US" altLang="zh-CN" dirty="0" err="1"/>
              <a:t>BombPlacer</a:t>
            </a:r>
            <a:r>
              <a:rPr lang="zh-CN" altLang="en-US" dirty="0"/>
              <a:t>。</a:t>
            </a:r>
            <a:endParaRPr lang="en-US" altLang="zh-CN" dirty="0"/>
          </a:p>
          <a:p>
            <a:endParaRPr lang="en-US" altLang="zh-CN" dirty="0"/>
          </a:p>
        </p:txBody>
      </p:sp>
      <p:sp>
        <p:nvSpPr>
          <p:cNvPr id="3" name="文本框 2">
            <a:extLst>
              <a:ext uri="{FF2B5EF4-FFF2-40B4-BE49-F238E27FC236}">
                <a16:creationId xmlns:a16="http://schemas.microsoft.com/office/drawing/2014/main" id="{30ECB055-4CD8-264A-04D1-A01F6A900A59}"/>
              </a:ext>
            </a:extLst>
          </p:cNvPr>
          <p:cNvSpPr txBox="1"/>
          <p:nvPr/>
        </p:nvSpPr>
        <p:spPr>
          <a:xfrm>
            <a:off x="3593720" y="1030674"/>
            <a:ext cx="553998" cy="2034395"/>
          </a:xfrm>
          <a:prstGeom prst="rect">
            <a:avLst/>
          </a:prstGeom>
          <a:noFill/>
        </p:spPr>
        <p:txBody>
          <a:bodyPr vert="eaVert" wrap="square" rtlCol="0">
            <a:spAutoFit/>
          </a:bodyPr>
          <a:lstStyle/>
          <a:p>
            <a:r>
              <a:rPr lang="zh-CN" altLang="en-US" sz="2400" dirty="0"/>
              <a:t>更改之前类图</a:t>
            </a:r>
          </a:p>
        </p:txBody>
      </p:sp>
      <p:sp>
        <p:nvSpPr>
          <p:cNvPr id="5" name="矩形 4">
            <a:extLst>
              <a:ext uri="{FF2B5EF4-FFF2-40B4-BE49-F238E27FC236}">
                <a16:creationId xmlns:a16="http://schemas.microsoft.com/office/drawing/2014/main" id="{9D0045BF-32AA-0360-D16D-FBD85B990092}"/>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674593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5CB169CD-CAD1-7E86-25D7-39C7B8AB509C}"/>
              </a:ext>
            </a:extLst>
          </p:cNvPr>
          <p:cNvPicPr>
            <a:picLocks noChangeAspect="1"/>
          </p:cNvPicPr>
          <p:nvPr/>
        </p:nvPicPr>
        <p:blipFill>
          <a:blip r:embed="rId2">
            <a:alphaModFix amt="82000"/>
          </a:blip>
          <a:stretch>
            <a:fillRect/>
          </a:stretch>
        </p:blipFill>
        <p:spPr>
          <a:xfrm>
            <a:off x="992957" y="0"/>
            <a:ext cx="2641951" cy="6858000"/>
          </a:xfrm>
          <a:prstGeom prst="rect">
            <a:avLst/>
          </a:prstGeom>
        </p:spPr>
      </p:pic>
      <p:sp>
        <p:nvSpPr>
          <p:cNvPr id="3" name="文本框 2">
            <a:extLst>
              <a:ext uri="{FF2B5EF4-FFF2-40B4-BE49-F238E27FC236}">
                <a16:creationId xmlns:a16="http://schemas.microsoft.com/office/drawing/2014/main" id="{7B91E13F-1A6C-7635-C3F4-AA5F8877F96E}"/>
              </a:ext>
            </a:extLst>
          </p:cNvPr>
          <p:cNvSpPr txBox="1"/>
          <p:nvPr/>
        </p:nvSpPr>
        <p:spPr>
          <a:xfrm>
            <a:off x="5835805" y="2036956"/>
            <a:ext cx="5136994" cy="523220"/>
          </a:xfrm>
          <a:prstGeom prst="rect">
            <a:avLst/>
          </a:prstGeom>
          <a:noFill/>
        </p:spPr>
        <p:txBody>
          <a:bodyPr wrap="square" rtlCol="0">
            <a:spAutoFit/>
          </a:bodyPr>
          <a:lstStyle/>
          <a:p>
            <a:r>
              <a:rPr lang="zh-CN" altLang="en-US" sz="2800" dirty="0">
                <a:latin typeface="华文琥珀" panose="02010800040101010101" pitchFamily="2" charset="-122"/>
                <a:ea typeface="华文琥珀" panose="02010800040101010101" pitchFamily="2" charset="-122"/>
              </a:rPr>
              <a:t>代码结构图</a:t>
            </a:r>
          </a:p>
        </p:txBody>
      </p:sp>
      <p:sp>
        <p:nvSpPr>
          <p:cNvPr id="5" name="矩形 4">
            <a:extLst>
              <a:ext uri="{FF2B5EF4-FFF2-40B4-BE49-F238E27FC236}">
                <a16:creationId xmlns:a16="http://schemas.microsoft.com/office/drawing/2014/main" id="{B45AC476-0495-F26F-6DC4-1B71C43004C2}"/>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208077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E1B59-32FE-F437-BB5F-CA5B4E52895C}"/>
            </a:ext>
          </a:extLst>
        </p:cNvPr>
        <p:cNvGrpSpPr/>
        <p:nvPr/>
      </p:nvGrpSpPr>
      <p:grpSpPr>
        <a:xfrm>
          <a:off x="0" y="0"/>
          <a:ext cx="0" cy="0"/>
          <a:chOff x="0" y="0"/>
          <a:chExt cx="0" cy="0"/>
        </a:xfrm>
      </p:grpSpPr>
      <p:pic>
        <p:nvPicPr>
          <p:cNvPr id="4" name="图片 3">
            <a:extLst>
              <a:ext uri="{FF2B5EF4-FFF2-40B4-BE49-F238E27FC236}">
                <a16:creationId xmlns:a16="http://schemas.microsoft.com/office/drawing/2014/main" id="{90BAC086-D040-54D1-F3EC-DE42288BAB99}"/>
              </a:ext>
            </a:extLst>
          </p:cNvPr>
          <p:cNvPicPr>
            <a:picLocks noChangeAspect="1"/>
          </p:cNvPicPr>
          <p:nvPr/>
        </p:nvPicPr>
        <p:blipFill>
          <a:blip r:embed="rId2">
            <a:alphaModFix amt="82000"/>
          </a:blip>
          <a:stretch>
            <a:fillRect/>
          </a:stretch>
        </p:blipFill>
        <p:spPr>
          <a:xfrm>
            <a:off x="675157" y="0"/>
            <a:ext cx="2699639" cy="6858000"/>
          </a:xfrm>
          <a:prstGeom prst="rect">
            <a:avLst/>
          </a:prstGeom>
        </p:spPr>
      </p:pic>
      <p:sp>
        <p:nvSpPr>
          <p:cNvPr id="3" name="文本框 2">
            <a:extLst>
              <a:ext uri="{FF2B5EF4-FFF2-40B4-BE49-F238E27FC236}">
                <a16:creationId xmlns:a16="http://schemas.microsoft.com/office/drawing/2014/main" id="{7CB63C3A-89C0-B69D-18B1-2CC0AAF292F2}"/>
              </a:ext>
            </a:extLst>
          </p:cNvPr>
          <p:cNvSpPr txBox="1"/>
          <p:nvPr/>
        </p:nvSpPr>
        <p:spPr>
          <a:xfrm>
            <a:off x="6824547" y="2905780"/>
            <a:ext cx="5136994" cy="523220"/>
          </a:xfrm>
          <a:prstGeom prst="rect">
            <a:avLst/>
          </a:prstGeom>
          <a:noFill/>
        </p:spPr>
        <p:txBody>
          <a:bodyPr wrap="square" rtlCol="0">
            <a:spAutoFit/>
          </a:bodyPr>
          <a:lstStyle/>
          <a:p>
            <a:r>
              <a:rPr lang="zh-CN" altLang="en-US" sz="2800" dirty="0">
                <a:latin typeface="华文琥珀" panose="02010800040101010101" pitchFamily="2" charset="-122"/>
                <a:ea typeface="华文琥珀" panose="02010800040101010101" pitchFamily="2" charset="-122"/>
              </a:rPr>
              <a:t>代码结构图</a:t>
            </a:r>
          </a:p>
        </p:txBody>
      </p:sp>
      <p:sp>
        <p:nvSpPr>
          <p:cNvPr id="2" name="矩形 1">
            <a:extLst>
              <a:ext uri="{FF2B5EF4-FFF2-40B4-BE49-F238E27FC236}">
                <a16:creationId xmlns:a16="http://schemas.microsoft.com/office/drawing/2014/main" id="{D6BC7695-7337-B987-A533-B42964AA04FD}"/>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540243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D07EE-8D3E-9E8A-54CD-2A83AD822382}"/>
            </a:ext>
          </a:extLst>
        </p:cNvPr>
        <p:cNvGrpSpPr/>
        <p:nvPr/>
      </p:nvGrpSpPr>
      <p:grpSpPr>
        <a:xfrm>
          <a:off x="0" y="0"/>
          <a:ext cx="0" cy="0"/>
          <a:chOff x="0" y="0"/>
          <a:chExt cx="0" cy="0"/>
        </a:xfrm>
      </p:grpSpPr>
      <p:pic>
        <p:nvPicPr>
          <p:cNvPr id="6" name="图片 5" descr="图示, 工程绘图">
            <a:extLst>
              <a:ext uri="{FF2B5EF4-FFF2-40B4-BE49-F238E27FC236}">
                <a16:creationId xmlns:a16="http://schemas.microsoft.com/office/drawing/2014/main" id="{BC4FC763-A626-ADB2-BC92-2726870C861E}"/>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0" y="0"/>
            <a:ext cx="12192000" cy="12937826"/>
          </a:xfrm>
          <a:prstGeom prst="rect">
            <a:avLst/>
          </a:prstGeom>
        </p:spPr>
      </p:pic>
      <p:sp>
        <p:nvSpPr>
          <p:cNvPr id="2" name="文本框 1">
            <a:extLst>
              <a:ext uri="{FF2B5EF4-FFF2-40B4-BE49-F238E27FC236}">
                <a16:creationId xmlns:a16="http://schemas.microsoft.com/office/drawing/2014/main" id="{A237BB19-FC65-1B6A-468B-C01533F93D72}"/>
              </a:ext>
            </a:extLst>
          </p:cNvPr>
          <p:cNvSpPr txBox="1"/>
          <p:nvPr/>
        </p:nvSpPr>
        <p:spPr>
          <a:xfrm>
            <a:off x="962745" y="541324"/>
            <a:ext cx="800219" cy="5676596"/>
          </a:xfrm>
          <a:prstGeom prst="rect">
            <a:avLst/>
          </a:prstGeom>
          <a:noFill/>
        </p:spPr>
        <p:txBody>
          <a:bodyPr vert="eaVert" wrap="square" rtlCol="0">
            <a:spAutoFit/>
          </a:bodyPr>
          <a:lstStyle/>
          <a:p>
            <a:r>
              <a:rPr lang="zh-CN" altLang="en-US" sz="4000" dirty="0"/>
              <a:t>更改之后类图</a:t>
            </a:r>
          </a:p>
        </p:txBody>
      </p:sp>
    </p:spTree>
    <p:extLst>
      <p:ext uri="{BB962C8B-B14F-4D97-AF65-F5344CB8AC3E}">
        <p14:creationId xmlns:p14="http://schemas.microsoft.com/office/powerpoint/2010/main" val="41717630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C419A-2B51-6E76-EEC0-602D1E7BD419}"/>
            </a:ext>
          </a:extLst>
        </p:cNvPr>
        <p:cNvGrpSpPr/>
        <p:nvPr/>
      </p:nvGrpSpPr>
      <p:grpSpPr>
        <a:xfrm>
          <a:off x="0" y="0"/>
          <a:ext cx="0" cy="0"/>
          <a:chOff x="0" y="0"/>
          <a:chExt cx="0" cy="0"/>
        </a:xfrm>
      </p:grpSpPr>
      <p:pic>
        <p:nvPicPr>
          <p:cNvPr id="6" name="图片 5" descr="图示, 工程绘图">
            <a:extLst>
              <a:ext uri="{FF2B5EF4-FFF2-40B4-BE49-F238E27FC236}">
                <a16:creationId xmlns:a16="http://schemas.microsoft.com/office/drawing/2014/main" id="{B9657EE4-FC52-23A8-1296-94669E46AB21}"/>
              </a:ext>
            </a:extLst>
          </p:cNvPr>
          <p:cNvPicPr>
            <a:picLocks noChangeAspect="1"/>
          </p:cNvPicPr>
          <p:nvPr/>
        </p:nvPicPr>
        <p:blipFill>
          <a:blip r:embed="rId2">
            <a:alphaModFix/>
            <a:extLst>
              <a:ext uri="{28A0092B-C50C-407E-A947-70E740481C1C}">
                <a14:useLocalDpi xmlns:a14="http://schemas.microsoft.com/office/drawing/2010/main" val="0"/>
              </a:ext>
            </a:extLst>
          </a:blip>
          <a:stretch>
            <a:fillRect/>
          </a:stretch>
        </p:blipFill>
        <p:spPr>
          <a:xfrm>
            <a:off x="0" y="-6079826"/>
            <a:ext cx="12192000" cy="12937826"/>
          </a:xfrm>
          <a:prstGeom prst="rect">
            <a:avLst/>
          </a:prstGeom>
        </p:spPr>
      </p:pic>
      <p:sp>
        <p:nvSpPr>
          <p:cNvPr id="2" name="文本框 1">
            <a:extLst>
              <a:ext uri="{FF2B5EF4-FFF2-40B4-BE49-F238E27FC236}">
                <a16:creationId xmlns:a16="http://schemas.microsoft.com/office/drawing/2014/main" id="{331F882F-9CB6-8178-F827-56316C30CD95}"/>
              </a:ext>
            </a:extLst>
          </p:cNvPr>
          <p:cNvSpPr txBox="1"/>
          <p:nvPr/>
        </p:nvSpPr>
        <p:spPr>
          <a:xfrm>
            <a:off x="962745" y="541324"/>
            <a:ext cx="800219" cy="5676596"/>
          </a:xfrm>
          <a:prstGeom prst="rect">
            <a:avLst/>
          </a:prstGeom>
          <a:noFill/>
        </p:spPr>
        <p:txBody>
          <a:bodyPr vert="eaVert" wrap="square" rtlCol="0">
            <a:spAutoFit/>
          </a:bodyPr>
          <a:lstStyle/>
          <a:p>
            <a:r>
              <a:rPr lang="zh-CN" altLang="en-US" sz="4000" dirty="0"/>
              <a:t>更改之后类图</a:t>
            </a:r>
          </a:p>
        </p:txBody>
      </p:sp>
    </p:spTree>
    <p:extLst>
      <p:ext uri="{BB962C8B-B14F-4D97-AF65-F5344CB8AC3E}">
        <p14:creationId xmlns:p14="http://schemas.microsoft.com/office/powerpoint/2010/main" val="37965197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2000" fill="hold"/>
                                        <p:tgtEl>
                                          <p:spTgt spid="6"/>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3569817" y="438911"/>
            <a:ext cx="11119104" cy="2421331"/>
          </a:xfrm>
        </p:spPr>
        <p:txBody>
          <a:bodyPr/>
          <a:lstStyle/>
          <a:p>
            <a:pPr lvl="0"/>
            <a:r>
              <a:rPr lang="zh-CN" altLang="en-US" sz="13800" dirty="0"/>
              <a:t>其他的修改</a:t>
            </a:r>
            <a:endParaRPr lang="en-US" sz="13800"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277091" y="621792"/>
            <a:ext cx="10891982" cy="773332"/>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47500" lnSpcReduction="20000"/>
          </a:bodyPr>
          <a:lstStyle/>
          <a:p>
            <a:pPr marL="0" indent="0">
              <a:lnSpc>
                <a:spcPct val="120000"/>
              </a:lnSpc>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lnSpc>
                <a:spcPct val="120000"/>
              </a:lnSpc>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lnSpc>
                <a:spcPct val="120000"/>
              </a:lnSpc>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alphaModFix amt="82000"/>
          </a:blip>
          <a:stretch>
            <a:fillRect/>
          </a:stretch>
        </p:blipFill>
        <p:spPr>
          <a:xfrm>
            <a:off x="6575569" y="1672215"/>
            <a:ext cx="5229225" cy="4324350"/>
          </a:xfrm>
          <a:prstGeom prst="rect">
            <a:avLst/>
          </a:prstGeom>
        </p:spPr>
      </p:pic>
      <p:sp>
        <p:nvSpPr>
          <p:cNvPr id="5" name="矩形 4">
            <a:extLst>
              <a:ext uri="{FF2B5EF4-FFF2-40B4-BE49-F238E27FC236}">
                <a16:creationId xmlns:a16="http://schemas.microsoft.com/office/drawing/2014/main" id="{C7D1EFB0-1AED-45F4-AC5B-4F7BE5344BDB}"/>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355234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530076" y="2212800"/>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3">
            <a:alphaModFix amt="82000"/>
          </a:blip>
          <a:stretch>
            <a:fillRect/>
          </a:stretch>
        </p:blipFill>
        <p:spPr>
          <a:xfrm>
            <a:off x="5793453" y="1711813"/>
            <a:ext cx="5610527" cy="3447147"/>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413609" y="290871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sp>
        <p:nvSpPr>
          <p:cNvPr id="2" name="矩形 1">
            <a:extLst>
              <a:ext uri="{FF2B5EF4-FFF2-40B4-BE49-F238E27FC236}">
                <a16:creationId xmlns:a16="http://schemas.microsoft.com/office/drawing/2014/main" id="{D201947C-927A-E1AA-2E5E-BCFC2C29655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41592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B81A6-384E-7425-60B6-4893A5BD89C0}"/>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46287373-7992-462A-FDBE-34BA77673605}"/>
              </a:ext>
            </a:extLst>
          </p:cNvPr>
          <p:cNvPicPr>
            <a:picLocks noChangeAspect="1"/>
          </p:cNvPicPr>
          <p:nvPr/>
        </p:nvPicPr>
        <p:blipFill>
          <a:blip r:embed="rId2">
            <a:alphaModFix amt="82000"/>
          </a:blip>
          <a:stretch>
            <a:fillRect/>
          </a:stretch>
        </p:blipFill>
        <p:spPr>
          <a:xfrm>
            <a:off x="4936273" y="1098917"/>
            <a:ext cx="7227049" cy="4142156"/>
          </a:xfrm>
          <a:prstGeom prst="rect">
            <a:avLst/>
          </a:prstGeom>
        </p:spPr>
      </p:pic>
      <p:sp>
        <p:nvSpPr>
          <p:cNvPr id="11" name="文本框 10">
            <a:extLst>
              <a:ext uri="{FF2B5EF4-FFF2-40B4-BE49-F238E27FC236}">
                <a16:creationId xmlns:a16="http://schemas.microsoft.com/office/drawing/2014/main" id="{1061AA97-40E0-8405-771D-451AFEB38829}"/>
              </a:ext>
            </a:extLst>
          </p:cNvPr>
          <p:cNvSpPr txBox="1"/>
          <p:nvPr/>
        </p:nvSpPr>
        <p:spPr>
          <a:xfrm>
            <a:off x="142538" y="1211309"/>
            <a:ext cx="4793735" cy="3139321"/>
          </a:xfrm>
          <a:prstGeom prst="rect">
            <a:avLst/>
          </a:prstGeom>
          <a:noFill/>
        </p:spPr>
        <p:txBody>
          <a:bodyPr wrap="square" rtlCol="0">
            <a:spAutoFit/>
          </a:bodyPr>
          <a:lstStyle/>
          <a:p>
            <a:r>
              <a:rPr lang="zh-CN" altLang="en-US" i="0" dirty="0">
                <a:effectLst/>
                <a:latin typeface="Segoe WPC"/>
              </a:rPr>
              <a:t>    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a:t>
            </a:r>
            <a:endParaRPr lang="en-US" altLang="zh-CN" dirty="0"/>
          </a:p>
          <a:p>
            <a:r>
              <a:rPr lang="zh-CN" altLang="en-US" dirty="0"/>
              <a:t>变步骤”的具体实现：</a:t>
            </a:r>
          </a:p>
          <a:p>
            <a:r>
              <a:rPr lang="zh-CN" altLang="en-US" dirty="0"/>
              <a:t>    如何根据是否有雷来更新图片；</a:t>
            </a:r>
          </a:p>
          <a:p>
            <a:r>
              <a:rPr lang="zh-CN" altLang="en-US" dirty="0"/>
              <a:t>    如何调用 </a:t>
            </a:r>
            <a:r>
              <a:rPr lang="en-US" altLang="zh-CN" dirty="0" err="1"/>
              <a:t>CheckSquare</a:t>
            </a:r>
            <a:r>
              <a:rPr lang="en-US" altLang="zh-CN" dirty="0"/>
              <a:t> </a:t>
            </a:r>
            <a:r>
              <a:rPr lang="zh-CN" altLang="en-US" dirty="0"/>
              <a:t>统计周围地雷；</a:t>
            </a:r>
          </a:p>
          <a:p>
            <a:r>
              <a:rPr lang="zh-CN" altLang="en-US" dirty="0"/>
              <a:t>    如何判断胜负并弹出不同的窗口；</a:t>
            </a:r>
          </a:p>
          <a:p>
            <a:r>
              <a:rPr lang="zh-CN" altLang="en-US" dirty="0"/>
              <a:t>    怎样使用 </a:t>
            </a:r>
            <a:r>
              <a:rPr lang="en-US" altLang="zh-CN" dirty="0" err="1"/>
              <a:t>TimeChecker</a:t>
            </a:r>
            <a:r>
              <a:rPr lang="en-US" altLang="zh-CN" dirty="0"/>
              <a:t> </a:t>
            </a:r>
            <a:r>
              <a:rPr lang="zh-CN" altLang="en-US" dirty="0"/>
              <a:t>显示用时。</a:t>
            </a:r>
          </a:p>
          <a:p>
            <a:r>
              <a:rPr lang="zh-CN" altLang="en-US" dirty="0"/>
              <a:t>    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a:t>
            </a:r>
            <a:endParaRPr lang="en-US" altLang="zh-CN" dirty="0"/>
          </a:p>
          <a:p>
            <a:r>
              <a:rPr lang="en-US" altLang="zh-CN" dirty="0" err="1"/>
              <a:t>SmartSquare.clicked</a:t>
            </a:r>
            <a:r>
              <a:rPr lang="en-US" altLang="zh-CN" dirty="0"/>
              <a:t>() </a:t>
            </a:r>
            <a:r>
              <a:rPr lang="zh-CN" altLang="en-US" dirty="0"/>
              <a:t>决定。</a:t>
            </a:r>
          </a:p>
        </p:txBody>
      </p:sp>
      <p:sp>
        <p:nvSpPr>
          <p:cNvPr id="2" name="矩形 1">
            <a:extLst>
              <a:ext uri="{FF2B5EF4-FFF2-40B4-BE49-F238E27FC236}">
                <a16:creationId xmlns:a16="http://schemas.microsoft.com/office/drawing/2014/main" id="{23938C1D-F428-6F41-B7E6-63EA31BDA32A}"/>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233521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147333" y="511977"/>
            <a:ext cx="7631545" cy="5674209"/>
          </a:xfrm>
        </p:spPr>
        <p:txBody>
          <a:bodyPr>
            <a:noAutofit/>
          </a:bodyPr>
          <a:lstStyle/>
          <a:p>
            <a:pPr marL="0" indent="0">
              <a:buNone/>
            </a:pPr>
            <a:r>
              <a:rPr lang="zh-CN" altLang="en-US" b="1" dirty="0">
                <a:latin typeface="华文楷体" panose="02010600040101010101" pitchFamily="2" charset="-122"/>
                <a:ea typeface="华文楷体" panose="02010600040101010101" pitchFamily="2" charset="-122"/>
                <a:cs typeface="+mj-cs"/>
              </a:rPr>
              <a:t>观察者模式 </a:t>
            </a:r>
            <a:endParaRPr lang="en-US" altLang="zh-CN" b="1" dirty="0">
              <a:latin typeface="华文楷体" panose="02010600040101010101" pitchFamily="2" charset="-122"/>
              <a:ea typeface="华文楷体" panose="02010600040101010101" pitchFamily="2" charset="-122"/>
              <a:cs typeface="+mj-cs"/>
            </a:endParaRPr>
          </a:p>
          <a:p>
            <a:pPr marL="0" indent="0">
              <a:buNone/>
            </a:pPr>
            <a:r>
              <a:rPr lang="zh-CN" altLang="en-US" sz="1600" b="1" dirty="0">
                <a:latin typeface="华文楷体" panose="02010600040101010101" pitchFamily="2" charset="-122"/>
                <a:ea typeface="华文楷体" panose="02010600040101010101" pitchFamily="2" charset="-122"/>
              </a:rPr>
              <a:t>说明</a:t>
            </a:r>
            <a:r>
              <a:rPr lang="en-US" altLang="zh-CN" sz="1600" b="1" dirty="0">
                <a:latin typeface="华文楷体" panose="02010600040101010101" pitchFamily="2" charset="-122"/>
                <a:ea typeface="华文楷体" panose="02010600040101010101" pitchFamily="2" charset="-122"/>
              </a:rPr>
              <a:t>: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（观察者）向事件源（如按钮本身）注册自己。当鼠标点击事件发生时，事件源会通知所有注册的观察者，并调用它们的回调方法（如 </a:t>
            </a:r>
            <a:r>
              <a:rPr lang="en-US" altLang="zh-CN" sz="1600" dirty="0" err="1">
                <a:latin typeface="华文楷体" panose="02010600040101010101" pitchFamily="2" charset="-122"/>
                <a:ea typeface="华文楷体" panose="02010600040101010101" pitchFamily="2" charset="-122"/>
              </a:rPr>
              <a:t>mouseClicked</a:t>
            </a:r>
            <a:r>
              <a:rPr lang="en-US" altLang="zh-CN" sz="1600" dirty="0">
                <a:latin typeface="华文楷体" panose="02010600040101010101" pitchFamily="2" charset="-122"/>
                <a:ea typeface="华文楷体" panose="02010600040101010101" pitchFamily="2" charset="-122"/>
              </a:rPr>
              <a:t>()</a:t>
            </a:r>
            <a:r>
              <a:rPr lang="zh-CN" altLang="en-US" sz="1600" dirty="0">
                <a:latin typeface="华文楷体" panose="02010600040101010101" pitchFamily="2" charset="-122"/>
                <a:ea typeface="华文楷体" panose="02010600040101010101" pitchFamily="2" charset="-122"/>
              </a:rPr>
              <a:t>）。这实现了事件源和事件处理者之间的解耦。</a:t>
            </a:r>
            <a:endParaRPr lang="en-US" altLang="zh-CN" sz="1600" dirty="0">
              <a:latin typeface="华文楷体" panose="02010600040101010101" pitchFamily="2" charset="-122"/>
              <a:ea typeface="华文楷体" panose="02010600040101010101" pitchFamily="2" charset="-122"/>
            </a:endParaRPr>
          </a:p>
          <a:p>
            <a:pPr marL="0" indent="0">
              <a:buNone/>
            </a:pPr>
            <a:r>
              <a:rPr lang="zh-CN" altLang="en-US" sz="1600" b="1" dirty="0">
                <a:latin typeface="华文楷体" panose="02010600040101010101" pitchFamily="2" charset="-122"/>
                <a:ea typeface="华文楷体" panose="02010600040101010101" pitchFamily="2" charset="-122"/>
              </a:rPr>
              <a:t>优点：</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 1. </a:t>
            </a:r>
            <a:r>
              <a:rPr lang="zh-CN" altLang="en-US" sz="1600" b="1" dirty="0">
                <a:latin typeface="华文楷体" panose="02010600040101010101" pitchFamily="2" charset="-122"/>
                <a:ea typeface="华文楷体" panose="02010600040101010101" pitchFamily="2" charset="-122"/>
              </a:rPr>
              <a:t>主题与观察者的解耦 </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dirty="0" err="1">
                <a:latin typeface="华文楷体" panose="02010600040101010101" pitchFamily="2" charset="-122"/>
                <a:ea typeface="华文楷体" panose="02010600040101010101" pitchFamily="2" charset="-122"/>
              </a:rPr>
              <a:t>JButton</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和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之间没有编译时的硬编码依赖。它们通过一个抽象的接口 </a:t>
            </a:r>
            <a:r>
              <a:rPr lang="en-US" altLang="zh-CN" sz="1600" dirty="0">
                <a:latin typeface="华文楷体" panose="02010600040101010101" pitchFamily="2" charset="-122"/>
                <a:ea typeface="华文楷体" panose="02010600040101010101" pitchFamily="2" charset="-122"/>
              </a:rPr>
              <a:t>(</a:t>
            </a:r>
            <a:r>
              <a:rPr lang="en-US" altLang="zh-CN" sz="1600" dirty="0" err="1">
                <a:latin typeface="华文楷体" panose="02010600040101010101" pitchFamily="2" charset="-122"/>
                <a:ea typeface="华文楷体" panose="02010600040101010101" pitchFamily="2" charset="-122"/>
              </a:rPr>
              <a:t>MouseListener</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进行通信。相较于原有代码，</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与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是紧密耦合的。</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的 </a:t>
            </a:r>
            <a:r>
              <a:rPr lang="en-US" altLang="zh-CN" sz="1600" dirty="0" err="1">
                <a:latin typeface="华文楷体" panose="02010600040101010101" pitchFamily="2" charset="-122"/>
                <a:ea typeface="华文楷体" panose="02010600040101010101" pitchFamily="2" charset="-122"/>
              </a:rPr>
              <a:t>handleSquareClick</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方法必须明确知道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的内部状态才能工作。如果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的实现改变，</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也必须随之修改。而观察者模式中，</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的内部逻辑无论多复杂，</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的通知机制都无需改变。</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2. </a:t>
            </a:r>
            <a:r>
              <a:rPr lang="zh-CN" altLang="en-US" sz="1600" b="1" dirty="0">
                <a:latin typeface="华文楷体" panose="02010600040101010101" pitchFamily="2" charset="-122"/>
                <a:ea typeface="华文楷体" panose="02010600040101010101" pitchFamily="2" charset="-122"/>
              </a:rPr>
              <a:t>支持广播通信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可以在运行时动态地为一个主题添加或移除观察者，相较于原有代码中的</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是一种一对一的命令式调用，缺乏灵活性。而在观察者模式下，我们可以轻易地扩展功能。</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3. </a:t>
            </a:r>
            <a:r>
              <a:rPr lang="zh-CN" altLang="en-US" sz="1600" b="1" dirty="0">
                <a:latin typeface="华文楷体" panose="02010600040101010101" pitchFamily="2" charset="-122"/>
                <a:ea typeface="华文楷体" panose="02010600040101010101" pitchFamily="2" charset="-122"/>
              </a:rPr>
              <a:t>抽象了通知机制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事件触发和处理的逻辑被清晰地分开了。</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只需在构造时说一句“我要订阅点击事件” ，之后就只需在</a:t>
            </a:r>
            <a:r>
              <a:rPr lang="en-US" altLang="zh-CN" sz="1600" dirty="0" err="1">
                <a:latin typeface="华文楷体" panose="02010600040101010101" pitchFamily="2" charset="-122"/>
                <a:ea typeface="华文楷体" panose="02010600040101010101" pitchFamily="2" charset="-122"/>
              </a:rPr>
              <a:t>mouseClicked</a:t>
            </a:r>
            <a:r>
              <a:rPr lang="zh-CN" altLang="en-US" sz="1600" dirty="0">
                <a:latin typeface="华文楷体" panose="02010600040101010101" pitchFamily="2" charset="-122"/>
                <a:ea typeface="华文楷体" panose="02010600040101010101" pitchFamily="2" charset="-122"/>
              </a:rPr>
              <a:t>方法里等待通知即可，它不需要关心事件是如何被底层的</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捕获和分发的。相较于初始版本中没有抽象的通知机制，</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必须手动为每个按钮设置监听器。这种集中式的处理方式使得当逻辑变得复杂时，</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方法会迅速膨胀，变得难以维护。观察者模式则将这种复杂的集中式逻辑分散到了各个独立的观察者内部，使得每个部分都更简单。</a:t>
            </a:r>
          </a:p>
        </p:txBody>
      </p:sp>
      <p:sp>
        <p:nvSpPr>
          <p:cNvPr id="2" name="矩形 1">
            <a:extLst>
              <a:ext uri="{FF2B5EF4-FFF2-40B4-BE49-F238E27FC236}">
                <a16:creationId xmlns:a16="http://schemas.microsoft.com/office/drawing/2014/main" id="{EBECBD30-CB01-4E45-4C8C-687C904377B1}"/>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7865327" y="693696"/>
            <a:ext cx="4326673" cy="8267175"/>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2EC98-66B2-B35F-CF95-F95985C65C58}"/>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CBAB5553-802B-3BFB-F134-D1F7EEB9E6E2}"/>
              </a:ext>
            </a:extLst>
          </p:cNvPr>
          <p:cNvSpPr>
            <a:spLocks noGrp="1"/>
          </p:cNvSpPr>
          <p:nvPr>
            <p:ph idx="1"/>
          </p:nvPr>
        </p:nvSpPr>
        <p:spPr>
          <a:xfrm>
            <a:off x="147333" y="511977"/>
            <a:ext cx="7631545" cy="5674209"/>
          </a:xfrm>
        </p:spPr>
        <p:txBody>
          <a:bodyPr>
            <a:noAutofit/>
          </a:bodyPr>
          <a:lstStyle/>
          <a:p>
            <a:pPr marL="0" indent="0">
              <a:buNone/>
              <a:defRPr/>
            </a:pPr>
            <a:r>
              <a:rPr lang="zh-CN" altLang="en-US" b="1" dirty="0">
                <a:latin typeface="华文楷体" panose="02010600040101010101" pitchFamily="2" charset="-122"/>
                <a:ea typeface="华文楷体" panose="02010600040101010101" pitchFamily="2" charset="-122"/>
                <a:cs typeface="+mj-cs"/>
              </a:rPr>
              <a:t>观察者模式 </a:t>
            </a:r>
            <a:endParaRPr lang="en-US" altLang="zh-CN" b="1" dirty="0">
              <a:latin typeface="华文楷体" panose="02010600040101010101" pitchFamily="2" charset="-122"/>
              <a:ea typeface="华文楷体" panose="02010600040101010101" pitchFamily="2" charset="-122"/>
              <a:cs typeface="+mj-cs"/>
            </a:endParaRPr>
          </a:p>
          <a:p>
            <a:pPr marL="0" indent="0">
              <a:buNone/>
            </a:pPr>
            <a:r>
              <a:rPr lang="zh-CN" altLang="en-US" sz="1600" b="1" dirty="0">
                <a:latin typeface="华文楷体" panose="02010600040101010101" pitchFamily="2" charset="-122"/>
                <a:ea typeface="华文楷体" panose="02010600040101010101" pitchFamily="2" charset="-122"/>
              </a:rPr>
              <a:t>说明</a:t>
            </a:r>
            <a:r>
              <a:rPr lang="en-US" altLang="zh-CN" sz="1600" b="1" dirty="0">
                <a:latin typeface="华文楷体" panose="02010600040101010101" pitchFamily="2" charset="-122"/>
                <a:ea typeface="华文楷体" panose="02010600040101010101" pitchFamily="2" charset="-122"/>
              </a:rPr>
              <a:t>: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（观察者）向事件源（如按钮本身）注册自己。当鼠标点击事件发生时，事件源会通知所有注册的观察者，并调用它们的回调方法（如 </a:t>
            </a:r>
            <a:r>
              <a:rPr lang="en-US" altLang="zh-CN" sz="1600" dirty="0" err="1">
                <a:latin typeface="华文楷体" panose="02010600040101010101" pitchFamily="2" charset="-122"/>
                <a:ea typeface="华文楷体" panose="02010600040101010101" pitchFamily="2" charset="-122"/>
              </a:rPr>
              <a:t>mouseClicked</a:t>
            </a:r>
            <a:r>
              <a:rPr lang="en-US" altLang="zh-CN" sz="1600" dirty="0">
                <a:latin typeface="华文楷体" panose="02010600040101010101" pitchFamily="2" charset="-122"/>
                <a:ea typeface="华文楷体" panose="02010600040101010101" pitchFamily="2" charset="-122"/>
              </a:rPr>
              <a:t>()</a:t>
            </a:r>
            <a:r>
              <a:rPr lang="zh-CN" altLang="en-US" sz="1600" dirty="0">
                <a:latin typeface="华文楷体" panose="02010600040101010101" pitchFamily="2" charset="-122"/>
                <a:ea typeface="华文楷体" panose="02010600040101010101" pitchFamily="2" charset="-122"/>
              </a:rPr>
              <a:t>）。这实现了事件源和事件处理者之间的解耦。</a:t>
            </a:r>
            <a:endParaRPr lang="en-US" altLang="zh-CN" sz="1600" dirty="0">
              <a:latin typeface="华文楷体" panose="02010600040101010101" pitchFamily="2" charset="-122"/>
              <a:ea typeface="华文楷体" panose="02010600040101010101" pitchFamily="2" charset="-122"/>
            </a:endParaRPr>
          </a:p>
          <a:p>
            <a:pPr marL="0" indent="0">
              <a:buNone/>
            </a:pPr>
            <a:r>
              <a:rPr lang="zh-CN" altLang="en-US" sz="1600" b="1" dirty="0">
                <a:latin typeface="华文楷体" panose="02010600040101010101" pitchFamily="2" charset="-122"/>
                <a:ea typeface="华文楷体" panose="02010600040101010101" pitchFamily="2" charset="-122"/>
              </a:rPr>
              <a:t>优点：</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 1. </a:t>
            </a:r>
            <a:r>
              <a:rPr lang="zh-CN" altLang="en-US" sz="1600" b="1" dirty="0">
                <a:latin typeface="华文楷体" panose="02010600040101010101" pitchFamily="2" charset="-122"/>
                <a:ea typeface="华文楷体" panose="02010600040101010101" pitchFamily="2" charset="-122"/>
              </a:rPr>
              <a:t>主题与观察者的解耦 </a:t>
            </a:r>
            <a:endParaRPr lang="en-US" altLang="zh-CN" sz="1600" b="1" dirty="0">
              <a:latin typeface="华文楷体" panose="02010600040101010101" pitchFamily="2" charset="-122"/>
              <a:ea typeface="华文楷体" panose="02010600040101010101" pitchFamily="2" charset="-122"/>
            </a:endParaRPr>
          </a:p>
          <a:p>
            <a:pPr marL="0" indent="0">
              <a:buNone/>
            </a:pPr>
            <a:r>
              <a:rPr lang="en-US" altLang="zh-CN" sz="1600" dirty="0" err="1">
                <a:latin typeface="华文楷体" panose="02010600040101010101" pitchFamily="2" charset="-122"/>
                <a:ea typeface="华文楷体" panose="02010600040101010101" pitchFamily="2" charset="-122"/>
              </a:rPr>
              <a:t>JButton</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和 </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之间没有编译时的硬编码依赖。它们通过一个抽象的接口 </a:t>
            </a:r>
            <a:r>
              <a:rPr lang="en-US" altLang="zh-CN" sz="1600" dirty="0">
                <a:latin typeface="华文楷体" panose="02010600040101010101" pitchFamily="2" charset="-122"/>
                <a:ea typeface="华文楷体" panose="02010600040101010101" pitchFamily="2" charset="-122"/>
              </a:rPr>
              <a:t>(</a:t>
            </a:r>
            <a:r>
              <a:rPr lang="en-US" altLang="zh-CN" sz="1600" dirty="0" err="1">
                <a:latin typeface="华文楷体" panose="02010600040101010101" pitchFamily="2" charset="-122"/>
                <a:ea typeface="华文楷体" panose="02010600040101010101" pitchFamily="2" charset="-122"/>
              </a:rPr>
              <a:t>MouseListener</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进行通信。相较于原有代码，</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与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是紧密耦合的。</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的 </a:t>
            </a:r>
            <a:r>
              <a:rPr lang="en-US" altLang="zh-CN" sz="1600" dirty="0" err="1">
                <a:latin typeface="华文楷体" panose="02010600040101010101" pitchFamily="2" charset="-122"/>
                <a:ea typeface="华文楷体" panose="02010600040101010101" pitchFamily="2" charset="-122"/>
              </a:rPr>
              <a:t>handleSquareClick</a:t>
            </a:r>
            <a:r>
              <a:rPr lang="en-US" altLang="zh-CN" sz="1600" dirty="0">
                <a:latin typeface="华文楷体" panose="02010600040101010101" pitchFamily="2" charset="-122"/>
                <a:ea typeface="华文楷体" panose="02010600040101010101" pitchFamily="2" charset="-122"/>
              </a:rPr>
              <a:t> </a:t>
            </a:r>
            <a:r>
              <a:rPr lang="zh-CN" altLang="en-US" sz="1600" dirty="0">
                <a:latin typeface="华文楷体" panose="02010600040101010101" pitchFamily="2" charset="-122"/>
                <a:ea typeface="华文楷体" panose="02010600040101010101" pitchFamily="2" charset="-122"/>
              </a:rPr>
              <a:t>方法必须明确知道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的内部状态才能工作。如果 </a:t>
            </a:r>
            <a:r>
              <a:rPr lang="en-US" altLang="zh-CN" sz="1600" dirty="0" err="1">
                <a:latin typeface="华文楷体" panose="02010600040101010101" pitchFamily="2" charset="-122"/>
                <a:ea typeface="华文楷体" panose="02010600040101010101" pitchFamily="2" charset="-122"/>
              </a:rPr>
              <a:t>GameSquare</a:t>
            </a:r>
            <a:r>
              <a:rPr lang="zh-CN" altLang="en-US" sz="1600" dirty="0">
                <a:latin typeface="华文楷体" panose="02010600040101010101" pitchFamily="2" charset="-122"/>
                <a:ea typeface="华文楷体" panose="02010600040101010101" pitchFamily="2" charset="-122"/>
              </a:rPr>
              <a:t>的实现改变，</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也必须随之修改。而观察者模式中，</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的内部逻辑无论多复杂，</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的通知机制都无需改变。</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2. </a:t>
            </a:r>
            <a:r>
              <a:rPr lang="zh-CN" altLang="en-US" sz="1600" b="1" dirty="0">
                <a:latin typeface="华文楷体" panose="02010600040101010101" pitchFamily="2" charset="-122"/>
                <a:ea typeface="华文楷体" panose="02010600040101010101" pitchFamily="2" charset="-122"/>
              </a:rPr>
              <a:t>支持广播通信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可以在运行时动态地为一个主题添加或移除观察者，相较于原有代码中的</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是一种一对一的命令式调用，缺乏灵活性。而在观察者模式下，我们可以轻易地扩展功能。</a:t>
            </a:r>
            <a:endParaRPr lang="en-US" altLang="zh-CN" sz="1600" dirty="0">
              <a:latin typeface="华文楷体" panose="02010600040101010101" pitchFamily="2" charset="-122"/>
              <a:ea typeface="华文楷体" panose="02010600040101010101" pitchFamily="2" charset="-122"/>
            </a:endParaRPr>
          </a:p>
          <a:p>
            <a:pPr marL="0" indent="0">
              <a:buNone/>
            </a:pPr>
            <a:r>
              <a:rPr lang="en-US" altLang="zh-CN" sz="1600" b="1" dirty="0">
                <a:latin typeface="华文楷体" panose="02010600040101010101" pitchFamily="2" charset="-122"/>
                <a:ea typeface="华文楷体" panose="02010600040101010101" pitchFamily="2" charset="-122"/>
              </a:rPr>
              <a:t>3. </a:t>
            </a:r>
            <a:r>
              <a:rPr lang="zh-CN" altLang="en-US" sz="1600" b="1" dirty="0">
                <a:latin typeface="华文楷体" panose="02010600040101010101" pitchFamily="2" charset="-122"/>
                <a:ea typeface="华文楷体" panose="02010600040101010101" pitchFamily="2" charset="-122"/>
              </a:rPr>
              <a:t>抽象了通知机制 </a:t>
            </a:r>
            <a:endParaRPr lang="en-US" altLang="zh-CN" sz="1600" b="1" dirty="0">
              <a:latin typeface="华文楷体" panose="02010600040101010101" pitchFamily="2" charset="-122"/>
              <a:ea typeface="华文楷体" panose="02010600040101010101" pitchFamily="2" charset="-122"/>
            </a:endParaRPr>
          </a:p>
          <a:p>
            <a:pPr marL="0" indent="0">
              <a:buNone/>
            </a:pPr>
            <a:r>
              <a:rPr lang="zh-CN" altLang="en-US" sz="1600" dirty="0">
                <a:latin typeface="华文楷体" panose="02010600040101010101" pitchFamily="2" charset="-122"/>
                <a:ea typeface="华文楷体" panose="02010600040101010101" pitchFamily="2" charset="-122"/>
              </a:rPr>
              <a:t>事件触发和处理的逻辑被清晰地分开了。</a:t>
            </a:r>
            <a:r>
              <a:rPr lang="en-US" altLang="zh-CN" sz="1600" dirty="0" err="1">
                <a:latin typeface="华文楷体" panose="02010600040101010101" pitchFamily="2" charset="-122"/>
                <a:ea typeface="华文楷体" panose="02010600040101010101" pitchFamily="2" charset="-122"/>
              </a:rPr>
              <a:t>SmartSquare</a:t>
            </a:r>
            <a:r>
              <a:rPr lang="zh-CN" altLang="en-US" sz="1600" dirty="0">
                <a:latin typeface="华文楷体" panose="02010600040101010101" pitchFamily="2" charset="-122"/>
                <a:ea typeface="华文楷体" panose="02010600040101010101" pitchFamily="2" charset="-122"/>
              </a:rPr>
              <a:t>只需在构造时说一句“我要订阅点击事件” ，之后就只需在</a:t>
            </a:r>
            <a:r>
              <a:rPr lang="en-US" altLang="zh-CN" sz="1600" dirty="0" err="1">
                <a:latin typeface="华文楷体" panose="02010600040101010101" pitchFamily="2" charset="-122"/>
                <a:ea typeface="华文楷体" panose="02010600040101010101" pitchFamily="2" charset="-122"/>
              </a:rPr>
              <a:t>mouseClicked</a:t>
            </a:r>
            <a:r>
              <a:rPr lang="zh-CN" altLang="en-US" sz="1600" dirty="0">
                <a:latin typeface="华文楷体" panose="02010600040101010101" pitchFamily="2" charset="-122"/>
                <a:ea typeface="华文楷体" panose="02010600040101010101" pitchFamily="2" charset="-122"/>
              </a:rPr>
              <a:t>方法里等待通知即可，它不需要关心事件是如何被底层的</a:t>
            </a:r>
            <a:r>
              <a:rPr lang="en-US" altLang="zh-CN" sz="1600" dirty="0" err="1">
                <a:latin typeface="华文楷体" panose="02010600040101010101" pitchFamily="2" charset="-122"/>
                <a:ea typeface="华文楷体" panose="02010600040101010101" pitchFamily="2" charset="-122"/>
              </a:rPr>
              <a:t>JButton</a:t>
            </a:r>
            <a:r>
              <a:rPr lang="zh-CN" altLang="en-US" sz="1600" dirty="0">
                <a:latin typeface="华文楷体" panose="02010600040101010101" pitchFamily="2" charset="-122"/>
                <a:ea typeface="华文楷体" panose="02010600040101010101" pitchFamily="2" charset="-122"/>
              </a:rPr>
              <a:t>捕获和分发的。相较于初始版本中没有抽象的通知机制，</a:t>
            </a:r>
            <a:r>
              <a:rPr lang="en-US" altLang="zh-CN" sz="1600" dirty="0" err="1">
                <a:latin typeface="华文楷体" panose="02010600040101010101" pitchFamily="2" charset="-122"/>
                <a:ea typeface="华文楷体" panose="02010600040101010101" pitchFamily="2" charset="-122"/>
              </a:rPr>
              <a:t>GameBoard</a:t>
            </a:r>
            <a:r>
              <a:rPr lang="zh-CN" altLang="en-US" sz="1600" dirty="0">
                <a:latin typeface="华文楷体" panose="02010600040101010101" pitchFamily="2" charset="-122"/>
                <a:ea typeface="华文楷体" panose="02010600040101010101" pitchFamily="2" charset="-122"/>
              </a:rPr>
              <a:t>必须手动为每个按钮设置监听器。这种集中式的处理方式使得当逻辑变得复杂时，</a:t>
            </a:r>
            <a:r>
              <a:rPr lang="en-US" altLang="zh-CN" sz="1600" dirty="0" err="1">
                <a:latin typeface="华文楷体" panose="02010600040101010101" pitchFamily="2" charset="-122"/>
                <a:ea typeface="华文楷体" panose="02010600040101010101" pitchFamily="2" charset="-122"/>
              </a:rPr>
              <a:t>handleSquareClick</a:t>
            </a:r>
            <a:r>
              <a:rPr lang="zh-CN" altLang="en-US" sz="1600" dirty="0">
                <a:latin typeface="华文楷体" panose="02010600040101010101" pitchFamily="2" charset="-122"/>
                <a:ea typeface="华文楷体" panose="02010600040101010101" pitchFamily="2" charset="-122"/>
              </a:rPr>
              <a:t>方法会迅速膨胀，变得难以维护。观察者模式则将这种复杂的集中式逻辑分散到了各个独立的观察者内部，使得每个部分都更简单。</a:t>
            </a:r>
          </a:p>
        </p:txBody>
      </p:sp>
      <p:sp>
        <p:nvSpPr>
          <p:cNvPr id="2" name="矩形 1">
            <a:extLst>
              <a:ext uri="{FF2B5EF4-FFF2-40B4-BE49-F238E27FC236}">
                <a16:creationId xmlns:a16="http://schemas.microsoft.com/office/drawing/2014/main" id="{2D6720D3-6040-76EE-78E5-375EA6919CD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4" name="图片 3">
            <a:extLst>
              <a:ext uri="{FF2B5EF4-FFF2-40B4-BE49-F238E27FC236}">
                <a16:creationId xmlns:a16="http://schemas.microsoft.com/office/drawing/2014/main" id="{519B2950-57AB-F54C-6478-F6FDE333763D}"/>
              </a:ext>
            </a:extLst>
          </p:cNvPr>
          <p:cNvPicPr>
            <a:picLocks noChangeAspect="1"/>
          </p:cNvPicPr>
          <p:nvPr/>
        </p:nvPicPr>
        <p:blipFill>
          <a:blip r:embed="rId2"/>
          <a:stretch>
            <a:fillRect/>
          </a:stretch>
        </p:blipFill>
        <p:spPr>
          <a:xfrm>
            <a:off x="7865327" y="-1409175"/>
            <a:ext cx="4326673" cy="8267175"/>
          </a:xfrm>
          <a:prstGeom prst="rect">
            <a:avLst/>
          </a:prstGeom>
        </p:spPr>
      </p:pic>
    </p:spTree>
    <p:extLst>
      <p:ext uri="{BB962C8B-B14F-4D97-AF65-F5344CB8AC3E}">
        <p14:creationId xmlns:p14="http://schemas.microsoft.com/office/powerpoint/2010/main" val="6661944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439327" y="1509717"/>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3">
            <a:alphaModFix amt="82000"/>
          </a:blip>
          <a:stretch>
            <a:fillRect/>
          </a:stretch>
        </p:blipFill>
        <p:spPr>
          <a:xfrm>
            <a:off x="6206230" y="935193"/>
            <a:ext cx="5377273" cy="5569007"/>
          </a:xfrm>
          <a:prstGeom prst="rect">
            <a:avLst/>
          </a:prstGeom>
        </p:spPr>
      </p:pic>
      <p:sp>
        <p:nvSpPr>
          <p:cNvPr id="2" name="矩形 1">
            <a:extLst>
              <a:ext uri="{FF2B5EF4-FFF2-40B4-BE49-F238E27FC236}">
                <a16:creationId xmlns:a16="http://schemas.microsoft.com/office/drawing/2014/main" id="{32CC9E50-8654-BC5C-9E07-4D72516DB9B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42CC36CD-9698-8C8D-622C-BB56F445FFB7}"/>
              </a:ext>
            </a:extLst>
          </p:cNvPr>
          <p:cNvSpPr txBox="1"/>
          <p:nvPr/>
        </p:nvSpPr>
        <p:spPr>
          <a:xfrm>
            <a:off x="386576" y="713588"/>
            <a:ext cx="5159297" cy="757130"/>
          </a:xfrm>
          <a:prstGeom prst="rect">
            <a:avLst/>
          </a:prstGeom>
          <a:noFill/>
        </p:spPr>
        <p:txBody>
          <a:bodyPr wrap="square" rtlCol="0">
            <a:spAutoFit/>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2800" b="1" dirty="0">
                <a:latin typeface="华文楷体" panose="02010600040101010101" pitchFamily="2" charset="-122"/>
                <a:ea typeface="华文楷体" panose="02010600040101010101" pitchFamily="2" charset="-122"/>
                <a:cs typeface="+mj-cs"/>
              </a:rPr>
              <a:t>观察者模式 </a:t>
            </a:r>
            <a:endParaRPr lang="en-US" altLang="zh-CN" sz="2800" b="1" dirty="0">
              <a:latin typeface="华文楷体" panose="02010600040101010101" pitchFamily="2" charset="-122"/>
              <a:ea typeface="华文楷体" panose="02010600040101010101" pitchFamily="2" charset="-122"/>
              <a:cs typeface="+mj-cs"/>
            </a:endParaRPr>
          </a:p>
          <a:p>
            <a:endParaRPr lang="zh-CN" altLang="en-US" dirty="0"/>
          </a:p>
        </p:txBody>
      </p:sp>
    </p:spTree>
    <p:extLst>
      <p:ext uri="{BB962C8B-B14F-4D97-AF65-F5344CB8AC3E}">
        <p14:creationId xmlns:p14="http://schemas.microsoft.com/office/powerpoint/2010/main" val="28626297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177763" y="125486"/>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243608" y="93875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243608" y="1585083"/>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3"/>
          <a:stretch>
            <a:fillRect/>
          </a:stretch>
        </p:blipFill>
        <p:spPr>
          <a:xfrm>
            <a:off x="146933" y="5029200"/>
            <a:ext cx="12045067" cy="1828800"/>
          </a:xfrm>
          <a:prstGeom prst="rect">
            <a:avLst/>
          </a:prstGeom>
        </p:spPr>
      </p:pic>
      <p:sp>
        <p:nvSpPr>
          <p:cNvPr id="3" name="矩形 2">
            <a:extLst>
              <a:ext uri="{FF2B5EF4-FFF2-40B4-BE49-F238E27FC236}">
                <a16:creationId xmlns:a16="http://schemas.microsoft.com/office/drawing/2014/main" id="{F8748050-FF69-7FA6-FD8B-2057F2F7154A}"/>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6124652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261503" y="1209436"/>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3">
            <a:alphaModFix amt="82000"/>
          </a:blip>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730047" y="5368385"/>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4">
            <a:alphaModFix amt="82000"/>
          </a:blip>
          <a:stretch>
            <a:fillRect/>
          </a:stretch>
        </p:blipFill>
        <p:spPr>
          <a:xfrm>
            <a:off x="5057622" y="5985144"/>
            <a:ext cx="6858957" cy="676369"/>
          </a:xfrm>
          <a:prstGeom prst="rect">
            <a:avLst/>
          </a:prstGeom>
        </p:spPr>
      </p:pic>
      <p:sp>
        <p:nvSpPr>
          <p:cNvPr id="2" name="矩形 1">
            <a:extLst>
              <a:ext uri="{FF2B5EF4-FFF2-40B4-BE49-F238E27FC236}">
                <a16:creationId xmlns:a16="http://schemas.microsoft.com/office/drawing/2014/main" id="{AFF45B0A-1BB1-215F-DB51-F20E5FB9F897}"/>
              </a:ext>
            </a:extLst>
          </p:cNvPr>
          <p:cNvSpPr/>
          <p:nvPr/>
        </p:nvSpPr>
        <p:spPr>
          <a:xfrm>
            <a:off x="8894867" y="159511"/>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1">
            <a:extLst>
              <a:ext uri="{FF2B5EF4-FFF2-40B4-BE49-F238E27FC236}">
                <a16:creationId xmlns:a16="http://schemas.microsoft.com/office/drawing/2014/main" id="{6D392F35-1C92-A6EA-83E7-231FCBA666D8}"/>
              </a:ext>
            </a:extLst>
          </p:cNvPr>
          <p:cNvSpPr>
            <a:spLocks noGrp="1"/>
          </p:cNvSpPr>
          <p:nvPr>
            <p:ph type="title"/>
          </p:nvPr>
        </p:nvSpPr>
        <p:spPr>
          <a:xfrm>
            <a:off x="177763" y="125486"/>
            <a:ext cx="10515600" cy="1325563"/>
          </a:xfrm>
        </p:spPr>
        <p:txBody>
          <a:bodyPr/>
          <a:lstStyle/>
          <a:p>
            <a:r>
              <a:rPr lang="zh-CN" altLang="en-US" dirty="0"/>
              <a:t>单例模式</a:t>
            </a:r>
          </a:p>
        </p:txBody>
      </p:sp>
    </p:spTree>
    <p:extLst>
      <p:ext uri="{BB962C8B-B14F-4D97-AF65-F5344CB8AC3E}">
        <p14:creationId xmlns:p14="http://schemas.microsoft.com/office/powerpoint/2010/main" val="2852708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79840-17F6-E676-547A-547E7F2621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8CD12D-AD42-7DB7-5508-4791DBAAEECA}"/>
              </a:ext>
            </a:extLst>
          </p:cNvPr>
          <p:cNvSpPr>
            <a:spLocks noGrp="1"/>
          </p:cNvSpPr>
          <p:nvPr>
            <p:ph type="title"/>
          </p:nvPr>
        </p:nvSpPr>
        <p:spPr>
          <a:xfrm>
            <a:off x="4557132" y="376786"/>
            <a:ext cx="8911183" cy="2394869"/>
          </a:xfrm>
        </p:spPr>
        <p:txBody>
          <a:bodyPr/>
          <a:lstStyle/>
          <a:p>
            <a:pPr lvl="0"/>
            <a:r>
              <a:rPr lang="zh-CN" altLang="en-US" sz="13800" dirty="0"/>
              <a:t>参考内容</a:t>
            </a:r>
            <a:endParaRPr lang="en-US" sz="13800" dirty="0"/>
          </a:p>
        </p:txBody>
      </p:sp>
      <p:sp>
        <p:nvSpPr>
          <p:cNvPr id="4" name="Slide Number Placeholder 3">
            <a:extLst>
              <a:ext uri="{FF2B5EF4-FFF2-40B4-BE49-F238E27FC236}">
                <a16:creationId xmlns:a16="http://schemas.microsoft.com/office/drawing/2014/main" id="{10AC3DC5-9A93-5FF5-510E-1695503D5206}"/>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2439577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A7A34688-7E2F-1277-CEF9-7F052770D20D}"/>
              </a:ext>
            </a:extLst>
          </p:cNvPr>
          <p:cNvSpPr>
            <a:spLocks noGrp="1"/>
          </p:cNvSpPr>
          <p:nvPr>
            <p:ph idx="1"/>
          </p:nvPr>
        </p:nvSpPr>
        <p:spPr>
          <a:xfrm>
            <a:off x="964580" y="1481253"/>
            <a:ext cx="10515600" cy="2096429"/>
          </a:xfrm>
        </p:spPr>
        <p:txBody>
          <a:bodyPr>
            <a:normAutofit lnSpcReduction="10000"/>
          </a:bodyPr>
          <a:lstStyle/>
          <a:p>
            <a:pPr marL="0" indent="0">
              <a:buNone/>
            </a:pPr>
            <a:r>
              <a:rPr lang="zh-CN" altLang="en-US" sz="2400" dirty="0"/>
              <a:t>初始代码参考：</a:t>
            </a:r>
            <a:r>
              <a:rPr lang="en-US" altLang="zh-CN" sz="2400" dirty="0"/>
              <a:t>https://xie.infoq.cn/article/7b075b4b29ac1544822b2fd52</a:t>
            </a:r>
          </a:p>
          <a:p>
            <a:pPr marL="0" indent="0">
              <a:buNone/>
            </a:pPr>
            <a:r>
              <a:rPr lang="en-US" altLang="zh-CN" sz="2400" dirty="0"/>
              <a:t>DAO</a:t>
            </a:r>
            <a:r>
              <a:rPr lang="zh-CN" altLang="en-US" sz="2400" dirty="0"/>
              <a:t>模式：</a:t>
            </a:r>
            <a:r>
              <a:rPr lang="en-US" altLang="zh-CN" sz="2400" dirty="0"/>
              <a:t>https://blog.csdn.net/weixin_59755109/article/details/124105783</a:t>
            </a:r>
          </a:p>
          <a:p>
            <a:pPr marL="0" indent="0">
              <a:buNone/>
            </a:pPr>
            <a:r>
              <a:rPr lang="zh-CN" altLang="en-US" sz="2400" dirty="0"/>
              <a:t>建造者模式：</a:t>
            </a:r>
            <a:r>
              <a:rPr lang="en-US" altLang="zh-CN" sz="2400" dirty="0">
                <a:hlinkClick r:id="rId2"/>
              </a:rPr>
              <a:t>https://blog.csdn.net/weixin_45433817/article/details/131175862</a:t>
            </a:r>
            <a:endParaRPr lang="en-US" altLang="zh-CN" sz="2400" dirty="0"/>
          </a:p>
          <a:p>
            <a:pPr marL="0" indent="0">
              <a:buNone/>
            </a:pPr>
            <a:r>
              <a:rPr lang="zh-CN" altLang="en-US" sz="2400" dirty="0"/>
              <a:t>项目地址：</a:t>
            </a:r>
            <a:r>
              <a:rPr lang="en-US" altLang="zh-CN" sz="2400" dirty="0"/>
              <a:t>https://github.com/wzc506/mineswapper</a:t>
            </a:r>
            <a:endParaRPr lang="zh-CN" altLang="en-US" sz="2400" dirty="0"/>
          </a:p>
        </p:txBody>
      </p:sp>
      <p:sp>
        <p:nvSpPr>
          <p:cNvPr id="2" name="矩形 1">
            <a:extLst>
              <a:ext uri="{FF2B5EF4-FFF2-40B4-BE49-F238E27FC236}">
                <a16:creationId xmlns:a16="http://schemas.microsoft.com/office/drawing/2014/main" id="{7837870B-38F7-0FF2-67DF-6A4029E3912C}"/>
              </a:ext>
            </a:extLst>
          </p:cNvPr>
          <p:cNvSpPr/>
          <p:nvPr/>
        </p:nvSpPr>
        <p:spPr>
          <a:xfrm>
            <a:off x="10438374" y="152196"/>
            <a:ext cx="1501433" cy="352466"/>
          </a:xfrm>
          <a:prstGeom prst="rect">
            <a:avLst/>
          </a:prstGeom>
          <a:solidFill>
            <a:schemeClr val="accent1">
              <a:alpha val="38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8879722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06D92-4FA5-49E0-EBF7-CAAD6A1717A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6CAD211-59BF-B103-E6D7-2C7873ED2278}"/>
              </a:ext>
            </a:extLst>
          </p:cNvPr>
          <p:cNvSpPr>
            <a:spLocks noGrp="1"/>
          </p:cNvSpPr>
          <p:nvPr>
            <p:ph type="subTitle" idx="1"/>
          </p:nvPr>
        </p:nvSpPr>
        <p:spPr>
          <a:xfrm>
            <a:off x="0" y="4002239"/>
            <a:ext cx="12191999" cy="744279"/>
          </a:xfrm>
        </p:spPr>
        <p:txBody>
          <a:bodyPr/>
          <a:lstStyle/>
          <a:p>
            <a:pPr lvl="0" algn="ctr"/>
            <a:r>
              <a:rPr lang="zh-CN" altLang="en-US" dirty="0">
                <a:ln>
                  <a:solidFill>
                    <a:schemeClr val="tx1">
                      <a:lumMod val="50000"/>
                    </a:schemeClr>
                  </a:solidFill>
                </a:ln>
                <a:solidFill>
                  <a:schemeClr val="bg1"/>
                </a:solidFill>
              </a:rPr>
              <a:t>主要负责人：王志城 张鑫</a:t>
            </a:r>
            <a:endParaRPr lang="en-US" dirty="0">
              <a:ln>
                <a:solidFill>
                  <a:schemeClr val="tx1">
                    <a:lumMod val="50000"/>
                  </a:schemeClr>
                </a:solidFill>
              </a:ln>
              <a:solidFill>
                <a:schemeClr val="bg1"/>
              </a:solidFill>
            </a:endParaRPr>
          </a:p>
        </p:txBody>
      </p:sp>
      <p:sp>
        <p:nvSpPr>
          <p:cNvPr id="4" name="矩形 3">
            <a:extLst>
              <a:ext uri="{FF2B5EF4-FFF2-40B4-BE49-F238E27FC236}">
                <a16:creationId xmlns:a16="http://schemas.microsoft.com/office/drawing/2014/main" id="{95188029-EF56-FBDE-81F6-07A6E5672182}"/>
              </a:ext>
            </a:extLst>
          </p:cNvPr>
          <p:cNvSpPr/>
          <p:nvPr/>
        </p:nvSpPr>
        <p:spPr>
          <a:xfrm>
            <a:off x="-163032" y="2223055"/>
            <a:ext cx="12191999" cy="923330"/>
          </a:xfrm>
          <a:prstGeom prst="rect">
            <a:avLst/>
          </a:prstGeom>
          <a:noFill/>
          <a:effectLst>
            <a:reflection blurRad="6350" stA="50000" endA="300" endPos="55500" dist="50800" dir="5400000" sy="-100000" algn="bl" rotWithShape="0"/>
          </a:effectLst>
        </p:spPr>
        <p:txBody>
          <a:bodyPr wrap="square" lIns="91440" tIns="45720" rIns="91440" bIns="45720">
            <a:spAutoFit/>
          </a:bodyPr>
          <a:lstStyle/>
          <a:p>
            <a:pPr algn="ctr"/>
            <a:r>
              <a:rPr lang="zh-CN" altLang="en-US" sz="5400" b="1" cap="none" spc="0" dirty="0">
                <a:ln w="9525">
                  <a:solidFill>
                    <a:schemeClr val="bg1"/>
                  </a:solidFill>
                  <a:prstDash val="solid"/>
                </a:ln>
                <a:solidFill>
                  <a:schemeClr val="accent5"/>
                </a:solidFill>
                <a:effectLst>
                  <a:glow rad="101600">
                    <a:schemeClr val="bg1">
                      <a:alpha val="60000"/>
                    </a:schemeClr>
                  </a:glow>
                  <a:outerShdw blurRad="12700" dist="38100" dir="2700000" algn="tl" rotWithShape="0">
                    <a:schemeClr val="accent5">
                      <a:lumMod val="60000"/>
                      <a:lumOff val="40000"/>
                    </a:schemeClr>
                  </a:outerShdw>
                </a:effectLst>
              </a:rPr>
              <a:t>谢谢观看</a:t>
            </a:r>
          </a:p>
        </p:txBody>
      </p:sp>
      <p:sp>
        <p:nvSpPr>
          <p:cNvPr id="2" name="Subtitle 2">
            <a:extLst>
              <a:ext uri="{FF2B5EF4-FFF2-40B4-BE49-F238E27FC236}">
                <a16:creationId xmlns:a16="http://schemas.microsoft.com/office/drawing/2014/main" id="{5174BBB5-42DB-B482-1106-54F67F8D4351}"/>
              </a:ext>
            </a:extLst>
          </p:cNvPr>
          <p:cNvSpPr txBox="1">
            <a:spLocks/>
          </p:cNvSpPr>
          <p:nvPr/>
        </p:nvSpPr>
        <p:spPr>
          <a:xfrm>
            <a:off x="1" y="5005244"/>
            <a:ext cx="12191999" cy="744279"/>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12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zh-CN" altLang="en-US" dirty="0">
                <a:ln>
                  <a:solidFill>
                    <a:schemeClr val="tx1">
                      <a:lumMod val="50000"/>
                    </a:schemeClr>
                  </a:solidFill>
                </a:ln>
                <a:solidFill>
                  <a:schemeClr val="bg1"/>
                </a:solidFill>
              </a:rPr>
              <a:t>汇报日期：</a:t>
            </a:r>
            <a:r>
              <a:rPr lang="en-US" altLang="zh-CN" dirty="0">
                <a:ln>
                  <a:solidFill>
                    <a:schemeClr val="tx1">
                      <a:lumMod val="50000"/>
                    </a:schemeClr>
                  </a:solidFill>
                </a:ln>
                <a:solidFill>
                  <a:schemeClr val="bg1"/>
                </a:solidFill>
              </a:rPr>
              <a:t>2025.12.31</a:t>
            </a:r>
            <a:endParaRPr lang="en-US" dirty="0">
              <a:ln>
                <a:solidFill>
                  <a:schemeClr val="tx1">
                    <a:lumMod val="50000"/>
                  </a:schemeClr>
                </a:solidFill>
              </a:ln>
              <a:solidFill>
                <a:schemeClr val="bg1"/>
              </a:solidFill>
            </a:endParaRPr>
          </a:p>
        </p:txBody>
      </p:sp>
      <p:pic>
        <p:nvPicPr>
          <p:cNvPr id="14" name="图片 13">
            <a:extLst>
              <a:ext uri="{FF2B5EF4-FFF2-40B4-BE49-F238E27FC236}">
                <a16:creationId xmlns:a16="http://schemas.microsoft.com/office/drawing/2014/main" id="{F2C75E2B-E8F7-13B5-8C5B-0DD6E5E1B830}"/>
              </a:ext>
            </a:extLst>
          </p:cNvPr>
          <p:cNvPicPr>
            <a:picLocks noChangeAspect="1"/>
          </p:cNvPicPr>
          <p:nvPr/>
        </p:nvPicPr>
        <p:blipFill>
          <a:blip r:embed="rId2">
            <a:extLst>
              <a:ext uri="{28A0092B-C50C-407E-A947-70E740481C1C}">
                <a14:useLocalDpi xmlns:a14="http://schemas.microsoft.com/office/drawing/2010/main" val="0"/>
              </a:ext>
            </a:extLst>
          </a:blip>
          <a:srcRect l="17863" t="62719" r="19032" b="3976"/>
          <a:stretch>
            <a:fillRect/>
          </a:stretch>
        </p:blipFill>
        <p:spPr>
          <a:xfrm>
            <a:off x="1" y="621413"/>
            <a:ext cx="1538868" cy="1082907"/>
          </a:xfrm>
          <a:prstGeom prst="rect">
            <a:avLst/>
          </a:prstGeom>
        </p:spPr>
      </p:pic>
      <p:pic>
        <p:nvPicPr>
          <p:cNvPr id="15" name="图片 14">
            <a:extLst>
              <a:ext uri="{FF2B5EF4-FFF2-40B4-BE49-F238E27FC236}">
                <a16:creationId xmlns:a16="http://schemas.microsoft.com/office/drawing/2014/main" id="{D88DB81D-3D39-837B-F3A9-2E67C569B17F}"/>
              </a:ext>
            </a:extLst>
          </p:cNvPr>
          <p:cNvPicPr>
            <a:picLocks noChangeAspect="1"/>
          </p:cNvPicPr>
          <p:nvPr/>
        </p:nvPicPr>
        <p:blipFill>
          <a:blip r:embed="rId3">
            <a:extLst>
              <a:ext uri="{28A0092B-C50C-407E-A947-70E740481C1C}">
                <a14:useLocalDpi xmlns:a14="http://schemas.microsoft.com/office/drawing/2010/main" val="0"/>
              </a:ext>
            </a:extLst>
          </a:blip>
          <a:srcRect l="5246" t="33825" r="7099" b="37240"/>
          <a:stretch>
            <a:fillRect/>
          </a:stretch>
        </p:blipFill>
        <p:spPr>
          <a:xfrm>
            <a:off x="7311073" y="4710137"/>
            <a:ext cx="4920958" cy="2165915"/>
          </a:xfrm>
          <a:prstGeom prst="rect">
            <a:avLst/>
          </a:prstGeom>
        </p:spPr>
      </p:pic>
      <p:pic>
        <p:nvPicPr>
          <p:cNvPr id="16" name="图片 15">
            <a:extLst>
              <a:ext uri="{FF2B5EF4-FFF2-40B4-BE49-F238E27FC236}">
                <a16:creationId xmlns:a16="http://schemas.microsoft.com/office/drawing/2014/main" id="{FC753D09-079A-A02E-D617-39BB7ED96A9B}"/>
              </a:ext>
            </a:extLst>
          </p:cNvPr>
          <p:cNvPicPr>
            <a:picLocks noChangeAspect="1"/>
          </p:cNvPicPr>
          <p:nvPr/>
        </p:nvPicPr>
        <p:blipFill>
          <a:blip r:embed="rId4">
            <a:extLst>
              <a:ext uri="{28A0092B-C50C-407E-A947-70E740481C1C}">
                <a14:useLocalDpi xmlns:a14="http://schemas.microsoft.com/office/drawing/2010/main" val="0"/>
              </a:ext>
            </a:extLst>
          </a:blip>
          <a:srcRect b="59811"/>
          <a:stretch>
            <a:fillRect/>
          </a:stretch>
        </p:blipFill>
        <p:spPr>
          <a:xfrm>
            <a:off x="0" y="5592921"/>
            <a:ext cx="2313579" cy="1239738"/>
          </a:xfrm>
          <a:prstGeom prst="rect">
            <a:avLst/>
          </a:prstGeom>
        </p:spPr>
      </p:pic>
    </p:spTree>
    <p:extLst>
      <p:ext uri="{BB962C8B-B14F-4D97-AF65-F5344CB8AC3E}">
        <p14:creationId xmlns:p14="http://schemas.microsoft.com/office/powerpoint/2010/main" val="21155127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3.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4.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529</TotalTime>
  <Words>4793</Words>
  <Application>Microsoft Office PowerPoint</Application>
  <PresentationFormat>宽屏</PresentationFormat>
  <Paragraphs>338</Paragraphs>
  <Slides>47</Slides>
  <Notes>0</Notes>
  <HiddenSlides>0</HiddenSlides>
  <MMClips>0</MMClips>
  <ScaleCrop>false</ScaleCrop>
  <HeadingPairs>
    <vt:vector size="6" baseType="variant">
      <vt:variant>
        <vt:lpstr>已用的字体</vt:lpstr>
      </vt:variant>
      <vt:variant>
        <vt:i4>7</vt:i4>
      </vt:variant>
      <vt:variant>
        <vt:lpstr>主题</vt:lpstr>
      </vt:variant>
      <vt:variant>
        <vt:i4>2</vt:i4>
      </vt:variant>
      <vt:variant>
        <vt:lpstr>幻灯片标题</vt:lpstr>
      </vt:variant>
      <vt:variant>
        <vt:i4>47</vt:i4>
      </vt:variant>
    </vt:vector>
  </HeadingPairs>
  <TitlesOfParts>
    <vt:vector size="56" baseType="lpstr">
      <vt:lpstr>Segoe WPC</vt:lpstr>
      <vt:lpstr>等线</vt:lpstr>
      <vt:lpstr>等线 Light</vt:lpstr>
      <vt:lpstr>华文琥珀</vt:lpstr>
      <vt:lpstr>华文楷体</vt:lpstr>
      <vt:lpstr>Arial</vt:lpstr>
      <vt:lpstr>Candara</vt:lpstr>
      <vt:lpstr>Office 主题​​</vt:lpstr>
      <vt:lpstr>Designed by iSlide</vt:lpstr>
      <vt:lpstr>PowerPoint 演示文稿</vt:lpstr>
      <vt:lpstr>主要界面</vt:lpstr>
      <vt:lpstr>主要界面</vt:lpstr>
      <vt:lpstr>主要界面</vt:lpstr>
      <vt:lpstr>PowerPoint 演示文稿</vt:lpstr>
      <vt:lpstr>PowerPoint 演示文稿</vt:lpstr>
      <vt:lpstr>代码流程</vt:lpstr>
      <vt:lpstr>PowerPoint 演示文稿</vt:lpstr>
      <vt:lpstr>PowerPoint 演示文稿</vt:lpstr>
      <vt:lpstr>PowerPoint 演示文稿</vt:lpstr>
      <vt:lpstr>主要功能</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类图比较</vt:lpstr>
      <vt:lpstr>PowerPoint 演示文稿</vt:lpstr>
      <vt:lpstr>PowerPoint 演示文稿</vt:lpstr>
      <vt:lpstr>PowerPoint 演示文稿</vt:lpstr>
      <vt:lpstr>PowerPoint 演示文稿</vt:lpstr>
      <vt:lpstr>PowerPoint 演示文稿</vt:lpstr>
      <vt:lpstr>PowerPoint 演示文稿</vt:lpstr>
      <vt:lpstr>其他的修改</vt:lpstr>
      <vt:lpstr>模板方法</vt:lpstr>
      <vt:lpstr>PowerPoint 演示文稿</vt:lpstr>
      <vt:lpstr>PowerPoint 演示文稿</vt:lpstr>
      <vt:lpstr>PowerPoint 演示文稿</vt:lpstr>
      <vt:lpstr>PowerPoint 演示文稿</vt:lpstr>
      <vt:lpstr>PowerPoint 演示文稿</vt:lpstr>
      <vt:lpstr>单例模式</vt:lpstr>
      <vt:lpstr>单例模式</vt:lpstr>
      <vt:lpstr>参考内容</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志城 王</cp:lastModifiedBy>
  <cp:revision>177</cp:revision>
  <dcterms:created xsi:type="dcterms:W3CDTF">2025-11-02T06:55:21Z</dcterms:created>
  <dcterms:modified xsi:type="dcterms:W3CDTF">2025-12-27T02:10:25Z</dcterms:modified>
</cp:coreProperties>
</file>